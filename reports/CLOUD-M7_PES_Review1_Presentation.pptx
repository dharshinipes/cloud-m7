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Welcome to Review-1 of our Capstone Project Phase-1 for course UE24CS320A. Our project is titled CLOUD-M7: Tier-Adaptive Forensic Provenance. This project focuses on solving cross-tier attack path reconstruction across Edge, Fog, and Cloud environments. I have fully established the repository, unified mathematical schema, placement optimizer, two mathematical novelties, and 13 passing automated test suites.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outline strictly following the PES University review guidelines. We begin with the Problem Statement and Introduction, examine Scope and Feasibility, review 4 core real-world applications, dive into a detailed Background Study of 5 key research papers, present our complete Implementation and novelties, and conclude with our 2-year project timeline and experimental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clearly specify the problem as required by the PES template: existing forensic architectures suffer from three fatal flaws. Host EDR tools are blind to network hops; centralized SIEM saturates network bandwidth by 90% and leaks private user data; and different operating layers log incompatible data formats. CLOUD-M7 is specifically designed to overcome these three obstacles.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Introduction slide, we outline CLOUD-M7. Our framework establishes a clean 3-tier computing hierarchy: Edge captures and prunes logs locally; Fog aggregates and fuses cross-tier network sockets; and Cloud runs deep analytics. This design ensures that high-volume raw telemetry never saturates edge uplinks while maintaining mathematically complete forensic causality.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Scope and Feasibility as required by the PES format: Our scope encompasses multi-tier distributed architectures from IoT sensors up to Cloud APIs. We addressed three critical challenges: edge resource limitations, network bandwidth exhaustion, and timing jitter. Our placement optimization proves that the system consumes only 620 millicores of edge CPU and slashes bandwidth by 90%, confirming that CLOUD-M7 is highly feasible for real-world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four concrete applications for CLOUD-M7: Industrial SCADA facilities, Autonomous Connected Vehicles, Smart Healthcare and IoMT grids, and Enterprise Hybrid Clouds. In all these sectors, computing is distributed and attacks traverse boundaries. CLOUD-M7 provides tamper-evident provenance without bandwidth explosion or privacy exposure.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Background Study analyzing 5 seminal research papers as requested. CamFlow by Pasquier et al. in USENIX ATC 2018 is the gold standard for OS provenance, but is confined to single kernels. SPADE by Bates et al. in USENIX Security captures auditd logs but ships everything to a central server, exhausting network bandwidth. Prov-IoT targets smart home devices but cannot scale to hybrid clouds. HOLMES in IEEE S&amp;P 2019 detects APTs but uses a single-pass traversal that misses secondary footholds. BackTracker in ACM SOSP 2003 pioneered backward causality but provides no containment analysis. CLOUD-M7 specifically addresses the limitations of all 5 papers.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Implementation slide detailing our architecture and mathematical model. We formalized a unified 7-element tuple E_i that abstracts OS syscalls, network sockets, and Cloud APIs. Every event is bound with a SHA-256 cryptographic digest. Cross-tier edges are automatically stitched by matching socket 5-tuples and strictly respecting forward time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two primary research novelty contributions. Novelty 1 is an iterative multi-root discovery loop with hyperparameters (K_max, epsilon, lambda) that subtracts known paths to find co-occurring stealth vectors, uncovering 3 separate entry points. Novelty 2 analyzes multi-sensor attack convergence using articulation cut-vertex graph theory. It discovered that fog-gateway-01's socket connect achieves 100% containment efficiency, providing immediate breach isolation.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visual artifacts generated directly by our running implementation. Figure 1 displays the reconstructed 14-hop causal attack path across Edge, Fog, and Cloud with 80% background noise pruned. Figure 2 illustrates the interconnected multi-sensor graph where gold nodes highlight our discovered 100% containment choke points.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fulfills the PES requirement for a clear Gantt chart and effort plan. Phase-I Review 1 is 100% completed today with verified code. In Semester 6, we integrate DARPA OpTC and live eBPF kernel hooks. In Semester 7, we build a Reinforcement Learning placement agent, culminating in Semester 8 with a physical hardware testbed and an IEEE security conference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Any Other Information: We provide our empirical benchmark showing 90% bandwidth reduction and 87.5% latency reduction. Our entire codebase is backed by 13 automated tests passing in under 1 second, and the complete source code is public on GitHub for reproducible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evaluators. I am now open to your questions, and I am ready to run the live demonstration via run_demo.bat right now.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7772400" cy="1005840"/>
          </a:xfrm>
          <a:prstGeom prst="rect">
            <a:avLst/>
          </a:prstGeom>
          <a:noFill/>
        </p:spPr>
        <p:txBody>
          <a:bodyPr wrap="square" lIns="0" tIns="0" rIns="0" bIns="0">
            <a:spAutoFit/>
          </a:bodyPr>
          <a:lstStyle/>
          <a:p>
            <a:pPr>
              <a:defRPr sz="1500" b="1">
                <a:solidFill>
                  <a:srgbClr val="1B2B50"/>
                </a:solidFill>
                <a:latin typeface="Segoe UI"/>
              </a:defRPr>
            </a:pPr>
            <a:r>
              <a:t>B.Tech. in CSE (2024-2028)</a:t>
            </a:r>
          </a:p>
          <a:p>
            <a:pPr>
              <a:spcBef>
                <a:spcPts val="400"/>
              </a:spcBef>
              <a:defRPr sz="1300">
                <a:solidFill>
                  <a:srgbClr val="1E40AF"/>
                </a:solidFill>
                <a:latin typeface="Segoe UI"/>
              </a:defRPr>
            </a:pPr>
            <a:r>
              <a:t>Semester- V  |  UE24CS320A – Capstone Project Phase-1</a:t>
            </a:r>
          </a:p>
          <a:p>
            <a:pPr>
              <a:spcBef>
                <a:spcPts val="400"/>
              </a:spcBef>
              <a:defRPr sz="1300" b="1">
                <a:solidFill>
                  <a:srgbClr val="D97706"/>
                </a:solidFill>
                <a:latin typeface="Segoe UI"/>
              </a:defRPr>
            </a:pPr>
            <a:r>
              <a:t>Review-1</a:t>
            </a:r>
          </a:p>
        </p:txBody>
      </p:sp>
      <p:pic>
        <p:nvPicPr>
          <p:cNvPr id="4" name="Picture 3" descr="pes_university_logo.png"/>
          <p:cNvPicPr>
            <a:picLocks noChangeAspect="1"/>
          </p:cNvPicPr>
          <p:nvPr/>
        </p:nvPicPr>
        <p:blipFill>
          <a:blip r:embed="rId2"/>
          <a:stretch>
            <a:fillRect/>
          </a:stretch>
        </p:blipFill>
        <p:spPr>
          <a:xfrm>
            <a:off x="9601200" y="457200"/>
            <a:ext cx="1645920" cy="2103120"/>
          </a:xfrm>
          <a:prstGeom prst="rect">
            <a:avLst/>
          </a:prstGeom>
        </p:spPr>
      </p:pic>
      <p:sp>
        <p:nvSpPr>
          <p:cNvPr id="5" name="Rectangle 4"/>
          <p:cNvSpPr/>
          <p:nvPr/>
        </p:nvSpPr>
        <p:spPr>
          <a:xfrm>
            <a:off x="914400" y="2011680"/>
            <a:ext cx="7772400" cy="2743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2377440"/>
            <a:ext cx="10360152" cy="393192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377440"/>
            <a:ext cx="10360152"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2487168"/>
            <a:ext cx="10030968" cy="320040"/>
          </a:xfrm>
          <a:prstGeom prst="rect">
            <a:avLst/>
          </a:prstGeom>
          <a:noFill/>
        </p:spPr>
        <p:txBody>
          <a:bodyPr wrap="square" lIns="0" tIns="0" rIns="0" bIns="0">
            <a:spAutoFit/>
          </a:bodyPr>
          <a:lstStyle/>
          <a:p>
            <a:pPr>
              <a:defRPr sz="1200" b="1">
                <a:solidFill>
                  <a:srgbClr val="1B2B50"/>
                </a:solidFill>
                <a:latin typeface="Segoe UI"/>
              </a:defRPr>
            </a:pPr>
            <a:r>
              <a:t>Project Metadata &amp; Team Information</a:t>
            </a:r>
          </a:p>
        </p:txBody>
      </p:sp>
      <p:sp>
        <p:nvSpPr>
          <p:cNvPr id="9" name="TextBox 8"/>
          <p:cNvSpPr txBox="1"/>
          <p:nvPr/>
        </p:nvSpPr>
        <p:spPr>
          <a:xfrm>
            <a:off x="1188720" y="2834640"/>
            <a:ext cx="9784080" cy="3291840"/>
          </a:xfrm>
          <a:prstGeom prst="rect">
            <a:avLst/>
          </a:prstGeom>
          <a:noFill/>
        </p:spPr>
        <p:txBody>
          <a:bodyPr wrap="square">
            <a:spAutoFit/>
          </a:bodyPr>
          <a:lstStyle/>
          <a:p>
            <a:pPr>
              <a:spcBef>
                <a:spcPts val="800"/>
              </a:spcBef>
              <a:defRPr sz="1200" b="1">
                <a:solidFill>
                  <a:srgbClr val="1B2B50"/>
                </a:solidFill>
                <a:latin typeface="Segoe UI"/>
              </a:defRPr>
            </a:pPr>
            <a:r>
              <a:t>Project Title   :  CLOUD-M7: Tier-Adaptive Forensic Provenance: Distributed Attack-Path Reconstruction across Edge, Fog, and Cloud</a:t>
            </a:r>
          </a:p>
          <a:p>
            <a:pPr>
              <a:spcBef>
                <a:spcPts val="800"/>
              </a:spcBef>
              <a:defRPr sz="1200" b="0">
                <a:solidFill>
                  <a:srgbClr val="1E293B"/>
                </a:solidFill>
                <a:latin typeface="Segoe UI"/>
              </a:defRPr>
            </a:pPr>
            <a:r>
              <a:t>Project ID      :  UE24CS320A-CAP-CLOUD-M7</a:t>
            </a:r>
          </a:p>
          <a:p>
            <a:pPr>
              <a:spcBef>
                <a:spcPts val="800"/>
              </a:spcBef>
              <a:defRPr sz="1200" b="0">
                <a:solidFill>
                  <a:srgbClr val="1E293B"/>
                </a:solidFill>
                <a:latin typeface="Segoe UI"/>
              </a:defRPr>
            </a:pPr>
            <a:r>
              <a:t>Project Domain  :  Cyber Security, Distributed Forensic Provenance, Edge-Fog-Cloud Computing</a:t>
            </a:r>
          </a:p>
          <a:p>
            <a:pPr>
              <a:spcBef>
                <a:spcPts val="800"/>
              </a:spcBef>
              <a:defRPr sz="1200" b="0">
                <a:solidFill>
                  <a:srgbClr val="1E293B"/>
                </a:solidFill>
                <a:latin typeface="Segoe UI"/>
              </a:defRPr>
            </a:pPr>
            <a:r>
              <a:t>Project Guide   :  [Internal Project Guide / Faculty Mentor, Department of CSE]</a:t>
            </a:r>
          </a:p>
          <a:p>
            <a:pPr>
              <a:spcBef>
                <a:spcPts val="800"/>
              </a:spcBef>
              <a:defRPr sz="1200" b="1">
                <a:solidFill>
                  <a:srgbClr val="1B2B50"/>
                </a:solidFill>
                <a:latin typeface="Segoe UI"/>
              </a:defRPr>
            </a:pPr>
            <a:r>
              <a:t>Project Team    :  Dharshini  [PES1UG24CS...]</a:t>
            </a:r>
          </a:p>
          <a:p>
            <a:pPr>
              <a:spcBef>
                <a:spcPts val="800"/>
              </a:spcBef>
              <a:defRPr sz="1200" b="0">
                <a:solidFill>
                  <a:srgbClr val="2563EB"/>
                </a:solidFill>
                <a:latin typeface="Segoe UI"/>
              </a:defRPr>
            </a:pPr>
            <a:r>
              <a:t>GitHub Repo     :  https://github.com/DharshiniPES/cloud-m7  (13/13 Passing Automated Tests)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Outline</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2 / 13</a:t>
            </a:r>
          </a:p>
        </p:txBody>
      </p:sp>
      <p:sp>
        <p:nvSpPr>
          <p:cNvPr id="8" name="Rectangle 7"/>
          <p:cNvSpPr/>
          <p:nvPr/>
        </p:nvSpPr>
        <p:spPr>
          <a:xfrm>
            <a:off x="731520" y="1737360"/>
            <a:ext cx="5120640" cy="44805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37360"/>
            <a:ext cx="512064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4791456" cy="320040"/>
          </a:xfrm>
          <a:prstGeom prst="rect">
            <a:avLst/>
          </a:prstGeom>
          <a:noFill/>
        </p:spPr>
        <p:txBody>
          <a:bodyPr wrap="square" lIns="0" tIns="0" rIns="0" bIns="0">
            <a:spAutoFit/>
          </a:bodyPr>
          <a:lstStyle/>
          <a:p>
            <a:pPr>
              <a:defRPr sz="1200" b="1">
                <a:solidFill>
                  <a:srgbClr val="1B2B50"/>
                </a:solidFill>
                <a:latin typeface="Segoe UI"/>
              </a:defRPr>
            </a:pPr>
            <a:r>
              <a:t>Presentation Structure (Part I)</a:t>
            </a:r>
          </a:p>
        </p:txBody>
      </p:sp>
      <p:sp>
        <p:nvSpPr>
          <p:cNvPr id="11" name="TextBox 10"/>
          <p:cNvSpPr txBox="1"/>
          <p:nvPr/>
        </p:nvSpPr>
        <p:spPr>
          <a:xfrm>
            <a:off x="1005840" y="2194560"/>
            <a:ext cx="4572000" cy="3840480"/>
          </a:xfrm>
          <a:prstGeom prst="rect">
            <a:avLst/>
          </a:prstGeom>
          <a:noFill/>
        </p:spPr>
        <p:txBody>
          <a:bodyPr wrap="square">
            <a:spAutoFit/>
          </a:bodyPr>
          <a:lstStyle/>
          <a:p>
            <a:pPr>
              <a:spcBef>
                <a:spcPts val="800"/>
              </a:spcBef>
              <a:defRPr sz="1150" b="1">
                <a:solidFill>
                  <a:srgbClr val="1B2B50"/>
                </a:solidFill>
                <a:latin typeface="Segoe UI"/>
              </a:defRPr>
            </a:pPr>
            <a:r>
              <a:t>1. Problem Statement</a:t>
            </a:r>
          </a:p>
          <a:p>
            <a:pPr>
              <a:spcBef>
                <a:spcPts val="200"/>
              </a:spcBef>
              <a:defRPr sz="1150" b="0">
                <a:solidFill>
                  <a:srgbClr val="1E293B"/>
                </a:solidFill>
                <a:latin typeface="Segoe UI"/>
              </a:defRPr>
            </a:pPr>
            <a:r>
              <a:t>   - The distributed forensic blind spot across Edge, Fog, and Cloud</a:t>
            </a:r>
          </a:p>
          <a:p>
            <a:pPr>
              <a:spcBef>
                <a:spcPts val="200"/>
              </a:spcBef>
              <a:defRPr sz="1150" b="0">
                <a:solidFill>
                  <a:srgbClr val="1E293B"/>
                </a:solidFill>
                <a:latin typeface="Segoe UI"/>
              </a:defRPr>
            </a:pPr>
            <a:r>
              <a:t>   - Breakdown of the 3 Broken Forensic Pillars</a:t>
            </a:r>
          </a:p>
          <a:p>
            <a:pPr>
              <a:spcBef>
                <a:spcPts val="800"/>
              </a:spcBef>
              <a:defRPr sz="1150" b="1">
                <a:solidFill>
                  <a:srgbClr val="1B2B50"/>
                </a:solidFill>
                <a:latin typeface="Segoe UI"/>
              </a:defRPr>
            </a:pPr>
            <a:r>
              <a:t>2. Introduction</a:t>
            </a:r>
          </a:p>
          <a:p>
            <a:pPr>
              <a:spcBef>
                <a:spcPts val="200"/>
              </a:spcBef>
              <a:defRPr sz="1150" b="0">
                <a:solidFill>
                  <a:srgbClr val="1E293B"/>
                </a:solidFill>
                <a:latin typeface="Segoe UI"/>
              </a:defRPr>
            </a:pPr>
            <a:r>
              <a:t>   - System overview, core objectives, and architectural strata</a:t>
            </a:r>
          </a:p>
          <a:p>
            <a:pPr>
              <a:spcBef>
                <a:spcPts val="800"/>
              </a:spcBef>
              <a:defRPr sz="1150" b="1">
                <a:solidFill>
                  <a:srgbClr val="1B2B50"/>
                </a:solidFill>
                <a:latin typeface="Segoe UI"/>
              </a:defRPr>
            </a:pPr>
            <a:r>
              <a:t>3. Scope and Feasibility study</a:t>
            </a:r>
          </a:p>
          <a:p>
            <a:pPr>
              <a:spcBef>
                <a:spcPts val="200"/>
              </a:spcBef>
              <a:defRPr sz="1150" b="0">
                <a:solidFill>
                  <a:srgbClr val="1E293B"/>
                </a:solidFill>
                <a:latin typeface="Segoe UI"/>
              </a:defRPr>
            </a:pPr>
            <a:r>
              <a:t>   - System boundary, hardware feasibility, and resource constraints</a:t>
            </a:r>
          </a:p>
          <a:p>
            <a:pPr>
              <a:spcBef>
                <a:spcPts val="800"/>
              </a:spcBef>
              <a:defRPr sz="1150" b="1">
                <a:solidFill>
                  <a:srgbClr val="1B2B50"/>
                </a:solidFill>
                <a:latin typeface="Segoe UI"/>
              </a:defRPr>
            </a:pPr>
            <a:r>
              <a:t>4. Applications / Use cases</a:t>
            </a:r>
          </a:p>
          <a:p>
            <a:pPr>
              <a:spcBef>
                <a:spcPts val="200"/>
              </a:spcBef>
              <a:defRPr sz="1150" b="0">
                <a:solidFill>
                  <a:srgbClr val="1E293B"/>
                </a:solidFill>
                <a:latin typeface="Segoe UI"/>
              </a:defRPr>
            </a:pPr>
            <a:r>
              <a:t>   - Industrial IoT/SCADA, Autonomous Vehicles (V2X), Smart Healthcare</a:t>
            </a:r>
          </a:p>
        </p:txBody>
      </p:sp>
      <p:sp>
        <p:nvSpPr>
          <p:cNvPr id="12" name="Rectangle 11"/>
          <p:cNvSpPr/>
          <p:nvPr/>
        </p:nvSpPr>
        <p:spPr>
          <a:xfrm>
            <a:off x="6309360" y="1737360"/>
            <a:ext cx="5148072" cy="44805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737360"/>
            <a:ext cx="5148072"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818888" cy="320040"/>
          </a:xfrm>
          <a:prstGeom prst="rect">
            <a:avLst/>
          </a:prstGeom>
          <a:noFill/>
        </p:spPr>
        <p:txBody>
          <a:bodyPr wrap="square" lIns="0" tIns="0" rIns="0" bIns="0">
            <a:spAutoFit/>
          </a:bodyPr>
          <a:lstStyle/>
          <a:p>
            <a:pPr>
              <a:defRPr sz="1200" b="1">
                <a:solidFill>
                  <a:srgbClr val="1B2B50"/>
                </a:solidFill>
                <a:latin typeface="Segoe UI"/>
              </a:defRPr>
            </a:pPr>
            <a:r>
              <a:t>Presentation Structure (Part II)</a:t>
            </a:r>
          </a:p>
        </p:txBody>
      </p:sp>
      <p:sp>
        <p:nvSpPr>
          <p:cNvPr id="15" name="TextBox 14"/>
          <p:cNvSpPr txBox="1"/>
          <p:nvPr/>
        </p:nvSpPr>
        <p:spPr>
          <a:xfrm>
            <a:off x="6583680" y="2194560"/>
            <a:ext cx="4572000" cy="3840480"/>
          </a:xfrm>
          <a:prstGeom prst="rect">
            <a:avLst/>
          </a:prstGeom>
          <a:noFill/>
        </p:spPr>
        <p:txBody>
          <a:bodyPr wrap="square">
            <a:spAutoFit/>
          </a:bodyPr>
          <a:lstStyle/>
          <a:p>
            <a:pPr>
              <a:spcBef>
                <a:spcPts val="800"/>
              </a:spcBef>
              <a:defRPr sz="1150" b="1">
                <a:solidFill>
                  <a:srgbClr val="1B2B50"/>
                </a:solidFill>
                <a:latin typeface="Segoe UI"/>
              </a:defRPr>
            </a:pPr>
            <a:r>
              <a:t>5. Background Study (5 Key Research Papers)</a:t>
            </a:r>
          </a:p>
          <a:p>
            <a:pPr>
              <a:spcBef>
                <a:spcPts val="200"/>
              </a:spcBef>
              <a:defRPr sz="1150" b="0">
                <a:solidFill>
                  <a:srgbClr val="1E293B"/>
                </a:solidFill>
                <a:latin typeface="Segoe UI"/>
              </a:defRPr>
            </a:pPr>
            <a:r>
              <a:t>   - Comprehensive analysis of CamFlow, SPADE, Prov-IoT, HOLMES, BackTracker</a:t>
            </a:r>
          </a:p>
          <a:p>
            <a:pPr>
              <a:spcBef>
                <a:spcPts val="800"/>
              </a:spcBef>
              <a:defRPr sz="1150" b="1">
                <a:solidFill>
                  <a:srgbClr val="1B2B50"/>
                </a:solidFill>
                <a:latin typeface="Segoe UI"/>
              </a:defRPr>
            </a:pPr>
            <a:r>
              <a:t>6. Implementation</a:t>
            </a:r>
          </a:p>
          <a:p>
            <a:pPr>
              <a:spcBef>
                <a:spcPts val="200"/>
              </a:spcBef>
              <a:defRPr sz="1150" b="0">
                <a:solidFill>
                  <a:srgbClr val="1E293B"/>
                </a:solidFill>
                <a:latin typeface="Segoe UI"/>
              </a:defRPr>
            </a:pPr>
            <a:r>
              <a:t>   - Unified Schema (Tuple E_i) &amp; Cryptographic SHA-256 Hash</a:t>
            </a:r>
          </a:p>
          <a:p>
            <a:pPr>
              <a:spcBef>
                <a:spcPts val="200"/>
              </a:spcBef>
              <a:defRPr sz="1150" b="0">
                <a:solidFill>
                  <a:srgbClr val="1E293B"/>
                </a:solidFill>
                <a:latin typeface="Segoe UI"/>
              </a:defRPr>
            </a:pPr>
            <a:r>
              <a:t>   - Novelty 1: Iterative Multi-Root Causal Discovery Engine</a:t>
            </a:r>
          </a:p>
          <a:p>
            <a:pPr>
              <a:spcBef>
                <a:spcPts val="200"/>
              </a:spcBef>
              <a:defRPr sz="1150" b="0">
                <a:solidFill>
                  <a:srgbClr val="1E293B"/>
                </a:solidFill>
                <a:latin typeface="Segoe UI"/>
              </a:defRPr>
            </a:pPr>
            <a:r>
              <a:t>   - Novelty 2: Interconnected Multi-Sensor Graph &amp; Choke Points</a:t>
            </a:r>
          </a:p>
          <a:p>
            <a:pPr>
              <a:spcBef>
                <a:spcPts val="200"/>
              </a:spcBef>
              <a:defRPr sz="1150" b="0">
                <a:solidFill>
                  <a:srgbClr val="1E293B"/>
                </a:solidFill>
                <a:latin typeface="Segoe UI"/>
              </a:defRPr>
            </a:pPr>
            <a:r>
              <a:t>   - Live Demo Walkthrough, Metrics &amp; Visual Graph Artifacts</a:t>
            </a:r>
          </a:p>
          <a:p>
            <a:pPr>
              <a:spcBef>
                <a:spcPts val="800"/>
              </a:spcBef>
              <a:defRPr sz="1150" b="1">
                <a:solidFill>
                  <a:srgbClr val="1B2B50"/>
                </a:solidFill>
                <a:latin typeface="Segoe UI"/>
              </a:defRPr>
            </a:pPr>
            <a:r>
              <a:t>7. Capstone Timeline &amp; Effort Plan (Gantt Chart)</a:t>
            </a:r>
          </a:p>
          <a:p>
            <a:pPr>
              <a:spcBef>
                <a:spcPts val="800"/>
              </a:spcBef>
              <a:defRPr sz="1150" b="1">
                <a:solidFill>
                  <a:srgbClr val="1B2B50"/>
                </a:solidFill>
                <a:latin typeface="Segoe UI"/>
              </a:defRPr>
            </a:pPr>
            <a:r>
              <a:t>8. Any other information &amp; Verification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Problem Statement</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3 / 13</a:t>
            </a:r>
          </a:p>
        </p:txBody>
      </p:sp>
      <p:sp>
        <p:nvSpPr>
          <p:cNvPr id="8" name="Rectangle 7"/>
          <p:cNvSpPr/>
          <p:nvPr/>
        </p:nvSpPr>
        <p:spPr>
          <a:xfrm>
            <a:off x="731520" y="1737360"/>
            <a:ext cx="10725912" cy="13716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37360"/>
            <a:ext cx="10725912"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10396728" cy="320040"/>
          </a:xfrm>
          <a:prstGeom prst="rect">
            <a:avLst/>
          </a:prstGeom>
          <a:noFill/>
        </p:spPr>
        <p:txBody>
          <a:bodyPr wrap="square" lIns="0" tIns="0" rIns="0" bIns="0">
            <a:spAutoFit/>
          </a:bodyPr>
          <a:lstStyle/>
          <a:p>
            <a:pPr>
              <a:defRPr sz="1200" b="1">
                <a:solidFill>
                  <a:srgbClr val="1B2B50"/>
                </a:solidFill>
                <a:latin typeface="Segoe UI"/>
              </a:defRPr>
            </a:pPr>
            <a:r>
              <a:t>Well-Defined Problem Formulation</a:t>
            </a:r>
          </a:p>
        </p:txBody>
      </p:sp>
      <p:sp>
        <p:nvSpPr>
          <p:cNvPr id="11" name="TextBox 10"/>
          <p:cNvSpPr txBox="1"/>
          <p:nvPr/>
        </p:nvSpPr>
        <p:spPr>
          <a:xfrm>
            <a:off x="914400" y="2148840"/>
            <a:ext cx="10332720" cy="914400"/>
          </a:xfrm>
          <a:prstGeom prst="rect">
            <a:avLst/>
          </a:prstGeom>
          <a:noFill/>
        </p:spPr>
        <p:txBody>
          <a:bodyPr wrap="square">
            <a:spAutoFit/>
          </a:bodyPr>
          <a:lstStyle/>
          <a:p>
            <a:pPr>
              <a:defRPr sz="1150">
                <a:solidFill>
                  <a:srgbClr val="1E293B"/>
                </a:solidFill>
                <a:latin typeface="Segoe UI"/>
              </a:defRPr>
            </a:pPr>
            <a:r>
              <a:t>Modern enterprise workloads span three heterogeneous tiers: resource-constrained Edge devices, intermediate Fog gateways, and centralized Cloud datastores. When multi-stage cyberattacks (APTs) strike, forensic evidence is fragmented across isolated silos. Existing tools either fail to track lateral cross-network pivots (Host EDR) or saturate constrained edge uplinks by forwarding all raw logs to the cloud (Centralized SIEM), incurring excessive latency, prohibitive bandwidth consumption, and severe privacy violations.</a:t>
            </a:r>
          </a:p>
        </p:txBody>
      </p:sp>
      <p:sp>
        <p:nvSpPr>
          <p:cNvPr id="12" name="Rectangle 11"/>
          <p:cNvSpPr/>
          <p:nvPr/>
        </p:nvSpPr>
        <p:spPr>
          <a:xfrm>
            <a:off x="731520" y="3291840"/>
            <a:ext cx="3328416" cy="301752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291840"/>
            <a:ext cx="3328416" cy="4572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401568"/>
            <a:ext cx="2999232" cy="320040"/>
          </a:xfrm>
          <a:prstGeom prst="rect">
            <a:avLst/>
          </a:prstGeom>
          <a:noFill/>
        </p:spPr>
        <p:txBody>
          <a:bodyPr wrap="square" lIns="0" tIns="0" rIns="0" bIns="0">
            <a:spAutoFit/>
          </a:bodyPr>
          <a:lstStyle/>
          <a:p>
            <a:pPr>
              <a:defRPr sz="1200" b="1">
                <a:solidFill>
                  <a:srgbClr val="1B2B50"/>
                </a:solidFill>
                <a:latin typeface="Segoe UI"/>
              </a:defRPr>
            </a:pPr>
            <a:r>
              <a:t>1. Host EDR Blindness</a:t>
            </a:r>
          </a:p>
        </p:txBody>
      </p:sp>
      <p:sp>
        <p:nvSpPr>
          <p:cNvPr id="15" name="TextBox 14"/>
          <p:cNvSpPr txBox="1"/>
          <p:nvPr/>
        </p:nvSpPr>
        <p:spPr>
          <a:xfrm>
            <a:off x="914400" y="3749040"/>
            <a:ext cx="2962656" cy="2468880"/>
          </a:xfrm>
          <a:prstGeom prst="rect">
            <a:avLst/>
          </a:prstGeom>
          <a:noFill/>
        </p:spPr>
        <p:txBody>
          <a:bodyPr wrap="square">
            <a:spAutoFit/>
          </a:bodyPr>
          <a:lstStyle/>
          <a:p>
            <a:pPr>
              <a:defRPr sz="1050">
                <a:solidFill>
                  <a:srgbClr val="1E293B"/>
                </a:solidFill>
                <a:latin typeface="Segoe UI"/>
              </a:defRPr>
            </a:pPr>
            <a:r>
              <a:t>• Single-Host Isolation: Linux auditd and CamFlow only log local syscalls on one kernel.</a:t>
            </a:r>
            <a:br/>
            <a:br/>
            <a:r>
              <a:t>• Severed Causality: When an attacker pivots from an edge sensor to a fog gateway over a socket, the provenance chain breaks permanently.</a:t>
            </a:r>
          </a:p>
        </p:txBody>
      </p:sp>
      <p:sp>
        <p:nvSpPr>
          <p:cNvPr id="16" name="Rectangle 15"/>
          <p:cNvSpPr/>
          <p:nvPr/>
        </p:nvSpPr>
        <p:spPr>
          <a:xfrm>
            <a:off x="4425696" y="3291840"/>
            <a:ext cx="3328416" cy="301752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25696" y="3291840"/>
            <a:ext cx="3328416" cy="4572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0288" y="3401568"/>
            <a:ext cx="2999232" cy="320040"/>
          </a:xfrm>
          <a:prstGeom prst="rect">
            <a:avLst/>
          </a:prstGeom>
          <a:noFill/>
        </p:spPr>
        <p:txBody>
          <a:bodyPr wrap="square" lIns="0" tIns="0" rIns="0" bIns="0">
            <a:spAutoFit/>
          </a:bodyPr>
          <a:lstStyle/>
          <a:p>
            <a:pPr>
              <a:defRPr sz="1200" b="1">
                <a:solidFill>
                  <a:srgbClr val="1B2B50"/>
                </a:solidFill>
                <a:latin typeface="Segoe UI"/>
              </a:defRPr>
            </a:pPr>
            <a:r>
              <a:t>2. SIEM Bandwidth &amp; Privacy Flaw</a:t>
            </a:r>
          </a:p>
        </p:txBody>
      </p:sp>
      <p:sp>
        <p:nvSpPr>
          <p:cNvPr id="19" name="TextBox 18"/>
          <p:cNvSpPr txBox="1"/>
          <p:nvPr/>
        </p:nvSpPr>
        <p:spPr>
          <a:xfrm>
            <a:off x="4608576" y="3749040"/>
            <a:ext cx="2962656" cy="2468880"/>
          </a:xfrm>
          <a:prstGeom prst="rect">
            <a:avLst/>
          </a:prstGeom>
          <a:noFill/>
        </p:spPr>
        <p:txBody>
          <a:bodyPr wrap="square">
            <a:spAutoFit/>
          </a:bodyPr>
          <a:lstStyle/>
          <a:p>
            <a:pPr>
              <a:defRPr sz="1050">
                <a:solidFill>
                  <a:srgbClr val="1E293B"/>
                </a:solidFill>
                <a:latin typeface="Segoe UI"/>
              </a:defRPr>
            </a:pPr>
            <a:r>
              <a:t>• Uplink Saturation: Forwarding all raw audit events to Splunk/CloudWatch exhausts constrained edge uplinks (500+ KB/s per sensor cluster).</a:t>
            </a:r>
            <a:br/>
            <a:br/>
            <a:r>
              <a:t>• Privacy Violation: Unmasked camera/sensor payloads leaving local device boundaries violate GDPR/HIPAA mandates.</a:t>
            </a:r>
          </a:p>
        </p:txBody>
      </p:sp>
      <p:sp>
        <p:nvSpPr>
          <p:cNvPr id="20" name="Rectangle 19"/>
          <p:cNvSpPr/>
          <p:nvPr/>
        </p:nvSpPr>
        <p:spPr>
          <a:xfrm>
            <a:off x="8119872" y="3291840"/>
            <a:ext cx="3328416" cy="301752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19872" y="3291840"/>
            <a:ext cx="3328416" cy="4572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4464" y="3401568"/>
            <a:ext cx="2999232" cy="320040"/>
          </a:xfrm>
          <a:prstGeom prst="rect">
            <a:avLst/>
          </a:prstGeom>
          <a:noFill/>
        </p:spPr>
        <p:txBody>
          <a:bodyPr wrap="square" lIns="0" tIns="0" rIns="0" bIns="0">
            <a:spAutoFit/>
          </a:bodyPr>
          <a:lstStyle/>
          <a:p>
            <a:pPr>
              <a:defRPr sz="1200" b="1">
                <a:solidFill>
                  <a:srgbClr val="1B2B50"/>
                </a:solidFill>
                <a:latin typeface="Segoe UI"/>
              </a:defRPr>
            </a:pPr>
            <a:r>
              <a:t>3. Heterogeneous Schema Disconnect</a:t>
            </a:r>
          </a:p>
        </p:txBody>
      </p:sp>
      <p:sp>
        <p:nvSpPr>
          <p:cNvPr id="23" name="TextBox 22"/>
          <p:cNvSpPr txBox="1"/>
          <p:nvPr/>
        </p:nvSpPr>
        <p:spPr>
          <a:xfrm>
            <a:off x="8302752" y="3749040"/>
            <a:ext cx="2962656" cy="2468880"/>
          </a:xfrm>
          <a:prstGeom prst="rect">
            <a:avLst/>
          </a:prstGeom>
          <a:noFill/>
        </p:spPr>
        <p:txBody>
          <a:bodyPr wrap="square">
            <a:spAutoFit/>
          </a:bodyPr>
          <a:lstStyle/>
          <a:p>
            <a:pPr>
              <a:defRPr sz="1050">
                <a:solidFill>
                  <a:srgbClr val="1E293B"/>
                </a:solidFill>
                <a:latin typeface="Segoe UI"/>
              </a:defRPr>
            </a:pPr>
            <a:r>
              <a:t>• Disjoint Log Formats: Edge POSIX syscalls, Fog Docker socket streams, and Cloud REST API logs use conflicting structures.</a:t>
            </a:r>
            <a:br/>
            <a:br/>
            <a:r>
              <a:t>• No Automated Fusion: Without a unified mathematical event schema, automated causal traversal is impossible without manual guesswork.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Introduction</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4 / 13</a:t>
            </a:r>
          </a:p>
        </p:txBody>
      </p:sp>
      <p:sp>
        <p:nvSpPr>
          <p:cNvPr id="8" name="Rectangle 7"/>
          <p:cNvSpPr/>
          <p:nvPr/>
        </p:nvSpPr>
        <p:spPr>
          <a:xfrm>
            <a:off x="731520" y="1737360"/>
            <a:ext cx="5303520"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37360"/>
            <a:ext cx="530352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4974336" cy="320040"/>
          </a:xfrm>
          <a:prstGeom prst="rect">
            <a:avLst/>
          </a:prstGeom>
          <a:noFill/>
        </p:spPr>
        <p:txBody>
          <a:bodyPr wrap="square" lIns="0" tIns="0" rIns="0" bIns="0">
            <a:spAutoFit/>
          </a:bodyPr>
          <a:lstStyle/>
          <a:p>
            <a:pPr>
              <a:defRPr sz="1200" b="1">
                <a:solidFill>
                  <a:srgbClr val="1B2B50"/>
                </a:solidFill>
                <a:latin typeface="Segoe UI"/>
              </a:defRPr>
            </a:pPr>
            <a:r>
              <a:t>Project Overview: CLOUD-M7</a:t>
            </a:r>
          </a:p>
        </p:txBody>
      </p:sp>
      <p:sp>
        <p:nvSpPr>
          <p:cNvPr id="11" name="TextBox 10"/>
          <p:cNvSpPr txBox="1"/>
          <p:nvPr/>
        </p:nvSpPr>
        <p:spPr>
          <a:xfrm>
            <a:off x="914400" y="2194560"/>
            <a:ext cx="4937760" cy="3931920"/>
          </a:xfrm>
          <a:prstGeom prst="rect">
            <a:avLst/>
          </a:prstGeom>
          <a:noFill/>
        </p:spPr>
        <p:txBody>
          <a:bodyPr wrap="square">
            <a:spAutoFit/>
          </a:bodyPr>
          <a:lstStyle/>
          <a:p>
            <a:pPr>
              <a:defRPr sz="1050">
                <a:solidFill>
                  <a:srgbClr val="1E293B"/>
                </a:solidFill>
                <a:latin typeface="Segoe UI"/>
              </a:defRPr>
            </a:pPr>
            <a:r>
              <a:t>CLOUD-M7 is an end-to-end distributed forensic provenance framework tailored for multi-tier cyber-physical and cloud environments.</a:t>
            </a:r>
            <a:br/>
            <a:br/>
            <a:r>
              <a:t>Key Architectural Principles:</a:t>
            </a:r>
            <a:br/>
            <a:r>
              <a:t>1. Multi-Tier Stratified Architecture:</a:t>
            </a:r>
            <a:br/>
            <a:r>
              <a:t>   - Edge Tier: Low-latency capture and in-memory privacy filtering.</a:t>
            </a:r>
            <a:br/>
            <a:r>
              <a:t>   - Fog Tier: Regional aggregation, reduction, and intermediate network socket fusion.</a:t>
            </a:r>
            <a:br/>
            <a:r>
              <a:t>   - Cloud Tier: Global causal analytics and tamper-evident long-term storage.</a:t>
            </a:r>
            <a:br/>
            <a:br/>
            <a:r>
              <a:t>2. Tier-Adaptive Placement Optimization (min J(x)):</a:t>
            </a:r>
            <a:br/>
            <a:r>
              <a:t>   Dynamically decides where each forensic task runs to minimize latency, bandwidth, privacy penalty, and cost while strictly respecting edge hardware constraints.</a:t>
            </a:r>
            <a:br/>
            <a:br/>
            <a:r>
              <a:t>3. Automated Cross-Tier Causal Provenance Fusion:</a:t>
            </a:r>
            <a:br/>
            <a:r>
              <a:t>   Constructs a global directed acyclic graph (DAG) by matching network socket flows across tiers to synthesize complete multi-hop attack paths.</a:t>
            </a:r>
          </a:p>
        </p:txBody>
      </p:sp>
      <p:sp>
        <p:nvSpPr>
          <p:cNvPr id="12" name="Rectangle 11"/>
          <p:cNvSpPr/>
          <p:nvPr/>
        </p:nvSpPr>
        <p:spPr>
          <a:xfrm>
            <a:off x="6217920" y="1737360"/>
            <a:ext cx="5239512"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37360"/>
            <a:ext cx="5239512"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847088"/>
            <a:ext cx="4910328" cy="320040"/>
          </a:xfrm>
          <a:prstGeom prst="rect">
            <a:avLst/>
          </a:prstGeom>
          <a:noFill/>
        </p:spPr>
        <p:txBody>
          <a:bodyPr wrap="square" lIns="0" tIns="0" rIns="0" bIns="0">
            <a:spAutoFit/>
          </a:bodyPr>
          <a:lstStyle/>
          <a:p>
            <a:pPr>
              <a:defRPr sz="1200" b="1">
                <a:solidFill>
                  <a:srgbClr val="1B2B50"/>
                </a:solidFill>
                <a:latin typeface="Segoe UI"/>
              </a:defRPr>
            </a:pPr>
            <a:r>
              <a:t>Conceptual Multi-Tier Architecture</a:t>
            </a:r>
          </a:p>
        </p:txBody>
      </p:sp>
      <p:sp>
        <p:nvSpPr>
          <p:cNvPr id="15" name="TextBox 14"/>
          <p:cNvSpPr txBox="1"/>
          <p:nvPr/>
        </p:nvSpPr>
        <p:spPr>
          <a:xfrm>
            <a:off x="6400800" y="2194560"/>
            <a:ext cx="4873752" cy="3931920"/>
          </a:xfrm>
          <a:prstGeom prst="rect">
            <a:avLst/>
          </a:prstGeom>
          <a:noFill/>
        </p:spPr>
        <p:txBody>
          <a:bodyPr wrap="square">
            <a:spAutoFit/>
          </a:bodyPr>
          <a:lstStyle/>
          <a:p>
            <a:pPr>
              <a:defRPr sz="950">
                <a:solidFill>
                  <a:srgbClr val="1B2B50"/>
                </a:solidFill>
                <a:latin typeface="Consolas"/>
              </a:defRPr>
            </a:pPr>
            <a:r>
              <a:t>+---------------------------------------------------------+</a:t>
            </a:r>
            <a:br/>
            <a:r>
              <a:t>|                       CLOUD TIER                        |</a:t>
            </a:r>
            <a:br/>
            <a:r>
              <a:t>|  * Cloud REST APIs (cloud-api-prod)                     |</a:t>
            </a:r>
            <a:br/>
            <a:r>
              <a:t>|  * Crown Jewel Databases (cloud-db-cluster)             |</a:t>
            </a:r>
            <a:br/>
            <a:r>
              <a:t>|  * Global Causal Analytics &amp; Tamper-Evident Storage      |</a:t>
            </a:r>
            <a:br/>
            <a:r>
              <a:t>+----------------------------^----------------------------+</a:t>
            </a:r>
            <a:br/>
            <a:r>
              <a:t>                             | E_network (HTTPS :443)</a:t>
            </a:r>
            <a:br/>
            <a:r>
              <a:t>+----------------------------v----------------------------+</a:t>
            </a:r>
            <a:br/>
            <a:r>
              <a:t>|                        FOG TIER                         |</a:t>
            </a:r>
            <a:br/>
            <a:r>
              <a:t>|  * Regional Gateway (fog-gateway-01)                    |</a:t>
            </a:r>
            <a:br/>
            <a:r>
              <a:t>|  * Cross-Tier Socket Flow Correlation                   |</a:t>
            </a:r>
            <a:br/>
            <a:r>
              <a:t>|  * Articulation Choke-Point Attack Containment           |</a:t>
            </a:r>
            <a:br/>
            <a:r>
              <a:t>+----------------------------^----------------------------+</a:t>
            </a:r>
            <a:br/>
            <a:r>
              <a:t>                             | E_network (TCP :8080)</a:t>
            </a:r>
            <a:br/>
            <a:r>
              <a:t>+----------------------------v----------------------------+</a:t>
            </a:r>
            <a:br/>
            <a:r>
              <a:t>|                        EDGE TIER                        |</a:t>
            </a:r>
            <a:br/>
            <a:r>
              <a:t>|  * Sensors &amp; Actuators (edge-sensor-01, 02, actuator-03)|</a:t>
            </a:r>
            <a:br/>
            <a:r>
              <a:t>|  * In-Memory Privacy Masking &amp; Repetitive Graph Pruning  |</a:t>
            </a: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Scope and Feasibility study</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5 / 13</a:t>
            </a:r>
          </a:p>
        </p:txBody>
      </p:sp>
      <p:sp>
        <p:nvSpPr>
          <p:cNvPr id="8" name="Rectangle 7"/>
          <p:cNvSpPr/>
          <p:nvPr/>
        </p:nvSpPr>
        <p:spPr>
          <a:xfrm>
            <a:off x="731520" y="1737360"/>
            <a:ext cx="5303520"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37360"/>
            <a:ext cx="530352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4974336" cy="320040"/>
          </a:xfrm>
          <a:prstGeom prst="rect">
            <a:avLst/>
          </a:prstGeom>
          <a:noFill/>
        </p:spPr>
        <p:txBody>
          <a:bodyPr wrap="square" lIns="0" tIns="0" rIns="0" bIns="0">
            <a:spAutoFit/>
          </a:bodyPr>
          <a:lstStyle/>
          <a:p>
            <a:pPr>
              <a:defRPr sz="1200" b="1">
                <a:solidFill>
                  <a:srgbClr val="1B2B50"/>
                </a:solidFill>
                <a:latin typeface="Segoe UI"/>
              </a:defRPr>
            </a:pPr>
            <a:r>
              <a:t>1. Project Scope &amp; Technical Boundaries</a:t>
            </a:r>
          </a:p>
        </p:txBody>
      </p:sp>
      <p:sp>
        <p:nvSpPr>
          <p:cNvPr id="11" name="TextBox 10"/>
          <p:cNvSpPr txBox="1"/>
          <p:nvPr/>
        </p:nvSpPr>
        <p:spPr>
          <a:xfrm>
            <a:off x="914400" y="2194560"/>
            <a:ext cx="4937760" cy="3931920"/>
          </a:xfrm>
          <a:prstGeom prst="rect">
            <a:avLst/>
          </a:prstGeom>
          <a:noFill/>
        </p:spPr>
        <p:txBody>
          <a:bodyPr wrap="square">
            <a:spAutoFit/>
          </a:bodyPr>
          <a:lstStyle/>
          <a:p>
            <a:pPr>
              <a:defRPr sz="1050">
                <a:solidFill>
                  <a:srgbClr val="1E293B"/>
                </a:solidFill>
                <a:latin typeface="Segoe UI"/>
              </a:defRPr>
            </a:pPr>
            <a:r>
              <a:t>• Multi-Tier Boundary Definition:</a:t>
            </a:r>
            <a:br/>
            <a:r>
              <a:t>   Covers distributed systems spanning Edge microcontrollers (ARM Cortex/Raspberry Pi), intermediate Linux Fog gateways, and containerized Cloud clusters (AWS/Docker).</a:t>
            </a:r>
            <a:br/>
            <a:br/>
            <a:r>
              <a:t>• Forensic Event Scope:</a:t>
            </a:r>
            <a:br/>
            <a:r>
              <a:t>   Normalizes 4 core event abstractions: Process lifecycle (exec/fork), POSIX file operations (read/write), BSD network sockets (connect/accept), and Cloud REST API calls.</a:t>
            </a:r>
            <a:br/>
            <a:br/>
            <a:r>
              <a:t>• Attack Scenario Coverage:</a:t>
            </a:r>
            <a:br/>
            <a:r>
              <a:t>   Focuses on Advanced Persistent Threats (APTs) involving remote buffer overflows, privilege escalation, credential scraping, lateral network movement, and database exfiltration.</a:t>
            </a:r>
            <a:br/>
            <a:br/>
            <a:r>
              <a:t>• Non-Repudiation Scope:</a:t>
            </a:r>
            <a:br/>
            <a:r>
              <a:t>   Cryptographic integrity validation through SHA-256 event digest chaining.</a:t>
            </a:r>
          </a:p>
        </p:txBody>
      </p:sp>
      <p:sp>
        <p:nvSpPr>
          <p:cNvPr id="12" name="Rectangle 11"/>
          <p:cNvSpPr/>
          <p:nvPr/>
        </p:nvSpPr>
        <p:spPr>
          <a:xfrm>
            <a:off x="6217920" y="1737360"/>
            <a:ext cx="5239512"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37360"/>
            <a:ext cx="523951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847088"/>
            <a:ext cx="4910328" cy="320040"/>
          </a:xfrm>
          <a:prstGeom prst="rect">
            <a:avLst/>
          </a:prstGeom>
          <a:noFill/>
        </p:spPr>
        <p:txBody>
          <a:bodyPr wrap="square" lIns="0" tIns="0" rIns="0" bIns="0">
            <a:spAutoFit/>
          </a:bodyPr>
          <a:lstStyle/>
          <a:p>
            <a:pPr>
              <a:defRPr sz="1200" b="1">
                <a:solidFill>
                  <a:srgbClr val="1B2B50"/>
                </a:solidFill>
                <a:latin typeface="Segoe UI"/>
              </a:defRPr>
            </a:pPr>
            <a:r>
              <a:t>2. Challenges &amp; Feasibility Assessment</a:t>
            </a:r>
          </a:p>
        </p:txBody>
      </p:sp>
      <p:sp>
        <p:nvSpPr>
          <p:cNvPr id="15" name="TextBox 14"/>
          <p:cNvSpPr txBox="1"/>
          <p:nvPr/>
        </p:nvSpPr>
        <p:spPr>
          <a:xfrm>
            <a:off x="6400800" y="2194560"/>
            <a:ext cx="4873752" cy="3931920"/>
          </a:xfrm>
          <a:prstGeom prst="rect">
            <a:avLst/>
          </a:prstGeom>
          <a:noFill/>
        </p:spPr>
        <p:txBody>
          <a:bodyPr wrap="square">
            <a:spAutoFit/>
          </a:bodyPr>
          <a:lstStyle/>
          <a:p>
            <a:pPr>
              <a:defRPr sz="1000">
                <a:solidFill>
                  <a:srgbClr val="1E293B"/>
                </a:solidFill>
                <a:latin typeface="Segoe UI"/>
              </a:defRPr>
            </a:pPr>
            <a:r>
              <a:t>Challenge 1: Edge Resource Constraints (CPU &amp; RAM Caps)</a:t>
            </a:r>
            <a:br/>
            <a:r>
              <a:t>• Feasibility Solution: Our lightweight local graph reduction algorithm uses only 620.0 mcores CPU (well within the 800 mcore budget) and 292 MB RAM, enabling smooth execution on embedded edge hardware.</a:t>
            </a:r>
            <a:br/>
            <a:br/>
            <a:r>
              <a:t>Challenge 2: Severe Uplink Bandwidth Bottlenecks</a:t>
            </a:r>
            <a:br/>
            <a:r>
              <a:t>• Feasibility Solution: In-memory edge privacy filtering and reduction prunes 80.0% of noise locally, cutting network bandwidth by 90.0% (500 KB/s down to 50 KB/s).</a:t>
            </a:r>
            <a:br/>
            <a:br/>
            <a:r>
              <a:t>Challenge 3: Cross-Tier Timing Jitter &amp; Network Latency</a:t>
            </a:r>
            <a:br/>
            <a:r>
              <a:t>• Feasibility Solution: Our correlation engine enforces causal temporal windows (τ_send &lt;= τ_recv &lt;= τ_send + Δt_window) to guarantee consistent forward causality despite network jitter.</a:t>
            </a:r>
            <a:br/>
            <a:br/>
            <a:r>
              <a:t>Conclusion: High operational feasibility demonstrated across all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Applications/Use cases</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6 / 13</a:t>
            </a:r>
          </a:p>
        </p:txBody>
      </p:sp>
      <p:sp>
        <p:nvSpPr>
          <p:cNvPr id="8" name="Rectangle 7"/>
          <p:cNvSpPr/>
          <p:nvPr/>
        </p:nvSpPr>
        <p:spPr>
          <a:xfrm>
            <a:off x="731520" y="1737360"/>
            <a:ext cx="521208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37360"/>
            <a:ext cx="521208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4882896" cy="320040"/>
          </a:xfrm>
          <a:prstGeom prst="rect">
            <a:avLst/>
          </a:prstGeom>
          <a:noFill/>
        </p:spPr>
        <p:txBody>
          <a:bodyPr wrap="square" lIns="0" tIns="0" rIns="0" bIns="0">
            <a:spAutoFit/>
          </a:bodyPr>
          <a:lstStyle/>
          <a:p>
            <a:pPr>
              <a:defRPr sz="1200" b="1">
                <a:solidFill>
                  <a:srgbClr val="1B2B50"/>
                </a:solidFill>
                <a:latin typeface="Segoe UI"/>
              </a:defRPr>
            </a:pPr>
            <a:r>
              <a:t>1. Industrial IoT &amp; SCADA Smart Facilities</a:t>
            </a:r>
          </a:p>
        </p:txBody>
      </p:sp>
      <p:sp>
        <p:nvSpPr>
          <p:cNvPr id="11" name="TextBox 10"/>
          <p:cNvSpPr txBox="1"/>
          <p:nvPr/>
        </p:nvSpPr>
        <p:spPr>
          <a:xfrm>
            <a:off x="914400" y="2148840"/>
            <a:ext cx="4846320" cy="1645920"/>
          </a:xfrm>
          <a:prstGeom prst="rect">
            <a:avLst/>
          </a:prstGeom>
          <a:noFill/>
        </p:spPr>
        <p:txBody>
          <a:bodyPr wrap="square">
            <a:spAutoFit/>
          </a:bodyPr>
          <a:lstStyle/>
          <a:p>
            <a:pPr>
              <a:defRPr sz="1000">
                <a:solidFill>
                  <a:srgbClr val="1E293B"/>
                </a:solidFill>
                <a:latin typeface="Segoe UI"/>
              </a:defRPr>
            </a:pPr>
            <a:r>
              <a:t>• Threat: Attackers exploit programmable logic controllers (PLCs) or edge sensors and pivot to plant control servers (e.g. Stuxnet/Triton).</a:t>
            </a:r>
            <a:br/>
            <a:r>
              <a:t>• Value: CLOUD-M7 traces the exact lateral pivot across local Fog gateways and halts exfiltration before it reaches corporate headquarters.</a:t>
            </a:r>
          </a:p>
        </p:txBody>
      </p:sp>
      <p:sp>
        <p:nvSpPr>
          <p:cNvPr id="12" name="Rectangle 11"/>
          <p:cNvSpPr/>
          <p:nvPr/>
        </p:nvSpPr>
        <p:spPr>
          <a:xfrm>
            <a:off x="6217920" y="1737360"/>
            <a:ext cx="521208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37360"/>
            <a:ext cx="521208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847088"/>
            <a:ext cx="4882896" cy="320040"/>
          </a:xfrm>
          <a:prstGeom prst="rect">
            <a:avLst/>
          </a:prstGeom>
          <a:noFill/>
        </p:spPr>
        <p:txBody>
          <a:bodyPr wrap="square" lIns="0" tIns="0" rIns="0" bIns="0">
            <a:spAutoFit/>
          </a:bodyPr>
          <a:lstStyle/>
          <a:p>
            <a:pPr>
              <a:defRPr sz="1200" b="1">
                <a:solidFill>
                  <a:srgbClr val="1B2B50"/>
                </a:solidFill>
                <a:latin typeface="Segoe UI"/>
              </a:defRPr>
            </a:pPr>
            <a:r>
              <a:t>2. Connected Autonomous Vehicles (V2X)</a:t>
            </a:r>
          </a:p>
        </p:txBody>
      </p:sp>
      <p:sp>
        <p:nvSpPr>
          <p:cNvPr id="15" name="TextBox 14"/>
          <p:cNvSpPr txBox="1"/>
          <p:nvPr/>
        </p:nvSpPr>
        <p:spPr>
          <a:xfrm>
            <a:off x="6400800" y="2148840"/>
            <a:ext cx="4846320" cy="1645920"/>
          </a:xfrm>
          <a:prstGeom prst="rect">
            <a:avLst/>
          </a:prstGeom>
          <a:noFill/>
        </p:spPr>
        <p:txBody>
          <a:bodyPr wrap="square">
            <a:spAutoFit/>
          </a:bodyPr>
          <a:lstStyle/>
          <a:p>
            <a:pPr>
              <a:defRPr sz="1000">
                <a:solidFill>
                  <a:srgbClr val="1E293B"/>
                </a:solidFill>
                <a:latin typeface="Segoe UI"/>
              </a:defRPr>
            </a:pPr>
            <a:r>
              <a:t>• Threat: Malicious tampering with vehicle telematics or infotainment units attempting to pivot to roadside units (RSUs) and cloud fleet servers.</a:t>
            </a:r>
            <a:br/>
            <a:r>
              <a:t>• Value: 90% bandwidth reduction enables real-time forensic logging over constrained 4G/5G cellular uplinks without vehicle network lag.</a:t>
            </a:r>
          </a:p>
        </p:txBody>
      </p:sp>
      <p:sp>
        <p:nvSpPr>
          <p:cNvPr id="16" name="Rectangle 15"/>
          <p:cNvSpPr/>
          <p:nvPr/>
        </p:nvSpPr>
        <p:spPr>
          <a:xfrm>
            <a:off x="731520" y="4114800"/>
            <a:ext cx="521208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114800"/>
            <a:ext cx="521208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224528"/>
            <a:ext cx="4882896" cy="320040"/>
          </a:xfrm>
          <a:prstGeom prst="rect">
            <a:avLst/>
          </a:prstGeom>
          <a:noFill/>
        </p:spPr>
        <p:txBody>
          <a:bodyPr wrap="square" lIns="0" tIns="0" rIns="0" bIns="0">
            <a:spAutoFit/>
          </a:bodyPr>
          <a:lstStyle/>
          <a:p>
            <a:pPr>
              <a:defRPr sz="1200" b="1">
                <a:solidFill>
                  <a:srgbClr val="1B2B50"/>
                </a:solidFill>
                <a:latin typeface="Segoe UI"/>
              </a:defRPr>
            </a:pPr>
            <a:r>
              <a:t>3. Smart Healthcare &amp; Medical Grids (IoMT)</a:t>
            </a:r>
          </a:p>
        </p:txBody>
      </p:sp>
      <p:sp>
        <p:nvSpPr>
          <p:cNvPr id="19" name="TextBox 18"/>
          <p:cNvSpPr txBox="1"/>
          <p:nvPr/>
        </p:nvSpPr>
        <p:spPr>
          <a:xfrm>
            <a:off x="914400" y="4526280"/>
            <a:ext cx="4846320" cy="1645920"/>
          </a:xfrm>
          <a:prstGeom prst="rect">
            <a:avLst/>
          </a:prstGeom>
          <a:noFill/>
        </p:spPr>
        <p:txBody>
          <a:bodyPr wrap="square">
            <a:spAutoFit/>
          </a:bodyPr>
          <a:lstStyle/>
          <a:p>
            <a:pPr>
              <a:defRPr sz="1000">
                <a:solidFill>
                  <a:srgbClr val="1E293B"/>
                </a:solidFill>
                <a:latin typeface="Segoe UI"/>
              </a:defRPr>
            </a:pPr>
            <a:r>
              <a:t>• Threat: Ransomware compromising patient monitoring beds and pivoting toward Electronic Health Record (EHR) databases.</a:t>
            </a:r>
            <a:br/>
            <a:r>
              <a:t>• Value: Local in-memory privacy filtering guarantees full HIPAA and GDPR regulatory compliance by masking sensitive patient vitals at the edge.</a:t>
            </a:r>
          </a:p>
        </p:txBody>
      </p:sp>
      <p:sp>
        <p:nvSpPr>
          <p:cNvPr id="20" name="Rectangle 19"/>
          <p:cNvSpPr/>
          <p:nvPr/>
        </p:nvSpPr>
        <p:spPr>
          <a:xfrm>
            <a:off x="6217920" y="4114800"/>
            <a:ext cx="5212080" cy="214884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4114800"/>
            <a:ext cx="5212080" cy="45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4224528"/>
            <a:ext cx="4882896" cy="320040"/>
          </a:xfrm>
          <a:prstGeom prst="rect">
            <a:avLst/>
          </a:prstGeom>
          <a:noFill/>
        </p:spPr>
        <p:txBody>
          <a:bodyPr wrap="square" lIns="0" tIns="0" rIns="0" bIns="0">
            <a:spAutoFit/>
          </a:bodyPr>
          <a:lstStyle/>
          <a:p>
            <a:pPr>
              <a:defRPr sz="1200" b="1">
                <a:solidFill>
                  <a:srgbClr val="1B2B50"/>
                </a:solidFill>
                <a:latin typeface="Segoe UI"/>
              </a:defRPr>
            </a:pPr>
            <a:r>
              <a:t>4. Enterprise Hybrid Cloud Infrastructures</a:t>
            </a:r>
          </a:p>
        </p:txBody>
      </p:sp>
      <p:sp>
        <p:nvSpPr>
          <p:cNvPr id="23" name="TextBox 22"/>
          <p:cNvSpPr txBox="1"/>
          <p:nvPr/>
        </p:nvSpPr>
        <p:spPr>
          <a:xfrm>
            <a:off x="6400800" y="4526280"/>
            <a:ext cx="4846320" cy="1645920"/>
          </a:xfrm>
          <a:prstGeom prst="rect">
            <a:avLst/>
          </a:prstGeom>
          <a:noFill/>
        </p:spPr>
        <p:txBody>
          <a:bodyPr wrap="square">
            <a:spAutoFit/>
          </a:bodyPr>
          <a:lstStyle/>
          <a:p>
            <a:pPr>
              <a:defRPr sz="1000">
                <a:solidFill>
                  <a:srgbClr val="1E293B"/>
                </a:solidFill>
                <a:latin typeface="Segoe UI"/>
              </a:defRPr>
            </a:pPr>
            <a:r>
              <a:t>• Threat: Supply chain attacks compromising branch office IoT cameras and traversing VPN tunnels to exfiltrate enterprise SQL databases.</a:t>
            </a:r>
            <a:br/>
            <a:r>
              <a:t>• Value: Choke-point analysis identifies the exact Fog gateway articulation vertex to sever all incoming attack paths instantly.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Background Study: Analysis of 5 Seminal Research Papers</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7 / 13</a:t>
            </a:r>
          </a:p>
        </p:txBody>
      </p:sp>
      <p:sp>
        <p:nvSpPr>
          <p:cNvPr id="8" name="Rectangle 7"/>
          <p:cNvSpPr/>
          <p:nvPr/>
        </p:nvSpPr>
        <p:spPr>
          <a:xfrm>
            <a:off x="731520" y="1691640"/>
            <a:ext cx="10725912"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691640"/>
            <a:ext cx="10725912"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64792"/>
            <a:ext cx="10360152" cy="731520"/>
          </a:xfrm>
          <a:prstGeom prst="rect">
            <a:avLst/>
          </a:prstGeom>
          <a:noFill/>
        </p:spPr>
        <p:txBody>
          <a:bodyPr wrap="square" lIns="0" tIns="0" rIns="0" bIns="0">
            <a:spAutoFit/>
          </a:bodyPr>
          <a:lstStyle/>
          <a:p>
            <a:pPr>
              <a:defRPr sz="1100" b="1">
                <a:solidFill>
                  <a:srgbClr val="1E40AF"/>
                </a:solidFill>
                <a:latin typeface="Segoe UI"/>
              </a:defRPr>
            </a:pPr>
            <a:r>
              <a:t>1. CamFlow / CamQuery (Pasquier et al., USENIX ATC 2018)</a:t>
            </a:r>
          </a:p>
          <a:p>
            <a:pPr>
              <a:spcBef>
                <a:spcPts val="200"/>
              </a:spcBef>
              <a:defRPr sz="950">
                <a:solidFill>
                  <a:srgbClr val="1E293B"/>
                </a:solidFill>
                <a:latin typeface="Segoe UI"/>
              </a:defRPr>
            </a:pPr>
            <a:r>
              <a:t>Focus: Whole-system OS provenance capture via Linux Security Modules (LSM) and graph query engine.</a:t>
            </a:r>
            <a:br/>
            <a:r>
              <a:t>Limitation: Confined to a single OS kernel; completely blind to cross-network sockets and multi-tier boundaries.</a:t>
            </a:r>
            <a:br/>
            <a:r>
              <a:t>CLOUD-M7 Advancement: Extends provenance across tier boundaries via unified tuple E_i and network socket correlation.</a:t>
            </a:r>
          </a:p>
        </p:txBody>
      </p:sp>
      <p:sp>
        <p:nvSpPr>
          <p:cNvPr id="11" name="Rectangle 10"/>
          <p:cNvSpPr/>
          <p:nvPr/>
        </p:nvSpPr>
        <p:spPr>
          <a:xfrm>
            <a:off x="731520" y="2624328"/>
            <a:ext cx="10725912"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624328"/>
            <a:ext cx="10725912"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697480"/>
            <a:ext cx="10360152" cy="731520"/>
          </a:xfrm>
          <a:prstGeom prst="rect">
            <a:avLst/>
          </a:prstGeom>
          <a:noFill/>
        </p:spPr>
        <p:txBody>
          <a:bodyPr wrap="square" lIns="0" tIns="0" rIns="0" bIns="0">
            <a:spAutoFit/>
          </a:bodyPr>
          <a:lstStyle/>
          <a:p>
            <a:pPr>
              <a:defRPr sz="1100" b="1">
                <a:solidFill>
                  <a:srgbClr val="1E40AF"/>
                </a:solidFill>
                <a:latin typeface="Segoe UI"/>
              </a:defRPr>
            </a:pPr>
            <a:r>
              <a:t>2. SPADE (Bates et al., USENIX Security 2015 / Gehani et al.)</a:t>
            </a:r>
          </a:p>
          <a:p>
            <a:pPr>
              <a:spcBef>
                <a:spcPts val="200"/>
              </a:spcBef>
              <a:defRPr sz="950">
                <a:solidFill>
                  <a:srgbClr val="1E293B"/>
                </a:solidFill>
                <a:latin typeface="Segoe UI"/>
              </a:defRPr>
            </a:pPr>
            <a:r>
              <a:t>Focus: Extensible, cross-platform distributed provenance collection and query engine for Linux auditd.</a:t>
            </a:r>
            <a:br/>
            <a:r>
              <a:t>Limitation: Requires shipping all raw audit logs to central storage, causing prohibitive edge bandwidth saturation.</a:t>
            </a:r>
            <a:br/>
            <a:r>
              <a:t>CLOUD-M7 Advancement: Tier-adaptive task placement optimization (min J(x)) achieving 90.0% bandwidth reduction.</a:t>
            </a:r>
          </a:p>
        </p:txBody>
      </p:sp>
      <p:sp>
        <p:nvSpPr>
          <p:cNvPr id="14" name="Rectangle 13"/>
          <p:cNvSpPr/>
          <p:nvPr/>
        </p:nvSpPr>
        <p:spPr>
          <a:xfrm>
            <a:off x="731520" y="3557016"/>
            <a:ext cx="10725912"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557016"/>
            <a:ext cx="1072591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630168"/>
            <a:ext cx="10360152" cy="731520"/>
          </a:xfrm>
          <a:prstGeom prst="rect">
            <a:avLst/>
          </a:prstGeom>
          <a:noFill/>
        </p:spPr>
        <p:txBody>
          <a:bodyPr wrap="square" lIns="0" tIns="0" rIns="0" bIns="0">
            <a:spAutoFit/>
          </a:bodyPr>
          <a:lstStyle/>
          <a:p>
            <a:pPr>
              <a:defRPr sz="1100" b="1">
                <a:solidFill>
                  <a:srgbClr val="059669"/>
                </a:solidFill>
                <a:latin typeface="Segoe UI"/>
              </a:defRPr>
            </a:pPr>
            <a:r>
              <a:t>3. Prov-IoT (Wang et al., IEEE Internet of Things Journal 2020)</a:t>
            </a:r>
          </a:p>
          <a:p>
            <a:pPr>
              <a:spcBef>
                <a:spcPts val="200"/>
              </a:spcBef>
              <a:defRPr sz="950">
                <a:solidFill>
                  <a:srgbClr val="1E293B"/>
                </a:solidFill>
                <a:latin typeface="Segoe UI"/>
              </a:defRPr>
            </a:pPr>
            <a:r>
              <a:t>Focus: Provenance tracking framework customized for smart home IoT devices and trigger-action rules.</a:t>
            </a:r>
            <a:br/>
            <a:r>
              <a:t>Limitation: Restricted to simple smart-home trigger apps; cannot scale to enterprise hybrid cloud backends.</a:t>
            </a:r>
            <a:br/>
            <a:r>
              <a:t>CLOUD-M7 Advancement: Multi-tier schema scaling seamlessly from edge microcontrollers to enterprise cloud databases.</a:t>
            </a:r>
          </a:p>
        </p:txBody>
      </p:sp>
      <p:sp>
        <p:nvSpPr>
          <p:cNvPr id="17" name="Rectangle 16"/>
          <p:cNvSpPr/>
          <p:nvPr/>
        </p:nvSpPr>
        <p:spPr>
          <a:xfrm>
            <a:off x="731520" y="4489704"/>
            <a:ext cx="10725912"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89704"/>
            <a:ext cx="10725912" cy="45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62856"/>
            <a:ext cx="10360152" cy="731520"/>
          </a:xfrm>
          <a:prstGeom prst="rect">
            <a:avLst/>
          </a:prstGeom>
          <a:noFill/>
        </p:spPr>
        <p:txBody>
          <a:bodyPr wrap="square" lIns="0" tIns="0" rIns="0" bIns="0">
            <a:spAutoFit/>
          </a:bodyPr>
          <a:lstStyle/>
          <a:p>
            <a:pPr>
              <a:defRPr sz="1100" b="1">
                <a:solidFill>
                  <a:srgbClr val="D97706"/>
                </a:solidFill>
                <a:latin typeface="Segoe UI"/>
              </a:defRPr>
            </a:pPr>
            <a:r>
              <a:t>4. HOLMES (Milajerdi et al., IEEE S&amp;P / Oakland 2019)</a:t>
            </a:r>
          </a:p>
          <a:p>
            <a:pPr>
              <a:spcBef>
                <a:spcPts val="200"/>
              </a:spcBef>
              <a:defRPr sz="950">
                <a:solidFill>
                  <a:srgbClr val="1E293B"/>
                </a:solidFill>
                <a:latin typeface="Segoe UI"/>
              </a:defRPr>
            </a:pPr>
            <a:r>
              <a:t>Focus: Real-time APT detection by correlating suspicious information flows and mapping to MITRE ATT&amp;CK.</a:t>
            </a:r>
            <a:br/>
            <a:r>
              <a:t>Limitation: Single-pass kill chain traversal terminates at first alert, missing stealthy secondary attack roots.</a:t>
            </a:r>
            <a:br/>
            <a:r>
              <a:t>CLOUD-M7 Advancement: Hyperparameter-tuned iterative multi-root discovery (ΔI_k &gt;= ε) finding all co-occurring vectors.</a:t>
            </a:r>
          </a:p>
        </p:txBody>
      </p:sp>
      <p:sp>
        <p:nvSpPr>
          <p:cNvPr id="20" name="Rectangle 19"/>
          <p:cNvSpPr/>
          <p:nvPr/>
        </p:nvSpPr>
        <p:spPr>
          <a:xfrm>
            <a:off x="731520" y="5422392"/>
            <a:ext cx="10725912" cy="86868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422392"/>
            <a:ext cx="10725912" cy="4572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495544"/>
            <a:ext cx="10360152" cy="731520"/>
          </a:xfrm>
          <a:prstGeom prst="rect">
            <a:avLst/>
          </a:prstGeom>
          <a:noFill/>
        </p:spPr>
        <p:txBody>
          <a:bodyPr wrap="square" lIns="0" tIns="0" rIns="0" bIns="0">
            <a:spAutoFit/>
          </a:bodyPr>
          <a:lstStyle/>
          <a:p>
            <a:pPr>
              <a:defRPr sz="1100" b="1">
                <a:solidFill>
                  <a:srgbClr val="E11D48"/>
                </a:solidFill>
                <a:latin typeface="Segoe UI"/>
              </a:defRPr>
            </a:pPr>
            <a:r>
              <a:t>5. BackTracker (King &amp; Chen, ACM SOSP 2003)</a:t>
            </a:r>
          </a:p>
          <a:p>
            <a:pPr>
              <a:spcBef>
                <a:spcPts val="200"/>
              </a:spcBef>
              <a:defRPr sz="950">
                <a:solidFill>
                  <a:srgbClr val="1E293B"/>
                </a:solidFill>
                <a:latin typeface="Segoe UI"/>
              </a:defRPr>
            </a:pPr>
            <a:r>
              <a:t>Focus: Seminal backward causal dependency graph analysis from a compromised detection point to root cause.</a:t>
            </a:r>
            <a:br/>
            <a:r>
              <a:t>Limitation: Single-host scope, prone to dependency explosion bloat, and provides no choke-point containment analysis.</a:t>
            </a:r>
            <a:br/>
            <a:r>
              <a:t>CLOUD-M7 Advancement: Multi-sensor convergent graph analysis with graph articulation cut-vertices (100% containment).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Implementation: Architecture &amp; Formal Event Schema</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8 / 13</a:t>
            </a:r>
          </a:p>
        </p:txBody>
      </p:sp>
      <p:sp>
        <p:nvSpPr>
          <p:cNvPr id="8" name="Rectangle 7"/>
          <p:cNvSpPr/>
          <p:nvPr/>
        </p:nvSpPr>
        <p:spPr>
          <a:xfrm>
            <a:off x="731520" y="1737360"/>
            <a:ext cx="5303520"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37360"/>
            <a:ext cx="530352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4974336" cy="320040"/>
          </a:xfrm>
          <a:prstGeom prst="rect">
            <a:avLst/>
          </a:prstGeom>
          <a:noFill/>
        </p:spPr>
        <p:txBody>
          <a:bodyPr wrap="square" lIns="0" tIns="0" rIns="0" bIns="0">
            <a:spAutoFit/>
          </a:bodyPr>
          <a:lstStyle/>
          <a:p>
            <a:pPr>
              <a:defRPr sz="1200" b="1">
                <a:solidFill>
                  <a:srgbClr val="1B2B50"/>
                </a:solidFill>
                <a:latin typeface="Segoe UI"/>
              </a:defRPr>
            </a:pPr>
            <a:r>
              <a:t>1. Formal Unified Event Tuple (E_i)</a:t>
            </a:r>
          </a:p>
        </p:txBody>
      </p:sp>
      <p:sp>
        <p:nvSpPr>
          <p:cNvPr id="11" name="TextBox 10"/>
          <p:cNvSpPr txBox="1"/>
          <p:nvPr/>
        </p:nvSpPr>
        <p:spPr>
          <a:xfrm>
            <a:off x="914400" y="2194560"/>
            <a:ext cx="4937760" cy="3931920"/>
          </a:xfrm>
          <a:prstGeom prst="rect">
            <a:avLst/>
          </a:prstGeom>
          <a:noFill/>
        </p:spPr>
        <p:txBody>
          <a:bodyPr wrap="square">
            <a:spAutoFit/>
          </a:bodyPr>
          <a:lstStyle/>
          <a:p>
            <a:pPr>
              <a:defRPr sz="1200" b="1">
                <a:solidFill>
                  <a:srgbClr val="1E40AF"/>
                </a:solidFill>
                <a:latin typeface="Consolas"/>
              </a:defRPr>
            </a:pPr>
            <a:r>
              <a:t>E_i = &lt; UUID_i,  τ_i,  Tier_i,  HostID_i,  Type_i,  P_i,  π_i &gt;</a:t>
            </a:r>
            <a:br/>
          </a:p>
          <a:p>
            <a:pPr>
              <a:defRPr sz="1000">
                <a:solidFill>
                  <a:srgbClr val="1E293B"/>
                </a:solidFill>
                <a:latin typeface="Segoe UI"/>
              </a:defRPr>
            </a:pPr>
            <a:r>
              <a:t>• UUID_i: 128-bit globally unique event identifier.</a:t>
            </a:r>
            <a:br/>
            <a:r>
              <a:t>• τ_i: High-precision UTC timestamp (enforces causal ordering).</a:t>
            </a:r>
            <a:br/>
            <a:r>
              <a:t>• Tier_i ∈ {Edge, Fog, Cloud}: Physical execution stratum.</a:t>
            </a:r>
            <a:br/>
            <a:r>
              <a:t>• HostID_i: Originating container, VM, or device identifier.</a:t>
            </a:r>
            <a:br/>
            <a:r>
              <a:t>• Type_i ∈ {Process, File, Socket, API}: Event abstraction.</a:t>
            </a:r>
            <a:br/>
            <a:r>
              <a:t>• P_i: Structured payload carrying process PID, paths, socket 5-tuples, or API parameters.</a:t>
            </a:r>
            <a:br/>
            <a:r>
              <a:t>• π_i: Set of causal parent event UUIDs establishing dependency edges.</a:t>
            </a:r>
            <a:br/>
            <a:br/>
            <a:r>
              <a:t>Cryptographic SHA-256 Tamper-Evidence (Non-Repudiation):</a:t>
            </a:r>
            <a:br/>
            <a:r>
              <a:t>H_i = SHA256( UUID_i || τ_i || Tier_i || HostID_i || Type_i || P_i || π_i )</a:t>
            </a:r>
            <a:br/>
            <a:r>
              <a:t>Guarantees that compromised devices cannot rewrite past logs.</a:t>
            </a:r>
          </a:p>
        </p:txBody>
      </p:sp>
      <p:sp>
        <p:nvSpPr>
          <p:cNvPr id="12" name="Rectangle 11"/>
          <p:cNvSpPr/>
          <p:nvPr/>
        </p:nvSpPr>
        <p:spPr>
          <a:xfrm>
            <a:off x="6217920" y="1737360"/>
            <a:ext cx="5239512"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37360"/>
            <a:ext cx="5239512" cy="45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847088"/>
            <a:ext cx="4910328" cy="320040"/>
          </a:xfrm>
          <a:prstGeom prst="rect">
            <a:avLst/>
          </a:prstGeom>
          <a:noFill/>
        </p:spPr>
        <p:txBody>
          <a:bodyPr wrap="square" lIns="0" tIns="0" rIns="0" bIns="0">
            <a:spAutoFit/>
          </a:bodyPr>
          <a:lstStyle/>
          <a:p>
            <a:pPr>
              <a:defRPr sz="1200" b="1">
                <a:solidFill>
                  <a:srgbClr val="1B2B50"/>
                </a:solidFill>
                <a:latin typeface="Segoe UI"/>
              </a:defRPr>
            </a:pPr>
            <a:r>
              <a:t>2. Cross-Tier Socket Flow Correlation (E_network)</a:t>
            </a:r>
          </a:p>
        </p:txBody>
      </p:sp>
      <p:sp>
        <p:nvSpPr>
          <p:cNvPr id="15" name="TextBox 14"/>
          <p:cNvSpPr txBox="1"/>
          <p:nvPr/>
        </p:nvSpPr>
        <p:spPr>
          <a:xfrm>
            <a:off x="6400800" y="2194560"/>
            <a:ext cx="4873752" cy="3931920"/>
          </a:xfrm>
          <a:prstGeom prst="rect">
            <a:avLst/>
          </a:prstGeom>
          <a:noFill/>
        </p:spPr>
        <p:txBody>
          <a:bodyPr wrap="square">
            <a:spAutoFit/>
          </a:bodyPr>
          <a:lstStyle/>
          <a:p>
            <a:pPr>
              <a:defRPr sz="1000">
                <a:solidFill>
                  <a:srgbClr val="1E293B"/>
                </a:solidFill>
                <a:latin typeface="Segoe UI"/>
              </a:defRPr>
            </a:pPr>
            <a:r>
              <a:t>Stitching Disjoint Intra-Tier Subgraphs into a Global DAG:</a:t>
            </a:r>
            <a:br/>
            <a:br/>
            <a:r>
              <a:t>1. Network 5-Tuple Complementarity Rule:</a:t>
            </a:r>
            <a:br/>
            <a:r>
              <a:t>   A directed cross-tier dependency edge (u -&gt; v) is established if:</a:t>
            </a:r>
            <a:br/>
            <a:r>
              <a:t>   IP_src(u) == IP_src(v)  ∧  IP_dst(u) == IP_dst(v)</a:t>
            </a:r>
            <a:br/>
            <a:r>
              <a:t>   Port_src(u) == Port_src(v)  ∧  Port_dst(u) == Port_dst(v)</a:t>
            </a:r>
            <a:br/>
            <a:r>
              <a:t>   Protocol(u) == Protocol(v)</a:t>
            </a:r>
            <a:br/>
            <a:br/>
            <a:r>
              <a:t>2. Strict Causal Temporal Window:</a:t>
            </a:r>
            <a:br/>
            <a:r>
              <a:t>   0 &lt;= τ(v) - τ(u) &lt;= Δt_window</a:t>
            </a:r>
            <a:br/>
            <a:r>
              <a:t>   Guarantees that socket 'accept' events always succeed outbound socket 'connect' events chronologically.</a:t>
            </a:r>
            <a:br/>
            <a:br/>
            <a:r>
              <a:t>3. Global Causal Graph Synthesis:</a:t>
            </a:r>
            <a:br/>
            <a:r>
              <a:t>   G_global = G_edge ∪ G_fog ∪ G_cloud ∪ E_network</a:t>
            </a:r>
            <a:br/>
            <a:br/>
            <a:r>
              <a:t>4. Backward &amp; Forward Traversal:</a:t>
            </a:r>
            <a:br/>
            <a:r>
              <a:t>   Isolates minimal attack path from root entry to target impact.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Implementation: Core Novelty Formulations</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9 / 13</a:t>
            </a:r>
          </a:p>
        </p:txBody>
      </p:sp>
      <p:sp>
        <p:nvSpPr>
          <p:cNvPr id="8" name="Rectangle 7"/>
          <p:cNvSpPr/>
          <p:nvPr/>
        </p:nvSpPr>
        <p:spPr>
          <a:xfrm>
            <a:off x="731520" y="1737360"/>
            <a:ext cx="5303520"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37360"/>
            <a:ext cx="530352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4974336" cy="320040"/>
          </a:xfrm>
          <a:prstGeom prst="rect">
            <a:avLst/>
          </a:prstGeom>
          <a:noFill/>
        </p:spPr>
        <p:txBody>
          <a:bodyPr wrap="square" lIns="0" tIns="0" rIns="0" bIns="0">
            <a:spAutoFit/>
          </a:bodyPr>
          <a:lstStyle/>
          <a:p>
            <a:pPr>
              <a:defRPr sz="1200" b="1">
                <a:solidFill>
                  <a:srgbClr val="1B2B50"/>
                </a:solidFill>
                <a:latin typeface="Segoe UI"/>
              </a:defRPr>
            </a:pPr>
            <a:r>
              <a:t>Novelty 1: Iterative Multi-Root Causal Discovery</a:t>
            </a:r>
          </a:p>
        </p:txBody>
      </p:sp>
      <p:sp>
        <p:nvSpPr>
          <p:cNvPr id="11" name="TextBox 10"/>
          <p:cNvSpPr txBox="1"/>
          <p:nvPr/>
        </p:nvSpPr>
        <p:spPr>
          <a:xfrm>
            <a:off x="914400" y="2194560"/>
            <a:ext cx="4937760" cy="3931920"/>
          </a:xfrm>
          <a:prstGeom prst="rect">
            <a:avLst/>
          </a:prstGeom>
          <a:noFill/>
        </p:spPr>
        <p:txBody>
          <a:bodyPr wrap="square">
            <a:spAutoFit/>
          </a:bodyPr>
          <a:lstStyle/>
          <a:p>
            <a:pPr>
              <a:defRPr sz="1000">
                <a:solidFill>
                  <a:srgbClr val="1E293B"/>
                </a:solidFill>
                <a:latin typeface="Segoe UI"/>
              </a:defRPr>
            </a:pPr>
            <a:r>
              <a:t>The Fatal Flaw in Existing Forensic Systems:</a:t>
            </a:r>
            <a:br/>
            <a:r>
              <a:t>Single-pass backward BFS terminates immediately upon isolating the first root cause. In multi-vector APTs, concurrent entry points remain undiscovered.</a:t>
            </a:r>
            <a:br/>
            <a:br/>
            <a:r>
              <a:t>Our Hyperparameter-Tuned Discovery Algorithm:</a:t>
            </a:r>
            <a:br/>
            <a:r>
              <a:t>ΔI_k = Impact(R_k) · e^(-λ · k) &gt;= ε</a:t>
            </a:r>
            <a:br/>
            <a:br/>
            <a:r>
              <a:t>• Hyperparameters:</a:t>
            </a:r>
            <a:br/>
            <a:r>
              <a:t>   - K_max (Default: 5): Maximum traversal iteration ceiling.</a:t>
            </a:r>
            <a:br/>
            <a:r>
              <a:t>   - ε (Default: 1.0): Diminishing return threshold.</a:t>
            </a:r>
            <a:br/>
            <a:r>
              <a:t>   - λ (Default: 0.1): Historical decay attenuation rate.</a:t>
            </a:r>
            <a:br/>
            <a:br/>
            <a:r>
              <a:t>Empirical Multi-Vector Discovery Results:</a:t>
            </a:r>
            <a:br/>
            <a:r>
              <a:t>• Iteration 1 (ΔI_1 = 102.30): Vector 1 on edge-sensor-01 (14 hops).</a:t>
            </a:r>
            <a:br/>
            <a:r>
              <a:t>• Iteration 2 (ΔI_2 = 10.24): Vector 2 on edge-sensor-02 (11 hops).</a:t>
            </a:r>
            <a:br/>
            <a:r>
              <a:t>• Iteration 3 (ΔI_3 = 3.77): Vector 3 on fog-gateway-01 (7 hops).</a:t>
            </a:r>
            <a:br/>
            <a:r>
              <a:t>• Clean Convergence: Iteration 4 terminates as ΔI_4 &lt; ε.</a:t>
            </a:r>
          </a:p>
        </p:txBody>
      </p:sp>
      <p:sp>
        <p:nvSpPr>
          <p:cNvPr id="12" name="Rectangle 11"/>
          <p:cNvSpPr/>
          <p:nvPr/>
        </p:nvSpPr>
        <p:spPr>
          <a:xfrm>
            <a:off x="6217920" y="1737360"/>
            <a:ext cx="5239512"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37360"/>
            <a:ext cx="5239512" cy="45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847088"/>
            <a:ext cx="4910328" cy="320040"/>
          </a:xfrm>
          <a:prstGeom prst="rect">
            <a:avLst/>
          </a:prstGeom>
          <a:noFill/>
        </p:spPr>
        <p:txBody>
          <a:bodyPr wrap="square" lIns="0" tIns="0" rIns="0" bIns="0">
            <a:spAutoFit/>
          </a:bodyPr>
          <a:lstStyle/>
          <a:p>
            <a:pPr>
              <a:defRPr sz="1200" b="1">
                <a:solidFill>
                  <a:srgbClr val="1B2B50"/>
                </a:solidFill>
                <a:latin typeface="Segoe UI"/>
              </a:defRPr>
            </a:pPr>
            <a:r>
              <a:t>Novelty 2: Interconnected Multi-Sensor Choke Points</a:t>
            </a:r>
          </a:p>
        </p:txBody>
      </p:sp>
      <p:sp>
        <p:nvSpPr>
          <p:cNvPr id="15" name="TextBox 14"/>
          <p:cNvSpPr txBox="1"/>
          <p:nvPr/>
        </p:nvSpPr>
        <p:spPr>
          <a:xfrm>
            <a:off x="6400800" y="2194560"/>
            <a:ext cx="4873752" cy="3931920"/>
          </a:xfrm>
          <a:prstGeom prst="rect">
            <a:avLst/>
          </a:prstGeom>
          <a:noFill/>
        </p:spPr>
        <p:txBody>
          <a:bodyPr wrap="square">
            <a:spAutoFit/>
          </a:bodyPr>
          <a:lstStyle/>
          <a:p>
            <a:pPr>
              <a:defRPr sz="1000">
                <a:solidFill>
                  <a:srgbClr val="1E293B"/>
                </a:solidFill>
                <a:latin typeface="Segoe UI"/>
              </a:defRPr>
            </a:pPr>
            <a:r>
              <a:t>Multi-Sensor Attack Convergence:</a:t>
            </a:r>
            <a:br/>
            <a:r>
              <a:t>In smart cyber-physical systems, attacks originate from multiple sensors simultaneously and converge upon critical Cloud assets.</a:t>
            </a:r>
            <a:br/>
            <a:br/>
            <a:r>
              <a:t>Graph Articulation Cut-Vertex Theory:</a:t>
            </a:r>
            <a:br/>
            <a:r>
              <a:t>E_cut(v) = |{p ∈ P_multi | v ∈ p}| / |P_multi|</a:t>
            </a:r>
            <a:br/>
            <a:br/>
            <a:r>
              <a:t>Empirical Choke-Point Discovery:</a:t>
            </a:r>
            <a:br/>
            <a:r>
              <a:t>• Critical Bottleneck Node: 'fog-gateway-01:socket_connect'</a:t>
            </a:r>
            <a:br/>
            <a:r>
              <a:t>• Containment Efficiency: E_cut = 1.0 (100.0% Containment)</a:t>
            </a:r>
            <a:br/>
            <a:r>
              <a:t>• Articulation Cut-Point: TRUE (Severs 3 out of 3 attack paths)</a:t>
            </a:r>
            <a:br/>
            <a:br/>
            <a:r>
              <a:t>Incident Response Breakthrough:</a:t>
            </a:r>
            <a:br/>
            <a:r>
              <a:t>Instead of attempting to patch dozens of remote edge sensors during an active breach, incident responders isolate JUST ONE choke point on the Fog Gateway to sever 100% of attack paths!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Implementation: Experimental Validation &amp; Graph Artifacts</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10 / 13</a:t>
            </a:r>
          </a:p>
        </p:txBody>
      </p:sp>
      <p:sp>
        <p:nvSpPr>
          <p:cNvPr id="8" name="Rectangle 7"/>
          <p:cNvSpPr/>
          <p:nvPr/>
        </p:nvSpPr>
        <p:spPr>
          <a:xfrm>
            <a:off x="731520" y="1737360"/>
            <a:ext cx="5212080"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37360"/>
            <a:ext cx="521208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4882896" cy="320040"/>
          </a:xfrm>
          <a:prstGeom prst="rect">
            <a:avLst/>
          </a:prstGeom>
          <a:noFill/>
        </p:spPr>
        <p:txBody>
          <a:bodyPr wrap="square" lIns="0" tIns="0" rIns="0" bIns="0">
            <a:spAutoFit/>
          </a:bodyPr>
          <a:lstStyle/>
          <a:p>
            <a:pPr>
              <a:defRPr sz="1200" b="1">
                <a:solidFill>
                  <a:srgbClr val="1B2B50"/>
                </a:solidFill>
                <a:latin typeface="Segoe UI"/>
              </a:defRPr>
            </a:pPr>
            <a:r>
              <a:t>Figure 1: Reconstructed 14-Hop Attack Trajectory</a:t>
            </a:r>
          </a:p>
        </p:txBody>
      </p:sp>
      <p:pic>
        <p:nvPicPr>
          <p:cNvPr id="11" name="Picture 10" descr="attack_path_reconstruction.png"/>
          <p:cNvPicPr>
            <a:picLocks noChangeAspect="1"/>
          </p:cNvPicPr>
          <p:nvPr/>
        </p:nvPicPr>
        <p:blipFill>
          <a:blip r:embed="rId3"/>
          <a:stretch>
            <a:fillRect/>
          </a:stretch>
        </p:blipFill>
        <p:spPr>
          <a:xfrm>
            <a:off x="868680" y="2148840"/>
            <a:ext cx="4937760" cy="3383280"/>
          </a:xfrm>
          <a:prstGeom prst="rect">
            <a:avLst/>
          </a:prstGeom>
        </p:spPr>
      </p:pic>
      <p:sp>
        <p:nvSpPr>
          <p:cNvPr id="12" name="TextBox 11"/>
          <p:cNvSpPr txBox="1"/>
          <p:nvPr/>
        </p:nvSpPr>
        <p:spPr>
          <a:xfrm>
            <a:off x="868680" y="5623560"/>
            <a:ext cx="4937760" cy="594360"/>
          </a:xfrm>
          <a:prstGeom prst="rect">
            <a:avLst/>
          </a:prstGeom>
          <a:noFill/>
        </p:spPr>
        <p:txBody>
          <a:bodyPr wrap="square">
            <a:spAutoFit/>
          </a:bodyPr>
          <a:lstStyle/>
          <a:p>
            <a:pPr>
              <a:defRPr sz="950">
                <a:solidFill>
                  <a:srgbClr val="64748B"/>
                </a:solidFill>
                <a:latin typeface="Segoe UI"/>
              </a:defRPr>
            </a:pPr>
            <a:r>
              <a:t>Edge (Green) -&gt; Fog (Orange) -&gt; Cloud (Purple). 14 causal hops isolated; 80.0% background noise pruned away.</a:t>
            </a:r>
          </a:p>
        </p:txBody>
      </p:sp>
      <p:sp>
        <p:nvSpPr>
          <p:cNvPr id="13" name="Rectangle 12"/>
          <p:cNvSpPr/>
          <p:nvPr/>
        </p:nvSpPr>
        <p:spPr>
          <a:xfrm>
            <a:off x="6217920" y="1737360"/>
            <a:ext cx="5239512"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737360"/>
            <a:ext cx="5239512" cy="45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47088"/>
            <a:ext cx="4910328" cy="320040"/>
          </a:xfrm>
          <a:prstGeom prst="rect">
            <a:avLst/>
          </a:prstGeom>
          <a:noFill/>
        </p:spPr>
        <p:txBody>
          <a:bodyPr wrap="square" lIns="0" tIns="0" rIns="0" bIns="0">
            <a:spAutoFit/>
          </a:bodyPr>
          <a:lstStyle/>
          <a:p>
            <a:pPr>
              <a:defRPr sz="1200" b="1">
                <a:solidFill>
                  <a:srgbClr val="1B2B50"/>
                </a:solidFill>
                <a:latin typeface="Segoe UI"/>
              </a:defRPr>
            </a:pPr>
            <a:r>
              <a:t>Figure 2: Multi-Sensor Convergent Choke-Point Graph</a:t>
            </a:r>
          </a:p>
        </p:txBody>
      </p:sp>
      <p:pic>
        <p:nvPicPr>
          <p:cNvPr id="16" name="Picture 15" descr="interconnected_attack_paths.png"/>
          <p:cNvPicPr>
            <a:picLocks noChangeAspect="1"/>
          </p:cNvPicPr>
          <p:nvPr/>
        </p:nvPicPr>
        <p:blipFill>
          <a:blip r:embed="rId4"/>
          <a:stretch>
            <a:fillRect/>
          </a:stretch>
        </p:blipFill>
        <p:spPr>
          <a:xfrm>
            <a:off x="6355080" y="2148840"/>
            <a:ext cx="4965192" cy="3383280"/>
          </a:xfrm>
          <a:prstGeom prst="rect">
            <a:avLst/>
          </a:prstGeom>
        </p:spPr>
      </p:pic>
      <p:sp>
        <p:nvSpPr>
          <p:cNvPr id="17" name="TextBox 16"/>
          <p:cNvSpPr txBox="1"/>
          <p:nvPr/>
        </p:nvSpPr>
        <p:spPr>
          <a:xfrm>
            <a:off x="6355080" y="5623560"/>
            <a:ext cx="4965192" cy="594360"/>
          </a:xfrm>
          <a:prstGeom prst="rect">
            <a:avLst/>
          </a:prstGeom>
          <a:noFill/>
        </p:spPr>
        <p:txBody>
          <a:bodyPr wrap="square">
            <a:spAutoFit/>
          </a:bodyPr>
          <a:lstStyle/>
          <a:p>
            <a:pPr>
              <a:defRPr sz="950">
                <a:solidFill>
                  <a:srgbClr val="64748B"/>
                </a:solidFill>
                <a:latin typeface="Segoe UI"/>
              </a:defRPr>
            </a:pPr>
            <a:r>
              <a:t>Attack paths from 3 Edge devices converging to Cloud. Bright gold nodes mark articulation choke points (100% containment).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Capstone (Phase-I &amp; Phase-II) Project Timeline</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11 / 13</a:t>
            </a:r>
          </a:p>
        </p:txBody>
      </p:sp>
      <p:graphicFrame>
        <p:nvGraphicFramePr>
          <p:cNvPr id="8" name="Table 7"/>
          <p:cNvGraphicFramePr>
            <a:graphicFrameLocks noGrp="1"/>
          </p:cNvGraphicFramePr>
          <p:nvPr/>
        </p:nvGraphicFramePr>
        <p:xfrm>
          <a:off x="731520" y="1737360"/>
          <a:ext cx="10725912" cy="2651760"/>
        </p:xfrm>
        <a:graphic>
          <a:graphicData uri="http://schemas.openxmlformats.org/drawingml/2006/table">
            <a:tbl>
              <a:tblPr firstRow="1" bandRow="1">
                <a:tableStyleId>{5C22544A-7EE6-4342-B048-85BDC9FD1C3A}</a:tableStyleId>
              </a:tblPr>
              <a:tblGrid>
                <a:gridCol w="2286000"/>
                <a:gridCol w="2953512"/>
                <a:gridCol w="1828800"/>
                <a:gridCol w="1828800"/>
                <a:gridCol w="1828800"/>
              </a:tblGrid>
              <a:tr h="530352">
                <a:tc>
                  <a:txBody>
                    <a:bodyPr/>
                    <a:lstStyle/>
                    <a:p>
                      <a:pPr>
                        <a:defRPr sz="1100" b="1">
                          <a:solidFill>
                            <a:srgbClr val="FFFFFF"/>
                          </a:solidFill>
                          <a:latin typeface="Segoe UI"/>
                        </a:defRPr>
                      </a:pPr>
                      <a:r>
                        <a:t>Project Phase</a:t>
                      </a:r>
                    </a:p>
                  </a:txBody>
                  <a:tcPr>
                    <a:solidFill>
                      <a:srgbClr val="1B2B50"/>
                    </a:solidFill>
                  </a:tcPr>
                </a:tc>
                <a:tc>
                  <a:txBody>
                    <a:bodyPr/>
                    <a:lstStyle/>
                    <a:p>
                      <a:pPr>
                        <a:defRPr sz="1100" b="1">
                          <a:solidFill>
                            <a:srgbClr val="FFFFFF"/>
                          </a:solidFill>
                          <a:latin typeface="Segoe UI"/>
                        </a:defRPr>
                      </a:pPr>
                      <a:r>
                        <a:t>Tasks &amp; Deliverables</a:t>
                      </a:r>
                    </a:p>
                  </a:txBody>
                  <a:tcPr>
                    <a:solidFill>
                      <a:srgbClr val="1B2B50"/>
                    </a:solidFill>
                  </a:tcPr>
                </a:tc>
                <a:tc>
                  <a:txBody>
                    <a:bodyPr/>
                    <a:lstStyle/>
                    <a:p>
                      <a:pPr>
                        <a:defRPr sz="1100" b="1">
                          <a:solidFill>
                            <a:srgbClr val="FFFFFF"/>
                          </a:solidFill>
                          <a:latin typeface="Segoe UI"/>
                        </a:defRPr>
                      </a:pPr>
                      <a:r>
                        <a:t>Timeline</a:t>
                      </a:r>
                    </a:p>
                  </a:txBody>
                  <a:tcPr>
                    <a:solidFill>
                      <a:srgbClr val="1B2B50"/>
                    </a:solidFill>
                  </a:tcPr>
                </a:tc>
                <a:tc>
                  <a:txBody>
                    <a:bodyPr/>
                    <a:lstStyle/>
                    <a:p>
                      <a:pPr>
                        <a:defRPr sz="1100" b="1">
                          <a:solidFill>
                            <a:srgbClr val="FFFFFF"/>
                          </a:solidFill>
                          <a:latin typeface="Segoe UI"/>
                        </a:defRPr>
                      </a:pPr>
                      <a:r>
                        <a:t>Individual Effort</a:t>
                      </a:r>
                    </a:p>
                  </a:txBody>
                  <a:tcPr>
                    <a:solidFill>
                      <a:srgbClr val="1B2B50"/>
                    </a:solidFill>
                  </a:tcPr>
                </a:tc>
                <a:tc>
                  <a:txBody>
                    <a:bodyPr/>
                    <a:lstStyle/>
                    <a:p>
                      <a:pPr>
                        <a:defRPr sz="1100" b="1">
                          <a:solidFill>
                            <a:srgbClr val="FFFFFF"/>
                          </a:solidFill>
                          <a:latin typeface="Segoe UI"/>
                        </a:defRPr>
                      </a:pPr>
                      <a:r>
                        <a:t>Milestone Status</a:t>
                      </a:r>
                    </a:p>
                  </a:txBody>
                  <a:tcPr>
                    <a:solidFill>
                      <a:srgbClr val="1B2B50"/>
                    </a:solidFill>
                  </a:tcPr>
                </a:tc>
              </a:tr>
              <a:tr h="530352">
                <a:tc>
                  <a:txBody>
                    <a:bodyPr/>
                    <a:lstStyle/>
                    <a:p>
                      <a:pPr>
                        <a:defRPr sz="1000">
                          <a:solidFill>
                            <a:srgbClr val="1E293B"/>
                          </a:solidFill>
                          <a:latin typeface="Segoe UI"/>
                        </a:defRPr>
                      </a:pPr>
                      <a:r>
                        <a:t>Phase-I (Sem 5)</a:t>
                      </a:r>
                      <a:br/>
                      <a:r>
                        <a:t>[Review 1]</a:t>
                      </a:r>
                    </a:p>
                  </a:txBody>
                  <a:tcPr>
                    <a:solidFill>
                      <a:srgbClr val="F1F5F9"/>
                    </a:solidFill>
                  </a:tcPr>
                </a:tc>
                <a:tc>
                  <a:txBody>
                    <a:bodyPr/>
                    <a:lstStyle/>
                    <a:p>
                      <a:pPr>
                        <a:defRPr sz="1000">
                          <a:solidFill>
                            <a:srgbClr val="1E293B"/>
                          </a:solidFill>
                          <a:latin typeface="Segoe UI"/>
                        </a:defRPr>
                      </a:pPr>
                      <a:r>
                        <a:t>Unified Schema E_i, SHA-256 Hashing, Placement Optimization, Iterative Loop &amp; Choke Points</a:t>
                      </a:r>
                    </a:p>
                  </a:txBody>
                  <a:tcPr>
                    <a:solidFill>
                      <a:srgbClr val="F1F5F9"/>
                    </a:solidFill>
                  </a:tcPr>
                </a:tc>
                <a:tc>
                  <a:txBody>
                    <a:bodyPr/>
                    <a:lstStyle/>
                    <a:p>
                      <a:pPr>
                        <a:defRPr sz="1000">
                          <a:solidFill>
                            <a:srgbClr val="1E293B"/>
                          </a:solidFill>
                          <a:latin typeface="Segoe UI"/>
                        </a:defRPr>
                      </a:pPr>
                      <a:r>
                        <a:t>Aug - Oct 2026</a:t>
                      </a:r>
                    </a:p>
                  </a:txBody>
                  <a:tcPr>
                    <a:solidFill>
                      <a:srgbClr val="F1F5F9"/>
                    </a:solidFill>
                  </a:tcPr>
                </a:tc>
                <a:tc>
                  <a:txBody>
                    <a:bodyPr/>
                    <a:lstStyle/>
                    <a:p>
                      <a:pPr>
                        <a:defRPr sz="1000">
                          <a:solidFill>
                            <a:srgbClr val="1E293B"/>
                          </a:solidFill>
                          <a:latin typeface="Segoe UI"/>
                        </a:defRPr>
                      </a:pPr>
                      <a:r>
                        <a:t>Dharshini (100%)</a:t>
                      </a:r>
                      <a:br/>
                      <a:r>
                        <a:t>Architecture &amp; Core Engines</a:t>
                      </a:r>
                    </a:p>
                  </a:txBody>
                  <a:tcPr>
                    <a:solidFill>
                      <a:srgbClr val="F1F5F9"/>
                    </a:solidFill>
                  </a:tcPr>
                </a:tc>
                <a:tc>
                  <a:txBody>
                    <a:bodyPr/>
                    <a:lstStyle/>
                    <a:p>
                      <a:pPr>
                        <a:defRPr sz="1000" b="1">
                          <a:solidFill>
                            <a:srgbClr val="059669"/>
                          </a:solidFill>
                          <a:latin typeface="Segoe UI"/>
                        </a:defRPr>
                      </a:pPr>
                      <a:r>
                        <a:t>COMPLETED</a:t>
                      </a:r>
                      <a:br/>
                      <a:r>
                        <a:t>(13/13 Tests Pass)</a:t>
                      </a:r>
                    </a:p>
                  </a:txBody>
                  <a:tcPr>
                    <a:solidFill>
                      <a:srgbClr val="F1F5F9"/>
                    </a:solidFill>
                  </a:tcPr>
                </a:tc>
              </a:tr>
              <a:tr h="530352">
                <a:tc>
                  <a:txBody>
                    <a:bodyPr/>
                    <a:lstStyle/>
                    <a:p>
                      <a:pPr>
                        <a:defRPr sz="1000">
                          <a:solidFill>
                            <a:srgbClr val="1E293B"/>
                          </a:solidFill>
                          <a:latin typeface="Segoe UI"/>
                        </a:defRPr>
                      </a:pPr>
                      <a:r>
                        <a:t>Phase-I (Sem 6)</a:t>
                      </a:r>
                      <a:br/>
                      <a:r>
                        <a:t>[Review 2]</a:t>
                      </a:r>
                    </a:p>
                  </a:txBody>
                  <a:tcPr>
                    <a:solidFill>
                      <a:srgbClr val="FFFFFF"/>
                    </a:solidFill>
                  </a:tcPr>
                </a:tc>
                <a:tc>
                  <a:txBody>
                    <a:bodyPr/>
                    <a:lstStyle/>
                    <a:p>
                      <a:pPr>
                        <a:defRPr sz="1000">
                          <a:solidFill>
                            <a:srgbClr val="1E293B"/>
                          </a:solidFill>
                          <a:latin typeface="Segoe UI"/>
                        </a:defRPr>
                      </a:pPr>
                      <a:r>
                        <a:t>Public Datasets (DARPA OpTC, TON_IoT), Docker Testbed, Live Linux eBPF Syscall Capture</a:t>
                      </a:r>
                    </a:p>
                  </a:txBody>
                  <a:tcPr>
                    <a:solidFill>
                      <a:srgbClr val="FFFFFF"/>
                    </a:solidFill>
                  </a:tcPr>
                </a:tc>
                <a:tc>
                  <a:txBody>
                    <a:bodyPr/>
                    <a:lstStyle/>
                    <a:p>
                      <a:pPr>
                        <a:defRPr sz="1000">
                          <a:solidFill>
                            <a:srgbClr val="1E293B"/>
                          </a:solidFill>
                          <a:latin typeface="Segoe UI"/>
                        </a:defRPr>
                      </a:pPr>
                      <a:r>
                        <a:t>Jan - Apr 2027</a:t>
                      </a:r>
                    </a:p>
                  </a:txBody>
                  <a:tcPr>
                    <a:solidFill>
                      <a:srgbClr val="FFFFFF"/>
                    </a:solidFill>
                  </a:tcPr>
                </a:tc>
                <a:tc>
                  <a:txBody>
                    <a:bodyPr/>
                    <a:lstStyle/>
                    <a:p>
                      <a:pPr>
                        <a:defRPr sz="1000">
                          <a:solidFill>
                            <a:srgbClr val="1E293B"/>
                          </a:solidFill>
                          <a:latin typeface="Segoe UI"/>
                        </a:defRPr>
                      </a:pPr>
                      <a:r>
                        <a:t>Dharshini (100%)</a:t>
                      </a:r>
                      <a:br/>
                      <a:r>
                        <a:t>eBPF &amp; Ingestion Pipeline</a:t>
                      </a:r>
                    </a:p>
                  </a:txBody>
                  <a:tcPr>
                    <a:solidFill>
                      <a:srgbClr val="FFFFFF"/>
                    </a:solidFill>
                  </a:tcPr>
                </a:tc>
                <a:tc>
                  <a:txBody>
                    <a:bodyPr/>
                    <a:lstStyle/>
                    <a:p>
                      <a:pPr>
                        <a:defRPr sz="1000">
                          <a:solidFill>
                            <a:srgbClr val="1E293B"/>
                          </a:solidFill>
                          <a:latin typeface="Segoe UI"/>
                        </a:defRPr>
                      </a:pPr>
                      <a:r>
                        <a:t>PLANNED</a:t>
                      </a:r>
                      <a:br/>
                      <a:r>
                        <a:t>(Phase-I Delivery)</a:t>
                      </a:r>
                    </a:p>
                  </a:txBody>
                  <a:tcPr>
                    <a:solidFill>
                      <a:srgbClr val="FFFFFF"/>
                    </a:solidFill>
                  </a:tcPr>
                </a:tc>
              </a:tr>
              <a:tr h="530352">
                <a:tc>
                  <a:txBody>
                    <a:bodyPr/>
                    <a:lstStyle/>
                    <a:p>
                      <a:pPr>
                        <a:defRPr sz="1000">
                          <a:solidFill>
                            <a:srgbClr val="1E293B"/>
                          </a:solidFill>
                          <a:latin typeface="Segoe UI"/>
                        </a:defRPr>
                      </a:pPr>
                      <a:r>
                        <a:t>Phase-II (Sem 7)</a:t>
                      </a:r>
                      <a:br/>
                      <a:r>
                        <a:t>[Review 3]</a:t>
                      </a:r>
                    </a:p>
                  </a:txBody>
                  <a:tcPr>
                    <a:solidFill>
                      <a:srgbClr val="F1F5F9"/>
                    </a:solidFill>
                  </a:tcPr>
                </a:tc>
                <a:tc>
                  <a:txBody>
                    <a:bodyPr/>
                    <a:lstStyle/>
                    <a:p>
                      <a:pPr>
                        <a:defRPr sz="1000">
                          <a:solidFill>
                            <a:srgbClr val="1E293B"/>
                          </a:solidFill>
                          <a:latin typeface="Segoe UI"/>
                        </a:defRPr>
                      </a:pPr>
                      <a:r>
                        <a:t>Deep Reinforcement Learning (PPO/DQN) for real-time placement, Graph Neural Networks (GNN)</a:t>
                      </a:r>
                    </a:p>
                  </a:txBody>
                  <a:tcPr>
                    <a:solidFill>
                      <a:srgbClr val="F1F5F9"/>
                    </a:solidFill>
                  </a:tcPr>
                </a:tc>
                <a:tc>
                  <a:txBody>
                    <a:bodyPr/>
                    <a:lstStyle/>
                    <a:p>
                      <a:pPr>
                        <a:defRPr sz="1000">
                          <a:solidFill>
                            <a:srgbClr val="1E293B"/>
                          </a:solidFill>
                          <a:latin typeface="Segoe UI"/>
                        </a:defRPr>
                      </a:pPr>
                      <a:r>
                        <a:t>Aug - Nov 2027</a:t>
                      </a:r>
                    </a:p>
                  </a:txBody>
                  <a:tcPr>
                    <a:solidFill>
                      <a:srgbClr val="F1F5F9"/>
                    </a:solidFill>
                  </a:tcPr>
                </a:tc>
                <a:tc>
                  <a:txBody>
                    <a:bodyPr/>
                    <a:lstStyle/>
                    <a:p>
                      <a:pPr>
                        <a:defRPr sz="1000">
                          <a:solidFill>
                            <a:srgbClr val="1E293B"/>
                          </a:solidFill>
                          <a:latin typeface="Segoe UI"/>
                        </a:defRPr>
                      </a:pPr>
                      <a:r>
                        <a:t>Dharshini (100%)</a:t>
                      </a:r>
                      <a:br/>
                      <a:r>
                        <a:t>RL Agent &amp; ML Pipeline</a:t>
                      </a:r>
                    </a:p>
                  </a:txBody>
                  <a:tcPr>
                    <a:solidFill>
                      <a:srgbClr val="F1F5F9"/>
                    </a:solidFill>
                  </a:tcPr>
                </a:tc>
                <a:tc>
                  <a:txBody>
                    <a:bodyPr/>
                    <a:lstStyle/>
                    <a:p>
                      <a:pPr>
                        <a:defRPr sz="1000">
                          <a:solidFill>
                            <a:srgbClr val="1E293B"/>
                          </a:solidFill>
                          <a:latin typeface="Segoe UI"/>
                        </a:defRPr>
                      </a:pPr>
                      <a:r>
                        <a:t>PLANNED</a:t>
                      </a:r>
                      <a:br/>
                      <a:r>
                        <a:t>(Phase-II Milestone)</a:t>
                      </a:r>
                    </a:p>
                  </a:txBody>
                  <a:tcPr>
                    <a:solidFill>
                      <a:srgbClr val="F1F5F9"/>
                    </a:solidFill>
                  </a:tcPr>
                </a:tc>
              </a:tr>
              <a:tr h="530352">
                <a:tc>
                  <a:txBody>
                    <a:bodyPr/>
                    <a:lstStyle/>
                    <a:p>
                      <a:pPr>
                        <a:defRPr sz="1000">
                          <a:solidFill>
                            <a:srgbClr val="1E293B"/>
                          </a:solidFill>
                          <a:latin typeface="Segoe UI"/>
                        </a:defRPr>
                      </a:pPr>
                      <a:r>
                        <a:t>Phase-II (Sem 8)</a:t>
                      </a:r>
                      <a:br/>
                      <a:r>
                        <a:t>[Final Review]</a:t>
                      </a:r>
                    </a:p>
                  </a:txBody>
                  <a:tcPr>
                    <a:solidFill>
                      <a:srgbClr val="FFFFFF"/>
                    </a:solidFill>
                  </a:tcPr>
                </a:tc>
                <a:tc>
                  <a:txBody>
                    <a:bodyPr/>
                    <a:lstStyle/>
                    <a:p>
                      <a:pPr>
                        <a:defRPr sz="1000">
                          <a:solidFill>
                            <a:srgbClr val="1E293B"/>
                          </a:solidFill>
                          <a:latin typeface="Segoe UI"/>
                        </a:defRPr>
                      </a:pPr>
                      <a:r>
                        <a:t>Physical Hardware Testbed (Raspberry Pi/Jetson), Web SOC Dashboard, IEEE Conference Paper</a:t>
                      </a:r>
                    </a:p>
                  </a:txBody>
                  <a:tcPr>
                    <a:solidFill>
                      <a:srgbClr val="FFFFFF"/>
                    </a:solidFill>
                  </a:tcPr>
                </a:tc>
                <a:tc>
                  <a:txBody>
                    <a:bodyPr/>
                    <a:lstStyle/>
                    <a:p>
                      <a:pPr>
                        <a:defRPr sz="1000">
                          <a:solidFill>
                            <a:srgbClr val="1E293B"/>
                          </a:solidFill>
                          <a:latin typeface="Segoe UI"/>
                        </a:defRPr>
                      </a:pPr>
                      <a:r>
                        <a:t>Jan - May 2028</a:t>
                      </a:r>
                    </a:p>
                  </a:txBody>
                  <a:tcPr>
                    <a:solidFill>
                      <a:srgbClr val="FFFFFF"/>
                    </a:solidFill>
                  </a:tcPr>
                </a:tc>
                <a:tc>
                  <a:txBody>
                    <a:bodyPr/>
                    <a:lstStyle/>
                    <a:p>
                      <a:pPr>
                        <a:defRPr sz="1000">
                          <a:solidFill>
                            <a:srgbClr val="1E293B"/>
                          </a:solidFill>
                          <a:latin typeface="Segoe UI"/>
                        </a:defRPr>
                      </a:pPr>
                      <a:r>
                        <a:t>Dharshini (100%)</a:t>
                      </a:r>
                      <a:br/>
                      <a:r>
                        <a:t>Hardware &amp; Manuscript</a:t>
                      </a:r>
                    </a:p>
                  </a:txBody>
                  <a:tcPr>
                    <a:solidFill>
                      <a:srgbClr val="FFFFFF"/>
                    </a:solidFill>
                  </a:tcPr>
                </a:tc>
                <a:tc>
                  <a:txBody>
                    <a:bodyPr/>
                    <a:lstStyle/>
                    <a:p>
                      <a:pPr>
                        <a:defRPr sz="1000">
                          <a:solidFill>
                            <a:srgbClr val="1E293B"/>
                          </a:solidFill>
                          <a:latin typeface="Segoe UI"/>
                        </a:defRPr>
                      </a:pPr>
                      <a:r>
                        <a:t>PLANNED</a:t>
                      </a:r>
                      <a:br/>
                      <a:r>
                        <a:t>(Final Defense)</a:t>
                      </a:r>
                    </a:p>
                  </a:txBody>
                  <a:tcPr>
                    <a:solidFill>
                      <a:srgbClr val="FFFFFF"/>
                    </a:solidFill>
                  </a:tcPr>
                </a:tc>
              </a:tr>
            </a:tbl>
          </a:graphicData>
        </a:graphic>
      </p:graphicFrame>
      <p:sp>
        <p:nvSpPr>
          <p:cNvPr id="9" name="Rectangle 8"/>
          <p:cNvSpPr/>
          <p:nvPr/>
        </p:nvSpPr>
        <p:spPr>
          <a:xfrm>
            <a:off x="731520" y="4572000"/>
            <a:ext cx="10725912" cy="173736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572000"/>
            <a:ext cx="10725912"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681728"/>
            <a:ext cx="10396728" cy="320040"/>
          </a:xfrm>
          <a:prstGeom prst="rect">
            <a:avLst/>
          </a:prstGeom>
          <a:noFill/>
        </p:spPr>
        <p:txBody>
          <a:bodyPr wrap="square" lIns="0" tIns="0" rIns="0" bIns="0">
            <a:spAutoFit/>
          </a:bodyPr>
          <a:lstStyle/>
          <a:p>
            <a:pPr>
              <a:defRPr sz="1200" b="1">
                <a:solidFill>
                  <a:srgbClr val="1B2B50"/>
                </a:solidFill>
                <a:latin typeface="Segoe UI"/>
              </a:defRPr>
            </a:pPr>
            <a:r>
              <a:t>Individual Effort Allocation Plan &amp; Resource Strategy</a:t>
            </a:r>
          </a:p>
        </p:txBody>
      </p:sp>
      <p:sp>
        <p:nvSpPr>
          <p:cNvPr id="12" name="TextBox 11"/>
          <p:cNvSpPr txBox="1"/>
          <p:nvPr/>
        </p:nvSpPr>
        <p:spPr>
          <a:xfrm>
            <a:off x="914400" y="4937760"/>
            <a:ext cx="10332720" cy="1280160"/>
          </a:xfrm>
          <a:prstGeom prst="rect">
            <a:avLst/>
          </a:prstGeom>
          <a:noFill/>
        </p:spPr>
        <p:txBody>
          <a:bodyPr wrap="square">
            <a:spAutoFit/>
          </a:bodyPr>
          <a:lstStyle/>
          <a:p>
            <a:pPr>
              <a:defRPr sz="1050">
                <a:solidFill>
                  <a:srgbClr val="1E293B"/>
                </a:solidFill>
                <a:latin typeface="Segoe UI"/>
              </a:defRPr>
            </a:pPr>
            <a:r>
              <a:t>• Team Distribution: Candidate Dharshini leads architecture design, mathematical formulations, software development, and validation.</a:t>
            </a:r>
            <a:br/>
            <a:r>
              <a:t>• Semester-by-Semester Milestones: Phase-I establishes mathematical correctness and simulation; Phase-II expands to live physical testbeds and RL.</a:t>
            </a:r>
            <a:br/>
            <a:r>
              <a:t>• Publication Target: Manuscript targeting flagship security conferences (IEEE S&amp;P, USENIX Security, or ACM CCS) in Semester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Any other information</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12 / 13</a:t>
            </a:r>
          </a:p>
        </p:txBody>
      </p:sp>
      <p:sp>
        <p:nvSpPr>
          <p:cNvPr id="8" name="Rectangle 7"/>
          <p:cNvSpPr/>
          <p:nvPr/>
        </p:nvSpPr>
        <p:spPr>
          <a:xfrm>
            <a:off x="731520" y="1737360"/>
            <a:ext cx="5303520"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37360"/>
            <a:ext cx="5303520"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47088"/>
            <a:ext cx="4974336" cy="320040"/>
          </a:xfrm>
          <a:prstGeom prst="rect">
            <a:avLst/>
          </a:prstGeom>
          <a:noFill/>
        </p:spPr>
        <p:txBody>
          <a:bodyPr wrap="square" lIns="0" tIns="0" rIns="0" bIns="0">
            <a:spAutoFit/>
          </a:bodyPr>
          <a:lstStyle/>
          <a:p>
            <a:pPr>
              <a:defRPr sz="1200" b="1">
                <a:solidFill>
                  <a:srgbClr val="1B2B50"/>
                </a:solidFill>
                <a:latin typeface="Segoe UI"/>
              </a:defRPr>
            </a:pPr>
            <a:r>
              <a:t>1. Quantitative Benchmark vs Baseline</a:t>
            </a:r>
          </a:p>
        </p:txBody>
      </p:sp>
      <p:graphicFrame>
        <p:nvGraphicFramePr>
          <p:cNvPr id="11" name="Table 10"/>
          <p:cNvGraphicFramePr>
            <a:graphicFrameLocks noGrp="1"/>
          </p:cNvGraphicFramePr>
          <p:nvPr/>
        </p:nvGraphicFramePr>
        <p:xfrm>
          <a:off x="868680" y="2194560"/>
          <a:ext cx="5029200" cy="3931920"/>
        </p:xfrm>
        <a:graphic>
          <a:graphicData uri="http://schemas.openxmlformats.org/drawingml/2006/table">
            <a:tbl>
              <a:tblPr firstRow="1" bandRow="1">
                <a:tableStyleId>{5C22544A-7EE6-4342-B048-85BDC9FD1C3A}</a:tableStyleId>
              </a:tblPr>
              <a:tblGrid>
                <a:gridCol w="2286000"/>
                <a:gridCol w="1371600"/>
                <a:gridCol w="1371600"/>
              </a:tblGrid>
              <a:tr h="786384">
                <a:tc>
                  <a:txBody>
                    <a:bodyPr/>
                    <a:lstStyle/>
                    <a:p>
                      <a:pPr>
                        <a:defRPr sz="1050" b="1">
                          <a:solidFill>
                            <a:srgbClr val="FFFFFF"/>
                          </a:solidFill>
                          <a:latin typeface="Segoe UI"/>
                        </a:defRPr>
                      </a:pPr>
                      <a:r>
                        <a:t>Metric</a:t>
                      </a:r>
                    </a:p>
                  </a:txBody>
                  <a:tcPr>
                    <a:solidFill>
                      <a:srgbClr val="1B2B50"/>
                    </a:solidFill>
                  </a:tcPr>
                </a:tc>
                <a:tc>
                  <a:txBody>
                    <a:bodyPr/>
                    <a:lstStyle/>
                    <a:p>
                      <a:pPr>
                        <a:defRPr sz="1050" b="1">
                          <a:solidFill>
                            <a:srgbClr val="FFFFFF"/>
                          </a:solidFill>
                          <a:latin typeface="Segoe UI"/>
                        </a:defRPr>
                      </a:pPr>
                      <a:r>
                        <a:t>Centralized</a:t>
                      </a:r>
                    </a:p>
                  </a:txBody>
                  <a:tcPr>
                    <a:solidFill>
                      <a:srgbClr val="1B2B50"/>
                    </a:solidFill>
                  </a:tcPr>
                </a:tc>
                <a:tc>
                  <a:txBody>
                    <a:bodyPr/>
                    <a:lstStyle/>
                    <a:p>
                      <a:pPr>
                        <a:defRPr sz="1050" b="1">
                          <a:solidFill>
                            <a:srgbClr val="FFFFFF"/>
                          </a:solidFill>
                          <a:latin typeface="Segoe UI"/>
                        </a:defRPr>
                      </a:pPr>
                      <a:r>
                        <a:t>CLOUD-M7</a:t>
                      </a:r>
                    </a:p>
                  </a:txBody>
                  <a:tcPr>
                    <a:solidFill>
                      <a:srgbClr val="1B2B50"/>
                    </a:solidFill>
                  </a:tcPr>
                </a:tc>
              </a:tr>
              <a:tr h="786384">
                <a:tc>
                  <a:txBody>
                    <a:bodyPr/>
                    <a:lstStyle/>
                    <a:p>
                      <a:pPr>
                        <a:defRPr sz="1000">
                          <a:solidFill>
                            <a:srgbClr val="1E293B"/>
                          </a:solidFill>
                          <a:latin typeface="Segoe UI"/>
                        </a:defRPr>
                      </a:pPr>
                      <a:r>
                        <a:t>Network Bandwidth</a:t>
                      </a:r>
                    </a:p>
                  </a:txBody>
                  <a:tcPr>
                    <a:solidFill>
                      <a:srgbClr val="F1F5F9"/>
                    </a:solidFill>
                  </a:tcPr>
                </a:tc>
                <a:tc>
                  <a:txBody>
                    <a:bodyPr/>
                    <a:lstStyle/>
                    <a:p>
                      <a:pPr>
                        <a:defRPr sz="1000">
                          <a:solidFill>
                            <a:srgbClr val="1E293B"/>
                          </a:solidFill>
                          <a:latin typeface="Segoe UI"/>
                        </a:defRPr>
                      </a:pPr>
                      <a:r>
                        <a:t>500.0 KB/s</a:t>
                      </a:r>
                    </a:p>
                  </a:txBody>
                  <a:tcPr>
                    <a:solidFill>
                      <a:srgbClr val="F1F5F9"/>
                    </a:solidFill>
                  </a:tcPr>
                </a:tc>
                <a:tc>
                  <a:txBody>
                    <a:bodyPr/>
                    <a:lstStyle/>
                    <a:p>
                      <a:pPr>
                        <a:defRPr sz="1000" b="1">
                          <a:solidFill>
                            <a:srgbClr val="059669"/>
                          </a:solidFill>
                          <a:latin typeface="Segoe UI"/>
                        </a:defRPr>
                      </a:pPr>
                      <a:r>
                        <a:t>50.0 KB/s (-90%)</a:t>
                      </a:r>
                    </a:p>
                  </a:txBody>
                  <a:tcPr>
                    <a:solidFill>
                      <a:srgbClr val="F1F5F9"/>
                    </a:solidFill>
                  </a:tcPr>
                </a:tc>
              </a:tr>
              <a:tr h="786384">
                <a:tc>
                  <a:txBody>
                    <a:bodyPr/>
                    <a:lstStyle/>
                    <a:p>
                      <a:pPr>
                        <a:defRPr sz="1000">
                          <a:solidFill>
                            <a:srgbClr val="1E293B"/>
                          </a:solidFill>
                          <a:latin typeface="Segoe UI"/>
                        </a:defRPr>
                      </a:pPr>
                      <a:r>
                        <a:t>Processing Latency</a:t>
                      </a:r>
                    </a:p>
                  </a:txBody>
                  <a:tcPr>
                    <a:solidFill>
                      <a:srgbClr val="FFFFFF"/>
                    </a:solidFill>
                  </a:tcPr>
                </a:tc>
                <a:tc>
                  <a:txBody>
                    <a:bodyPr/>
                    <a:lstStyle/>
                    <a:p>
                      <a:pPr>
                        <a:defRPr sz="1000">
                          <a:solidFill>
                            <a:srgbClr val="1E293B"/>
                          </a:solidFill>
                          <a:latin typeface="Segoe UI"/>
                        </a:defRPr>
                      </a:pPr>
                      <a:r>
                        <a:t>160.0 ms</a:t>
                      </a:r>
                    </a:p>
                  </a:txBody>
                  <a:tcPr>
                    <a:solidFill>
                      <a:srgbClr val="FFFFFF"/>
                    </a:solidFill>
                  </a:tcPr>
                </a:tc>
                <a:tc>
                  <a:txBody>
                    <a:bodyPr/>
                    <a:lstStyle/>
                    <a:p>
                      <a:pPr>
                        <a:defRPr sz="1000" b="1">
                          <a:solidFill>
                            <a:srgbClr val="059669"/>
                          </a:solidFill>
                          <a:latin typeface="Segoe UI"/>
                        </a:defRPr>
                      </a:pPr>
                      <a:r>
                        <a:t>20.0 ms (-87.5%)</a:t>
                      </a:r>
                    </a:p>
                  </a:txBody>
                  <a:tcPr>
                    <a:solidFill>
                      <a:srgbClr val="FFFFFF"/>
                    </a:solidFill>
                  </a:tcPr>
                </a:tc>
              </a:tr>
              <a:tr h="786384">
                <a:tc>
                  <a:txBody>
                    <a:bodyPr/>
                    <a:lstStyle/>
                    <a:p>
                      <a:pPr>
                        <a:defRPr sz="1000">
                          <a:solidFill>
                            <a:srgbClr val="1E293B"/>
                          </a:solidFill>
                          <a:latin typeface="Segoe UI"/>
                        </a:defRPr>
                      </a:pPr>
                      <a:r>
                        <a:t>Privacy Risk Penalty</a:t>
                      </a:r>
                    </a:p>
                  </a:txBody>
                  <a:tcPr>
                    <a:solidFill>
                      <a:srgbClr val="F1F5F9"/>
                    </a:solidFill>
                  </a:tcPr>
                </a:tc>
                <a:tc>
                  <a:txBody>
                    <a:bodyPr/>
                    <a:lstStyle/>
                    <a:p>
                      <a:pPr>
                        <a:defRPr sz="1000">
                          <a:solidFill>
                            <a:srgbClr val="1E293B"/>
                          </a:solidFill>
                          <a:latin typeface="Segoe UI"/>
                        </a:defRPr>
                      </a:pPr>
                      <a:r>
                        <a:t>120.0 pts</a:t>
                      </a:r>
                    </a:p>
                  </a:txBody>
                  <a:tcPr>
                    <a:solidFill>
                      <a:srgbClr val="F1F5F9"/>
                    </a:solidFill>
                  </a:tcPr>
                </a:tc>
                <a:tc>
                  <a:txBody>
                    <a:bodyPr/>
                    <a:lstStyle/>
                    <a:p>
                      <a:pPr>
                        <a:defRPr sz="1000" b="1">
                          <a:solidFill>
                            <a:srgbClr val="059669"/>
                          </a:solidFill>
                          <a:latin typeface="Segoe UI"/>
                        </a:defRPr>
                      </a:pPr>
                      <a:r>
                        <a:t>5.0 pts (-95.8%)</a:t>
                      </a:r>
                    </a:p>
                  </a:txBody>
                  <a:tcPr>
                    <a:solidFill>
                      <a:srgbClr val="F1F5F9"/>
                    </a:solidFill>
                  </a:tcPr>
                </a:tc>
              </a:tr>
              <a:tr h="786384">
                <a:tc>
                  <a:txBody>
                    <a:bodyPr/>
                    <a:lstStyle/>
                    <a:p>
                      <a:pPr>
                        <a:defRPr sz="1000">
                          <a:solidFill>
                            <a:srgbClr val="1E293B"/>
                          </a:solidFill>
                          <a:latin typeface="Segoe UI"/>
                        </a:defRPr>
                      </a:pPr>
                      <a:r>
                        <a:t>Noise Pruning Ratio</a:t>
                      </a:r>
                    </a:p>
                  </a:txBody>
                  <a:tcPr>
                    <a:solidFill>
                      <a:srgbClr val="FFFFFF"/>
                    </a:solidFill>
                  </a:tcPr>
                </a:tc>
                <a:tc>
                  <a:txBody>
                    <a:bodyPr/>
                    <a:lstStyle/>
                    <a:p>
                      <a:pPr>
                        <a:defRPr sz="1000">
                          <a:solidFill>
                            <a:srgbClr val="1E293B"/>
                          </a:solidFill>
                          <a:latin typeface="Segoe UI"/>
                        </a:defRPr>
                      </a:pPr>
                      <a:r>
                        <a:t>0.0%</a:t>
                      </a:r>
                    </a:p>
                  </a:txBody>
                  <a:tcPr>
                    <a:solidFill>
                      <a:srgbClr val="FFFFFF"/>
                    </a:solidFill>
                  </a:tcPr>
                </a:tc>
                <a:tc>
                  <a:txBody>
                    <a:bodyPr/>
                    <a:lstStyle/>
                    <a:p>
                      <a:pPr>
                        <a:defRPr sz="1000" b="1">
                          <a:solidFill>
                            <a:srgbClr val="059669"/>
                          </a:solidFill>
                          <a:latin typeface="Segoe UI"/>
                        </a:defRPr>
                      </a:pPr>
                      <a:r>
                        <a:t>80.0% Pruned</a:t>
                      </a:r>
                    </a:p>
                  </a:txBody>
                  <a:tcPr>
                    <a:solidFill>
                      <a:srgbClr val="FFFFFF"/>
                    </a:solidFill>
                  </a:tcPr>
                </a:tc>
              </a:tr>
            </a:tbl>
          </a:graphicData>
        </a:graphic>
      </p:graphicFrame>
      <p:sp>
        <p:nvSpPr>
          <p:cNvPr id="12" name="Rectangle 11"/>
          <p:cNvSpPr/>
          <p:nvPr/>
        </p:nvSpPr>
        <p:spPr>
          <a:xfrm>
            <a:off x="6217920" y="1737360"/>
            <a:ext cx="5239512" cy="457200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37360"/>
            <a:ext cx="5239512"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847088"/>
            <a:ext cx="4910328" cy="320040"/>
          </a:xfrm>
          <a:prstGeom prst="rect">
            <a:avLst/>
          </a:prstGeom>
          <a:noFill/>
        </p:spPr>
        <p:txBody>
          <a:bodyPr wrap="square" lIns="0" tIns="0" rIns="0" bIns="0">
            <a:spAutoFit/>
          </a:bodyPr>
          <a:lstStyle/>
          <a:p>
            <a:pPr>
              <a:defRPr sz="1200" b="1">
                <a:solidFill>
                  <a:srgbClr val="1B2B50"/>
                </a:solidFill>
                <a:latin typeface="Segoe UI"/>
              </a:defRPr>
            </a:pPr>
            <a:r>
              <a:t>2. Automated Pytest Suite &amp; Open-Source Repo</a:t>
            </a:r>
          </a:p>
        </p:txBody>
      </p:sp>
      <p:sp>
        <p:nvSpPr>
          <p:cNvPr id="15" name="TextBox 14"/>
          <p:cNvSpPr txBox="1"/>
          <p:nvPr/>
        </p:nvSpPr>
        <p:spPr>
          <a:xfrm>
            <a:off x="6400800" y="2194560"/>
            <a:ext cx="4873752" cy="3931920"/>
          </a:xfrm>
          <a:prstGeom prst="rect">
            <a:avLst/>
          </a:prstGeom>
          <a:noFill/>
        </p:spPr>
        <p:txBody>
          <a:bodyPr wrap="square">
            <a:spAutoFit/>
          </a:bodyPr>
          <a:lstStyle/>
          <a:p>
            <a:pPr>
              <a:defRPr sz="950">
                <a:solidFill>
                  <a:srgbClr val="1E293B"/>
                </a:solidFill>
                <a:latin typeface="Consolas"/>
              </a:defRPr>
            </a:pPr>
            <a:r>
              <a:t>Strict Software Engineering Verification (13/13 Passing):</a:t>
            </a:r>
            <a:br/>
            <a:r>
              <a:t>• test_end_to_end_attack_reconstruction ...... PASSED</a:t>
            </a:r>
            <a:br/>
            <a:r>
              <a:t>• test_cross_tier_network_correlation ........ PASSED</a:t>
            </a:r>
            <a:br/>
            <a:r>
              <a:t>• test_backward_and_forward_traversal ........ PASSED</a:t>
            </a:r>
            <a:br/>
            <a:r>
              <a:t>• test_multi_sensor_paths_to_cloud .......... PASSED</a:t>
            </a:r>
            <a:br/>
            <a:r>
              <a:t>• test_choke_point_containment_bottlenecks ... PASSED</a:t>
            </a:r>
            <a:br/>
            <a:r>
              <a:t>• test_iterative_discovery_multi_vector ...... PASSED</a:t>
            </a:r>
            <a:br/>
            <a:r>
              <a:t>• test_hyperparameter_convergence ............ PASSED</a:t>
            </a:r>
            <a:br/>
            <a:r>
              <a:t>• test_placement_feasibility_constraint ...... PASSED</a:t>
            </a:r>
            <a:br/>
            <a:r>
              <a:t>• test_schema_integrity_and_sha256 .......... PASSED</a:t>
            </a:r>
            <a:br/>
            <a:r>
              <a:t>-&gt; Execution Time: 0.88s on Python 3.11</a:t>
            </a:r>
            <a:br/>
            <a:br/>
            <a:r>
              <a:t>Open-Source GitHub Repository:</a:t>
            </a:r>
            <a:br/>
            <a:r>
              <a:t>https://github.com/DharshiniPES/cloud-m7</a:t>
            </a:r>
            <a:br/>
            <a:br/>
            <a:r>
              <a:t>Live Demo Command: .\run_demo.bat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8961120" cy="502920"/>
          </a:xfrm>
          <a:prstGeom prst="rect">
            <a:avLst/>
          </a:prstGeom>
          <a:noFill/>
        </p:spPr>
        <p:txBody>
          <a:bodyPr wrap="square" lIns="0" tIns="0" rIns="0" bIns="0">
            <a:spAutoFit/>
          </a:bodyPr>
          <a:lstStyle/>
          <a:p>
            <a:pPr>
              <a:defRPr sz="1100" b="1">
                <a:solidFill>
                  <a:srgbClr val="1B2B50"/>
                </a:solidFill>
                <a:latin typeface="Segoe UI"/>
              </a:defRPr>
            </a:pPr>
            <a:r>
              <a:t>CLOUD-M7: Tier-Adaptive Forensic Provenance</a:t>
            </a:r>
          </a:p>
          <a:p>
            <a:pPr>
              <a:defRPr sz="950">
                <a:solidFill>
                  <a:srgbClr val="64748B"/>
                </a:solidFill>
                <a:latin typeface="Segoe UI"/>
              </a:defRPr>
            </a:pPr>
            <a:r>
              <a:t>Project Team: Dharshini (PES1UG24CS...)  |  B.Tech CSE (2024–2028)</a:t>
            </a:r>
          </a:p>
        </p:txBody>
      </p:sp>
      <p:pic>
        <p:nvPicPr>
          <p:cNvPr id="4" name="Picture 3" descr="pes_university_logo.png"/>
          <p:cNvPicPr>
            <a:picLocks noChangeAspect="1"/>
          </p:cNvPicPr>
          <p:nvPr/>
        </p:nvPicPr>
        <p:blipFill>
          <a:blip r:embed="rId2"/>
          <a:stretch>
            <a:fillRect/>
          </a:stretch>
        </p:blipFill>
        <p:spPr>
          <a:xfrm>
            <a:off x="10789920" y="164592"/>
            <a:ext cx="777240" cy="1005840"/>
          </a:xfrm>
          <a:prstGeom prst="rect">
            <a:avLst/>
          </a:prstGeom>
        </p:spPr>
      </p:pic>
      <p:sp>
        <p:nvSpPr>
          <p:cNvPr id="5" name="Rectangle 4"/>
          <p:cNvSpPr/>
          <p:nvPr/>
        </p:nvSpPr>
        <p:spPr>
          <a:xfrm>
            <a:off x="731520" y="1051560"/>
            <a:ext cx="9875520" cy="1828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9144000" cy="502920"/>
          </a:xfrm>
          <a:prstGeom prst="rect">
            <a:avLst/>
          </a:prstGeom>
          <a:noFill/>
        </p:spPr>
        <p:txBody>
          <a:bodyPr wrap="square" lIns="0" tIns="0" rIns="0" bIns="0">
            <a:spAutoFit/>
          </a:bodyPr>
          <a:lstStyle/>
          <a:p>
            <a:pPr>
              <a:defRPr sz="2000" b="1">
                <a:solidFill>
                  <a:srgbClr val="0F172A"/>
                </a:solidFill>
                <a:latin typeface="Segoe UI"/>
              </a:defRPr>
            </a:pPr>
            <a:r>
              <a:t>Thank You</a:t>
            </a:r>
          </a:p>
        </p:txBody>
      </p:sp>
      <p:sp>
        <p:nvSpPr>
          <p:cNvPr id="7" name="TextBox 6"/>
          <p:cNvSpPr txBox="1"/>
          <p:nvPr/>
        </p:nvSpPr>
        <p:spPr>
          <a:xfrm>
            <a:off x="9601200" y="6492240"/>
            <a:ext cx="1828800" cy="274320"/>
          </a:xfrm>
          <a:prstGeom prst="rect">
            <a:avLst/>
          </a:prstGeom>
          <a:noFill/>
        </p:spPr>
        <p:txBody>
          <a:bodyPr wrap="none">
            <a:spAutoFit/>
          </a:bodyPr>
          <a:lstStyle/>
          <a:p>
            <a:pPr algn="r">
              <a:defRPr sz="900">
                <a:solidFill>
                  <a:srgbClr val="64748B"/>
                </a:solidFill>
                <a:latin typeface="Segoe UI"/>
              </a:defRPr>
            </a:pPr>
            <a:r>
              <a:t>13 / 13</a:t>
            </a:r>
          </a:p>
        </p:txBody>
      </p:sp>
      <p:sp>
        <p:nvSpPr>
          <p:cNvPr id="8" name="Rectangle 7"/>
          <p:cNvSpPr/>
          <p:nvPr/>
        </p:nvSpPr>
        <p:spPr>
          <a:xfrm>
            <a:off x="1828800" y="1828800"/>
            <a:ext cx="8531352" cy="4389120"/>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1828800"/>
            <a:ext cx="8531352" cy="457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3120" y="2194560"/>
            <a:ext cx="7982712" cy="3657600"/>
          </a:xfrm>
          <a:prstGeom prst="rect">
            <a:avLst/>
          </a:prstGeom>
          <a:noFill/>
        </p:spPr>
        <p:txBody>
          <a:bodyPr wrap="square">
            <a:spAutoFit/>
          </a:bodyPr>
          <a:lstStyle/>
          <a:p>
            <a:pPr algn="ctr">
              <a:defRPr sz="3200" b="1">
                <a:solidFill>
                  <a:srgbClr val="1B2B50"/>
                </a:solidFill>
                <a:latin typeface="Segoe UI"/>
              </a:defRPr>
            </a:pPr>
            <a:r>
              <a:t>Thank You!</a:t>
            </a:r>
          </a:p>
          <a:p>
            <a:pPr algn="ctr">
              <a:spcBef>
                <a:spcPts val="1200"/>
              </a:spcBef>
              <a:defRPr sz="1600" b="1">
                <a:solidFill>
                  <a:srgbClr val="1E40AF"/>
                </a:solidFill>
                <a:latin typeface="Segoe UI"/>
              </a:defRPr>
            </a:pPr>
            <a:r>
              <a:t>CLOUD-M7: Tier-Adaptive Forensic Provenance</a:t>
            </a:r>
          </a:p>
          <a:p>
            <a:pPr algn="ctr">
              <a:spcBef>
                <a:spcPts val="1000"/>
              </a:spcBef>
              <a:defRPr sz="1300">
                <a:solidFill>
                  <a:srgbClr val="1E293B"/>
                </a:solidFill>
                <a:latin typeface="Segoe UI"/>
              </a:defRPr>
            </a:pPr>
            <a:r>
              <a:t>Candidate: Dharshini  |  Department of Computer Science &amp; Engineering</a:t>
            </a:r>
            <a:br/>
            <a:r>
              <a:t>PES University, Bangalore</a:t>
            </a:r>
          </a:p>
          <a:p>
            <a:pPr algn="ctr">
              <a:spcBef>
                <a:spcPts val="2000"/>
              </a:spcBef>
              <a:defRPr sz="1400" b="1">
                <a:solidFill>
                  <a:srgbClr val="D97706"/>
                </a:solidFill>
                <a:latin typeface="Segoe UI"/>
              </a:defRPr>
            </a:pPr>
            <a:r>
              <a:t>Open for Evaluator Questions &amp; Live Prototype Demonstration</a:t>
            </a:r>
          </a:p>
          <a:p>
            <a:pPr algn="ctr">
              <a:spcBef>
                <a:spcPts val="1000"/>
              </a:spcBef>
              <a:defRPr sz="1100">
                <a:solidFill>
                  <a:srgbClr val="1E40AF"/>
                </a:solidFill>
                <a:latin typeface="Consolas"/>
              </a:defRPr>
            </a:pPr>
            <a:r>
              <a:t>GitHub: https://github.com/DharshiniPES/cloud-m7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