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My project is CLOUD-M7: Tier-Adaptive Forensic Provenance. In modern systems, computing spans edge sensors, fog gateways, and cloud servers. My project solves how to reconstruct multi-stage cyberattacks across all three tiers efficiently without wasting bandwidth or violating edge privacy.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forensic methods fail for three reasons: Host tools cannot see network pivots; centralized SIEM overwhelms network bandwidth by 90% and exposes sensitive data; and different operating tiers have incompatible log formats. CLOUD-M7 bridges this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comparative literature matrix. While SPADE and CamFlow focus solely on operating system syscalls, and centralized SIEM requires shipping everything to the cloud, CLOUD-M7 achieves full cross-tier correlation, adaptive placement, 90% bandwidth savings, and multi-sensor choke-point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enable cross-tier forensics, we designed a unified mathematical schema tuple: UUID, timestamp, tier, host, event type, payload, and a SHA-256 hash. Cross-tier edges are automatically constructed by matching socket 5-tuples and strictly respecting temporal order.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Review 1, rigorous validation requires verified ground truth. Our multi-tier simulator generates 70 events: 40 benign background events mixed with a 3-vector Advanced Persistent Threat. This proves our algorithm isolates the true attack path without false positives, preparing us for DARPA OpTC ingestion in Phase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novelty is Tier-Adaptive Placement Optimization. We formulate task placement as a constrained cost minimization problem. By moving privacy filtering and graph reduction to the edge, we achieve a 90% reduction in network bandwidth and 87.5% reduction in latency, all within edge hardware limits.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novelty addresses a fatal flaw in traditional forensics: single-pass algorithms stop after finding just one entry point. Our engine uses an iterative loop with hyperparameters (K_max, epsilon, lambda) to discover all concurrent attack vectors, finding three distinct entry points across edge and fog.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third novelty models interconnected attacks originating from multiple edge sensors. Using graph theory and articulation cuts, our engine discovered a critical choke point at the Fog gateway socket with 100% containment efficiency. Blocking this single point instantly neutralizes all incoming attacks before they touch the cloud.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generated visualizations. Figure 1 shows the end-to-end 14-hop causal attack path across Edge, Fog, and Cloud tiers with 80% noise pruned. Figure 2 shows the multi-sensor graph where gold nodes highlight the critical choke points for immediate incident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claim in our presentation is verified with automated test suites. We have 13 passing unit and integration tests verifying schema integrity, placement constraints, iterative hyperparameter convergence, and choke-point detection in under one second.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structured 2-year roadmap. Phase 1 is fully delivered today with working code, optimization, and novelties. Next semester in Phase 2, we integrate DARPA OpTC and live eBPF kernel hooks. In Phase 3, we add reinforcement learning, culminating in Phase 4 with a physical hardware testbed and IEEE conference 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82880" cy="29260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3200400"/>
          </a:xfrm>
          <a:prstGeom prst="rect">
            <a:avLst/>
          </a:prstGeom>
          <a:noFill/>
        </p:spPr>
        <p:txBody>
          <a:bodyPr wrap="square">
            <a:spAutoFit/>
          </a:bodyPr>
          <a:lstStyle/>
          <a:p>
            <a:pPr>
              <a:defRPr sz="3600" b="1">
                <a:solidFill>
                  <a:srgbClr val="F8FAFC"/>
                </a:solidFill>
              </a:defRPr>
            </a:pPr>
            <a:r>
              <a:t>CLOUD-M7: Tier-Adaptive Forensic Provenance</a:t>
            </a:r>
          </a:p>
          <a:p>
            <a:pPr>
              <a:spcBef>
                <a:spcPts val="1000"/>
              </a:spcBef>
              <a:defRPr sz="2000">
                <a:solidFill>
                  <a:srgbClr val="0EA5E9"/>
                </a:solidFill>
              </a:defRPr>
            </a:pPr>
            <a:r>
              <a:t>Distributed Attack-Path Reconstruction across Edge, Fog, and Cloud</a:t>
            </a:r>
          </a:p>
          <a:p>
            <a:pPr>
              <a:spcBef>
                <a:spcPts val="2000"/>
              </a:spcBef>
              <a:defRPr sz="1400">
                <a:solidFill>
                  <a:srgbClr val="94A3B8"/>
                </a:solidFill>
              </a:defRPr>
            </a:pPr>
            <a:r>
              <a:t>2-Year B.Tech Capstone Project (Batch 2026–2027) | Review 1 Prototype</a:t>
            </a:r>
          </a:p>
        </p:txBody>
      </p:sp>
      <p:sp>
        <p:nvSpPr>
          <p:cNvPr id="5" name="Rounded Rectangle 4"/>
          <p:cNvSpPr/>
          <p:nvPr/>
        </p:nvSpPr>
        <p:spPr>
          <a:xfrm>
            <a:off x="1097280" y="4754880"/>
            <a:ext cx="9875520" cy="128016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892040"/>
            <a:ext cx="9326880" cy="1005840"/>
          </a:xfrm>
          <a:prstGeom prst="rect">
            <a:avLst/>
          </a:prstGeom>
          <a:noFill/>
        </p:spPr>
        <p:txBody>
          <a:bodyPr wrap="square">
            <a:spAutoFit/>
          </a:bodyPr>
          <a:lstStyle/>
          <a:p>
            <a:pPr>
              <a:defRPr sz="1400" b="1">
                <a:solidFill>
                  <a:srgbClr val="F8FAFC"/>
                </a:solidFill>
              </a:defRPr>
            </a:pPr>
            <a:r>
              <a:t>Candidate: Dharshini  |  Department: Computer Science and Engineering</a:t>
            </a:r>
          </a:p>
          <a:p>
            <a:pPr>
              <a:spcBef>
                <a:spcPts val="600"/>
              </a:spcBef>
              <a:defRPr sz="1200">
                <a:solidFill>
                  <a:srgbClr val="F59E0B"/>
                </a:solidFill>
              </a:defRPr>
            </a:pPr>
            <a:r>
              <a:t>GitHub Repository: https://github.com/DharshiniPES/cloud-m7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The Multi-Tier Forensic Dilemma &amp; Motivation</a:t>
            </a:r>
          </a:p>
        </p:txBody>
      </p:sp>
      <p:sp>
        <p:nvSpPr>
          <p:cNvPr id="5" name="Rounded Rectangle 4"/>
          <p:cNvSpPr/>
          <p:nvPr/>
        </p:nvSpPr>
        <p:spPr>
          <a:xfrm>
            <a:off x="731520" y="1463040"/>
            <a:ext cx="3291840" cy="4572000"/>
          </a:xfrm>
          <a:prstGeom prst="roundRect">
            <a:avLst/>
          </a:prstGeom>
          <a:solidFill>
            <a:srgbClr val="1A2639"/>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26080" cy="365760"/>
          </a:xfrm>
          <a:prstGeom prst="rect">
            <a:avLst/>
          </a:prstGeom>
          <a:noFill/>
        </p:spPr>
        <p:txBody>
          <a:bodyPr wrap="square">
            <a:spAutoFit/>
          </a:bodyPr>
          <a:lstStyle/>
          <a:p>
            <a:pPr>
              <a:defRPr sz="1400" b="1">
                <a:solidFill>
                  <a:srgbClr val="0EA5E9"/>
                </a:solidFill>
              </a:defRPr>
            </a:pPr>
            <a:r>
              <a:t>1. Host EDR Blind Spot</a:t>
            </a:r>
          </a:p>
        </p:txBody>
      </p:sp>
      <p:sp>
        <p:nvSpPr>
          <p:cNvPr id="7" name="TextBox 6"/>
          <p:cNvSpPr txBox="1"/>
          <p:nvPr/>
        </p:nvSpPr>
        <p:spPr>
          <a:xfrm>
            <a:off x="914400" y="2103120"/>
            <a:ext cx="2926080" cy="3749040"/>
          </a:xfrm>
          <a:prstGeom prst="rect">
            <a:avLst/>
          </a:prstGeom>
          <a:noFill/>
        </p:spPr>
        <p:txBody>
          <a:bodyPr wrap="square">
            <a:spAutoFit/>
          </a:bodyPr>
          <a:lstStyle/>
          <a:p>
            <a:pPr>
              <a:defRPr sz="1300">
                <a:solidFill>
                  <a:srgbClr val="F8FAFC"/>
                </a:solidFill>
              </a:defRPr>
            </a:pPr>
            <a:r>
              <a:t>• Local monitors (auditd, CamFlow) only record events on a single machine.</a:t>
            </a:r>
            <a:br/>
            <a:br/>
            <a:r>
              <a:t>• When an attacker exploits an edge sensor and pivots to Fog or Cloud, the causal chain is permanently severed.</a:t>
            </a:r>
            <a:br/>
            <a:br/>
            <a:r>
              <a:t>• Results in siloed, incomplete forensic investigations.</a:t>
            </a:r>
          </a:p>
        </p:txBody>
      </p:sp>
      <p:sp>
        <p:nvSpPr>
          <p:cNvPr id="8" name="Rounded Rectangle 7"/>
          <p:cNvSpPr/>
          <p:nvPr/>
        </p:nvSpPr>
        <p:spPr>
          <a:xfrm>
            <a:off x="4434840" y="1463040"/>
            <a:ext cx="3291840" cy="4572000"/>
          </a:xfrm>
          <a:prstGeom prst="roundRect">
            <a:avLst/>
          </a:prstGeom>
          <a:solidFill>
            <a:srgbClr val="1A2639"/>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00200"/>
            <a:ext cx="2926080" cy="365760"/>
          </a:xfrm>
          <a:prstGeom prst="rect">
            <a:avLst/>
          </a:prstGeom>
          <a:noFill/>
        </p:spPr>
        <p:txBody>
          <a:bodyPr wrap="square">
            <a:spAutoFit/>
          </a:bodyPr>
          <a:lstStyle/>
          <a:p>
            <a:pPr>
              <a:defRPr sz="1400" b="1">
                <a:solidFill>
                  <a:srgbClr val="0EA5E9"/>
                </a:solidFill>
              </a:defRPr>
            </a:pPr>
            <a:r>
              <a:t>2. Centralized SIEM Infeasibility</a:t>
            </a:r>
          </a:p>
        </p:txBody>
      </p:sp>
      <p:sp>
        <p:nvSpPr>
          <p:cNvPr id="10" name="TextBox 9"/>
          <p:cNvSpPr txBox="1"/>
          <p:nvPr/>
        </p:nvSpPr>
        <p:spPr>
          <a:xfrm>
            <a:off x="4617720" y="2103120"/>
            <a:ext cx="2926080" cy="3749040"/>
          </a:xfrm>
          <a:prstGeom prst="rect">
            <a:avLst/>
          </a:prstGeom>
          <a:noFill/>
        </p:spPr>
        <p:txBody>
          <a:bodyPr wrap="square">
            <a:spAutoFit/>
          </a:bodyPr>
          <a:lstStyle/>
          <a:p>
            <a:pPr>
              <a:defRPr sz="1300">
                <a:solidFill>
                  <a:srgbClr val="F8FAFC"/>
                </a:solidFill>
              </a:defRPr>
            </a:pPr>
            <a:r>
              <a:t>• Shipping raw audit logs to the Cloud exhausts constrained edge bandwidth (uplinks).</a:t>
            </a:r>
            <a:br/>
            <a:br/>
            <a:r>
              <a:t>• High round-trip ingestion latency delays real-time breach containment.</a:t>
            </a:r>
            <a:br/>
            <a:br/>
            <a:r>
              <a:t>• Exposes raw sensor and camera feeds, violating privacy regulations (GDPR/HIPAA).</a:t>
            </a:r>
          </a:p>
        </p:txBody>
      </p:sp>
      <p:sp>
        <p:nvSpPr>
          <p:cNvPr id="11" name="Rounded Rectangle 10"/>
          <p:cNvSpPr/>
          <p:nvPr/>
        </p:nvSpPr>
        <p:spPr>
          <a:xfrm>
            <a:off x="8138160" y="1463040"/>
            <a:ext cx="3291840" cy="4572000"/>
          </a:xfrm>
          <a:prstGeom prst="roundRect">
            <a:avLst/>
          </a:prstGeom>
          <a:solidFill>
            <a:srgbClr val="1A2639"/>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600200"/>
            <a:ext cx="2926080" cy="365760"/>
          </a:xfrm>
          <a:prstGeom prst="rect">
            <a:avLst/>
          </a:prstGeom>
          <a:noFill/>
        </p:spPr>
        <p:txBody>
          <a:bodyPr wrap="square">
            <a:spAutoFit/>
          </a:bodyPr>
          <a:lstStyle/>
          <a:p>
            <a:pPr>
              <a:defRPr sz="1400" b="1">
                <a:solidFill>
                  <a:srgbClr val="0EA5E9"/>
                </a:solidFill>
              </a:defRPr>
            </a:pPr>
            <a:r>
              <a:t>3. Heterogeneous Schemas</a:t>
            </a:r>
          </a:p>
        </p:txBody>
      </p:sp>
      <p:sp>
        <p:nvSpPr>
          <p:cNvPr id="13" name="TextBox 12"/>
          <p:cNvSpPr txBox="1"/>
          <p:nvPr/>
        </p:nvSpPr>
        <p:spPr>
          <a:xfrm>
            <a:off x="8321040" y="2103120"/>
            <a:ext cx="2926080" cy="3749040"/>
          </a:xfrm>
          <a:prstGeom prst="rect">
            <a:avLst/>
          </a:prstGeom>
          <a:noFill/>
        </p:spPr>
        <p:txBody>
          <a:bodyPr wrap="square">
            <a:spAutoFit/>
          </a:bodyPr>
          <a:lstStyle/>
          <a:p>
            <a:pPr>
              <a:defRPr sz="1300">
                <a:solidFill>
                  <a:srgbClr val="F8FAFC"/>
                </a:solidFill>
              </a:defRPr>
            </a:pPr>
            <a:r>
              <a:t>• Linux kernel syscalls, Fog container sockets, and Cloud REST API logs use conflicting data structures.</a:t>
            </a:r>
            <a:br/>
            <a:br/>
            <a:r>
              <a:t>• No standard cross-tier correlation model exists.</a:t>
            </a:r>
            <a:br/>
            <a:br/>
            <a:r>
              <a:t>• Requires tedious manual triage across disjoint security loggers.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Comparative Literature Analysis (Benchmarking)</a:t>
            </a:r>
          </a:p>
        </p:txBody>
      </p:sp>
      <p:graphicFrame>
        <p:nvGraphicFramePr>
          <p:cNvPr id="5" name="Table 4"/>
          <p:cNvGraphicFramePr>
            <a:graphicFrameLocks noGrp="1"/>
          </p:cNvGraphicFramePr>
          <p:nvPr/>
        </p:nvGraphicFramePr>
        <p:xfrm>
          <a:off x="731520" y="1463040"/>
          <a:ext cx="10725912" cy="4663440"/>
        </p:xfrm>
        <a:graphic>
          <a:graphicData uri="http://schemas.openxmlformats.org/drawingml/2006/table">
            <a:tbl>
              <a:tblPr firstRow="1" bandRow="1">
                <a:tableStyleId>{5C22544A-7EE6-4342-B048-85BDC9FD1C3A}</a:tableStyleId>
              </a:tblPr>
              <a:tblGrid>
                <a:gridCol w="3410712"/>
                <a:gridCol w="1828800"/>
                <a:gridCol w="1828800"/>
                <a:gridCol w="1828800"/>
                <a:gridCol w="1828800"/>
              </a:tblGrid>
              <a:tr h="666205">
                <a:tc>
                  <a:txBody>
                    <a:bodyPr/>
                    <a:lstStyle/>
                    <a:p>
                      <a:pPr>
                        <a:defRPr sz="1300" b="1">
                          <a:solidFill>
                            <a:srgbClr val="F8FAFC"/>
                          </a:solidFill>
                        </a:defRPr>
                      </a:pPr>
                      <a:r>
                        <a:t>Forensic Capability</a:t>
                      </a:r>
                    </a:p>
                  </a:txBody>
                  <a:tcPr>
                    <a:solidFill>
                      <a:srgbClr val="0F172A"/>
                    </a:solidFill>
                  </a:tcPr>
                </a:tc>
                <a:tc>
                  <a:txBody>
                    <a:bodyPr/>
                    <a:lstStyle/>
                    <a:p>
                      <a:pPr>
                        <a:defRPr sz="1300" b="1">
                          <a:solidFill>
                            <a:srgbClr val="F8FAFC"/>
                          </a:solidFill>
                        </a:defRPr>
                      </a:pPr>
                      <a:r>
                        <a:t>Host EDR (auditd)</a:t>
                      </a:r>
                    </a:p>
                  </a:txBody>
                  <a:tcPr>
                    <a:solidFill>
                      <a:srgbClr val="0F172A"/>
                    </a:solidFill>
                  </a:tcPr>
                </a:tc>
                <a:tc>
                  <a:txBody>
                    <a:bodyPr/>
                    <a:lstStyle/>
                    <a:p>
                      <a:pPr>
                        <a:defRPr sz="1300" b="1">
                          <a:solidFill>
                            <a:srgbClr val="F8FAFC"/>
                          </a:solidFill>
                        </a:defRPr>
                      </a:pPr>
                      <a:r>
                        <a:t>Centralized SIEM</a:t>
                      </a:r>
                    </a:p>
                  </a:txBody>
                  <a:tcPr>
                    <a:solidFill>
                      <a:srgbClr val="0F172A"/>
                    </a:solidFill>
                  </a:tcPr>
                </a:tc>
                <a:tc>
                  <a:txBody>
                    <a:bodyPr/>
                    <a:lstStyle/>
                    <a:p>
                      <a:pPr>
                        <a:defRPr sz="1300" b="1">
                          <a:solidFill>
                            <a:srgbClr val="F8FAFC"/>
                          </a:solidFill>
                        </a:defRPr>
                      </a:pPr>
                      <a:r>
                        <a:t>SPADE / CamFlow</a:t>
                      </a:r>
                    </a:p>
                  </a:txBody>
                  <a:tcPr>
                    <a:solidFill>
                      <a:srgbClr val="0F172A"/>
                    </a:solidFill>
                  </a:tcPr>
                </a:tc>
                <a:tc>
                  <a:txBody>
                    <a:bodyPr/>
                    <a:lstStyle/>
                    <a:p>
                      <a:pPr>
                        <a:defRPr sz="1300" b="1">
                          <a:solidFill>
                            <a:srgbClr val="0EA5E9"/>
                          </a:solidFill>
                        </a:defRPr>
                      </a:pPr>
                      <a:r>
                        <a:t>CLOUD-M7 (Ours)</a:t>
                      </a:r>
                    </a:p>
                  </a:txBody>
                  <a:tcPr>
                    <a:solidFill>
                      <a:srgbClr val="0F172A"/>
                    </a:solidFill>
                  </a:tcPr>
                </a:tc>
              </a:tr>
              <a:tr h="666205">
                <a:tc>
                  <a:txBody>
                    <a:bodyPr/>
                    <a:lstStyle/>
                    <a:p>
                      <a:pPr>
                        <a:defRPr sz="1200">
                          <a:solidFill>
                            <a:srgbClr val="F8FAFC"/>
                          </a:solidFill>
                        </a:defRPr>
                      </a:pPr>
                      <a:r>
                        <a:t>Cross-Tier Multi-Hop Tracking</a:t>
                      </a:r>
                    </a:p>
                  </a:txBody>
                  <a:tcPr>
                    <a:solidFill>
                      <a:srgbClr val="1E293B"/>
                    </a:solidFill>
                  </a:tcPr>
                </a:tc>
                <a:tc>
                  <a:txBody>
                    <a:bodyPr/>
                    <a:lstStyle/>
                    <a:p>
                      <a:pPr>
                        <a:defRPr sz="1200">
                          <a:solidFill>
                            <a:srgbClr val="F8FAFC"/>
                          </a:solidFill>
                        </a:defRPr>
                      </a:pPr>
                      <a:r>
                        <a:t>No (Host-only)</a:t>
                      </a:r>
                    </a:p>
                  </a:txBody>
                  <a:tcPr>
                    <a:solidFill>
                      <a:srgbClr val="1E293B"/>
                    </a:solidFill>
                  </a:tcPr>
                </a:tc>
                <a:tc>
                  <a:txBody>
                    <a:bodyPr/>
                    <a:lstStyle/>
                    <a:p>
                      <a:pPr>
                        <a:defRPr sz="1200">
                          <a:solidFill>
                            <a:srgbClr val="F8FAFC"/>
                          </a:solidFill>
                        </a:defRPr>
                      </a:pPr>
                      <a:r>
                        <a:t>Partial (Manual)</a:t>
                      </a:r>
                    </a:p>
                  </a:txBody>
                  <a:tcPr>
                    <a:solidFill>
                      <a:srgbClr val="1E293B"/>
                    </a:solidFill>
                  </a:tcPr>
                </a:tc>
                <a:tc>
                  <a:txBody>
                    <a:bodyPr/>
                    <a:lstStyle/>
                    <a:p>
                      <a:pPr>
                        <a:defRPr sz="1200">
                          <a:solidFill>
                            <a:srgbClr val="F8FAFC"/>
                          </a:solidFill>
                        </a:defRPr>
                      </a:pPr>
                      <a:r>
                        <a:t>No (OS-only)</a:t>
                      </a:r>
                    </a:p>
                  </a:txBody>
                  <a:tcPr>
                    <a:solidFill>
                      <a:srgbClr val="1E293B"/>
                    </a:solidFill>
                  </a:tcPr>
                </a:tc>
                <a:tc>
                  <a:txBody>
                    <a:bodyPr/>
                    <a:lstStyle/>
                    <a:p>
                      <a:pPr>
                        <a:defRPr sz="1200" b="1">
                          <a:solidFill>
                            <a:srgbClr val="10B981"/>
                          </a:solidFill>
                        </a:defRPr>
                      </a:pPr>
                      <a:r>
                        <a:t>Full (Autonomous)</a:t>
                      </a:r>
                    </a:p>
                  </a:txBody>
                  <a:tcPr>
                    <a:solidFill>
                      <a:srgbClr val="1E293B"/>
                    </a:solidFill>
                  </a:tcPr>
                </a:tc>
              </a:tr>
              <a:tr h="666205">
                <a:tc>
                  <a:txBody>
                    <a:bodyPr/>
                    <a:lstStyle/>
                    <a:p>
                      <a:pPr>
                        <a:defRPr sz="1200">
                          <a:solidFill>
                            <a:srgbClr val="F8FAFC"/>
                          </a:solidFill>
                        </a:defRPr>
                      </a:pPr>
                      <a:r>
                        <a:t>Tier-Adaptive Task Placement</a:t>
                      </a:r>
                    </a:p>
                  </a:txBody>
                  <a:tcPr>
                    <a:solidFill>
                      <a:srgbClr val="1A2639"/>
                    </a:solidFill>
                  </a:tcPr>
                </a:tc>
                <a:tc>
                  <a:txBody>
                    <a:bodyPr/>
                    <a:lstStyle/>
                    <a:p>
                      <a:pPr>
                        <a:defRPr sz="1200">
                          <a:solidFill>
                            <a:srgbClr val="F8FAFC"/>
                          </a:solidFill>
                        </a:defRPr>
                      </a:pPr>
                      <a:r>
                        <a:t>No</a:t>
                      </a:r>
                    </a:p>
                  </a:txBody>
                  <a:tcPr>
                    <a:solidFill>
                      <a:srgbClr val="1A2639"/>
                    </a:solidFill>
                  </a:tcPr>
                </a:tc>
                <a:tc>
                  <a:txBody>
                    <a:bodyPr/>
                    <a:lstStyle/>
                    <a:p>
                      <a:pPr>
                        <a:defRPr sz="1200">
                          <a:solidFill>
                            <a:srgbClr val="F8FAFC"/>
                          </a:solidFill>
                        </a:defRPr>
                      </a:pPr>
                      <a:r>
                        <a:t>No (Centralized)</a:t>
                      </a:r>
                    </a:p>
                  </a:txBody>
                  <a:tcPr>
                    <a:solidFill>
                      <a:srgbClr val="1A2639"/>
                    </a:solidFill>
                  </a:tcPr>
                </a:tc>
                <a:tc>
                  <a:txBody>
                    <a:bodyPr/>
                    <a:lstStyle/>
                    <a:p>
                      <a:pPr>
                        <a:defRPr sz="1200">
                          <a:solidFill>
                            <a:srgbClr val="F8FAFC"/>
                          </a:solidFill>
                        </a:defRPr>
                      </a:pPr>
                      <a:r>
                        <a:t>No</a:t>
                      </a:r>
                    </a:p>
                  </a:txBody>
                  <a:tcPr>
                    <a:solidFill>
                      <a:srgbClr val="1A2639"/>
                    </a:solidFill>
                  </a:tcPr>
                </a:tc>
                <a:tc>
                  <a:txBody>
                    <a:bodyPr/>
                    <a:lstStyle/>
                    <a:p>
                      <a:pPr>
                        <a:defRPr sz="1200" b="1">
                          <a:solidFill>
                            <a:srgbClr val="10B981"/>
                          </a:solidFill>
                        </a:defRPr>
                      </a:pPr>
                      <a:r>
                        <a:t>Optimal Cost Model</a:t>
                      </a:r>
                    </a:p>
                  </a:txBody>
                  <a:tcPr>
                    <a:solidFill>
                      <a:srgbClr val="1A2639"/>
                    </a:solidFill>
                  </a:tcPr>
                </a:tc>
              </a:tr>
              <a:tr h="666205">
                <a:tc>
                  <a:txBody>
                    <a:bodyPr/>
                    <a:lstStyle/>
                    <a:p>
                      <a:pPr>
                        <a:defRPr sz="1200">
                          <a:solidFill>
                            <a:srgbClr val="F8FAFC"/>
                          </a:solidFill>
                        </a:defRPr>
                      </a:pPr>
                      <a:r>
                        <a:t>Edge Bandwidth Preservation</a:t>
                      </a:r>
                    </a:p>
                  </a:txBody>
                  <a:tcPr>
                    <a:solidFill>
                      <a:srgbClr val="1E293B"/>
                    </a:solidFill>
                  </a:tcPr>
                </a:tc>
                <a:tc>
                  <a:txBody>
                    <a:bodyPr/>
                    <a:lstStyle/>
                    <a:p>
                      <a:pPr>
                        <a:defRPr sz="1200">
                          <a:solidFill>
                            <a:srgbClr val="F8FAFC"/>
                          </a:solidFill>
                        </a:defRPr>
                      </a:pPr>
                      <a:r>
                        <a:t>No (Unbounded)</a:t>
                      </a:r>
                    </a:p>
                  </a:txBody>
                  <a:tcPr>
                    <a:solidFill>
                      <a:srgbClr val="1E293B"/>
                    </a:solidFill>
                  </a:tcPr>
                </a:tc>
                <a:tc>
                  <a:txBody>
                    <a:bodyPr/>
                    <a:lstStyle/>
                    <a:p>
                      <a:pPr>
                        <a:defRPr sz="1200">
                          <a:solidFill>
                            <a:srgbClr val="F8FAFC"/>
                          </a:solidFill>
                        </a:defRPr>
                      </a:pPr>
                      <a:r>
                        <a:t>Poor (Ship-all)</a:t>
                      </a:r>
                    </a:p>
                  </a:txBody>
                  <a:tcPr>
                    <a:solidFill>
                      <a:srgbClr val="1E293B"/>
                    </a:solidFill>
                  </a:tcPr>
                </a:tc>
                <a:tc>
                  <a:txBody>
                    <a:bodyPr/>
                    <a:lstStyle/>
                    <a:p>
                      <a:pPr>
                        <a:defRPr sz="1200">
                          <a:solidFill>
                            <a:srgbClr val="F8FAFC"/>
                          </a:solidFill>
                        </a:defRPr>
                      </a:pPr>
                      <a:r>
                        <a:t>No</a:t>
                      </a:r>
                    </a:p>
                  </a:txBody>
                  <a:tcPr>
                    <a:solidFill>
                      <a:srgbClr val="1E293B"/>
                    </a:solidFill>
                  </a:tcPr>
                </a:tc>
                <a:tc>
                  <a:txBody>
                    <a:bodyPr/>
                    <a:lstStyle/>
                    <a:p>
                      <a:pPr>
                        <a:defRPr sz="1200" b="1">
                          <a:solidFill>
                            <a:srgbClr val="10B981"/>
                          </a:solidFill>
                        </a:defRPr>
                      </a:pPr>
                      <a:r>
                        <a:t>90.0% Reduction</a:t>
                      </a:r>
                    </a:p>
                  </a:txBody>
                  <a:tcPr>
                    <a:solidFill>
                      <a:srgbClr val="1E293B"/>
                    </a:solidFill>
                  </a:tcPr>
                </a:tc>
              </a:tr>
              <a:tr h="666205">
                <a:tc>
                  <a:txBody>
                    <a:bodyPr/>
                    <a:lstStyle/>
                    <a:p>
                      <a:pPr>
                        <a:defRPr sz="1200">
                          <a:solidFill>
                            <a:srgbClr val="F8FAFC"/>
                          </a:solidFill>
                        </a:defRPr>
                      </a:pPr>
                      <a:r>
                        <a:t>Unified Cross-Tier Schema</a:t>
                      </a:r>
                    </a:p>
                  </a:txBody>
                  <a:tcPr>
                    <a:solidFill>
                      <a:srgbClr val="1A2639"/>
                    </a:solidFill>
                  </a:tcPr>
                </a:tc>
                <a:tc>
                  <a:txBody>
                    <a:bodyPr/>
                    <a:lstStyle/>
                    <a:p>
                      <a:pPr>
                        <a:defRPr sz="1200">
                          <a:solidFill>
                            <a:srgbClr val="F8FAFC"/>
                          </a:solidFill>
                        </a:defRPr>
                      </a:pPr>
                      <a:r>
                        <a:t>Disjoint</a:t>
                      </a:r>
                    </a:p>
                  </a:txBody>
                  <a:tcPr>
                    <a:solidFill>
                      <a:srgbClr val="1A2639"/>
                    </a:solidFill>
                  </a:tcPr>
                </a:tc>
                <a:tc>
                  <a:txBody>
                    <a:bodyPr/>
                    <a:lstStyle/>
                    <a:p>
                      <a:pPr>
                        <a:defRPr sz="1200">
                          <a:solidFill>
                            <a:srgbClr val="F8FAFC"/>
                          </a:solidFill>
                        </a:defRPr>
                      </a:pPr>
                      <a:r>
                        <a:t>Proprietary</a:t>
                      </a:r>
                    </a:p>
                  </a:txBody>
                  <a:tcPr>
                    <a:solidFill>
                      <a:srgbClr val="1A2639"/>
                    </a:solidFill>
                  </a:tcPr>
                </a:tc>
                <a:tc>
                  <a:txBody>
                    <a:bodyPr/>
                    <a:lstStyle/>
                    <a:p>
                      <a:pPr>
                        <a:defRPr sz="1200">
                          <a:solidFill>
                            <a:srgbClr val="F8FAFC"/>
                          </a:solidFill>
                        </a:defRPr>
                      </a:pPr>
                      <a:r>
                        <a:t>Partial (LSM)</a:t>
                      </a:r>
                    </a:p>
                  </a:txBody>
                  <a:tcPr>
                    <a:solidFill>
                      <a:srgbClr val="1A2639"/>
                    </a:solidFill>
                  </a:tcPr>
                </a:tc>
                <a:tc>
                  <a:txBody>
                    <a:bodyPr/>
                    <a:lstStyle/>
                    <a:p>
                      <a:pPr>
                        <a:defRPr sz="1200" b="1">
                          <a:solidFill>
                            <a:srgbClr val="10B981"/>
                          </a:solidFill>
                        </a:defRPr>
                      </a:pPr>
                      <a:r>
                        <a:t>Unified (E_i + SHA-256)</a:t>
                      </a:r>
                    </a:p>
                  </a:txBody>
                  <a:tcPr>
                    <a:solidFill>
                      <a:srgbClr val="1A2639"/>
                    </a:solidFill>
                  </a:tcPr>
                </a:tc>
              </a:tr>
              <a:tr h="666205">
                <a:tc>
                  <a:txBody>
                    <a:bodyPr/>
                    <a:lstStyle/>
                    <a:p>
                      <a:pPr>
                        <a:defRPr sz="1200">
                          <a:solidFill>
                            <a:srgbClr val="F8FAFC"/>
                          </a:solidFill>
                        </a:defRPr>
                      </a:pPr>
                      <a:r>
                        <a:t>Iterative Multi-Root Discovery</a:t>
                      </a:r>
                    </a:p>
                  </a:txBody>
                  <a:tcPr>
                    <a:solidFill>
                      <a:srgbClr val="1E293B"/>
                    </a:solidFill>
                  </a:tcPr>
                </a:tc>
                <a:tc>
                  <a:txBody>
                    <a:bodyPr/>
                    <a:lstStyle/>
                    <a:p>
                      <a:pPr>
                        <a:defRPr sz="1200">
                          <a:solidFill>
                            <a:srgbClr val="F8FAFC"/>
                          </a:solidFill>
                        </a:defRPr>
                      </a:pPr>
                      <a:r>
                        <a:t>Single-Pass BFS</a:t>
                      </a:r>
                    </a:p>
                  </a:txBody>
                  <a:tcPr>
                    <a:solidFill>
                      <a:srgbClr val="1E293B"/>
                    </a:solidFill>
                  </a:tcPr>
                </a:tc>
                <a:tc>
                  <a:txBody>
                    <a:bodyPr/>
                    <a:lstStyle/>
                    <a:p>
                      <a:pPr>
                        <a:defRPr sz="1200">
                          <a:solidFill>
                            <a:srgbClr val="F8FAFC"/>
                          </a:solidFill>
                        </a:defRPr>
                      </a:pPr>
                      <a:r>
                        <a:t>Rule-Based Alerts</a:t>
                      </a:r>
                    </a:p>
                  </a:txBody>
                  <a:tcPr>
                    <a:solidFill>
                      <a:srgbClr val="1E293B"/>
                    </a:solidFill>
                  </a:tcPr>
                </a:tc>
                <a:tc>
                  <a:txBody>
                    <a:bodyPr/>
                    <a:lstStyle/>
                    <a:p>
                      <a:pPr>
                        <a:defRPr sz="1200">
                          <a:solidFill>
                            <a:srgbClr val="F8FAFC"/>
                          </a:solidFill>
                        </a:defRPr>
                      </a:pPr>
                      <a:r>
                        <a:t>Single-Pass</a:t>
                      </a:r>
                    </a:p>
                  </a:txBody>
                  <a:tcPr>
                    <a:solidFill>
                      <a:srgbClr val="1E293B"/>
                    </a:solidFill>
                  </a:tcPr>
                </a:tc>
                <a:tc>
                  <a:txBody>
                    <a:bodyPr/>
                    <a:lstStyle/>
                    <a:p>
                      <a:pPr>
                        <a:defRPr sz="1200" b="1">
                          <a:solidFill>
                            <a:srgbClr val="10B981"/>
                          </a:solidFill>
                        </a:defRPr>
                      </a:pPr>
                      <a:r>
                        <a:t>Hyperparameter (ΔI_k)</a:t>
                      </a:r>
                    </a:p>
                  </a:txBody>
                  <a:tcPr>
                    <a:solidFill>
                      <a:srgbClr val="1E293B"/>
                    </a:solidFill>
                  </a:tcPr>
                </a:tc>
              </a:tr>
              <a:tr h="666210">
                <a:tc>
                  <a:txBody>
                    <a:bodyPr/>
                    <a:lstStyle/>
                    <a:p>
                      <a:pPr>
                        <a:defRPr sz="1200">
                          <a:solidFill>
                            <a:srgbClr val="F8FAFC"/>
                          </a:solidFill>
                        </a:defRPr>
                      </a:pPr>
                      <a:r>
                        <a:t>Multi-Sensor Choke-Point Analysis</a:t>
                      </a:r>
                    </a:p>
                  </a:txBody>
                  <a:tcPr>
                    <a:solidFill>
                      <a:srgbClr val="1A2639"/>
                    </a:solidFill>
                  </a:tcPr>
                </a:tc>
                <a:tc>
                  <a:txBody>
                    <a:bodyPr/>
                    <a:lstStyle/>
                    <a:p>
                      <a:pPr>
                        <a:defRPr sz="1200">
                          <a:solidFill>
                            <a:srgbClr val="F8FAFC"/>
                          </a:solidFill>
                        </a:defRPr>
                      </a:pPr>
                      <a:r>
                        <a:t>None</a:t>
                      </a:r>
                    </a:p>
                  </a:txBody>
                  <a:tcPr>
                    <a:solidFill>
                      <a:srgbClr val="1A2639"/>
                    </a:solidFill>
                  </a:tcPr>
                </a:tc>
                <a:tc>
                  <a:txBody>
                    <a:bodyPr/>
                    <a:lstStyle/>
                    <a:p>
                      <a:pPr>
                        <a:defRPr sz="1200">
                          <a:solidFill>
                            <a:srgbClr val="F8FAFC"/>
                          </a:solidFill>
                        </a:defRPr>
                      </a:pPr>
                      <a:r>
                        <a:t>None</a:t>
                      </a:r>
                    </a:p>
                  </a:txBody>
                  <a:tcPr>
                    <a:solidFill>
                      <a:srgbClr val="1A2639"/>
                    </a:solidFill>
                  </a:tcPr>
                </a:tc>
                <a:tc>
                  <a:txBody>
                    <a:bodyPr/>
                    <a:lstStyle/>
                    <a:p>
                      <a:pPr>
                        <a:defRPr sz="1200">
                          <a:solidFill>
                            <a:srgbClr val="F8FAFC"/>
                          </a:solidFill>
                        </a:defRPr>
                      </a:pPr>
                      <a:r>
                        <a:t>None</a:t>
                      </a:r>
                    </a:p>
                  </a:txBody>
                  <a:tcPr>
                    <a:solidFill>
                      <a:srgbClr val="1A2639"/>
                    </a:solidFill>
                  </a:tcPr>
                </a:tc>
                <a:tc>
                  <a:txBody>
                    <a:bodyPr/>
                    <a:lstStyle/>
                    <a:p>
                      <a:pPr>
                        <a:defRPr sz="1200" b="1">
                          <a:solidFill>
                            <a:srgbClr val="10B981"/>
                          </a:solidFill>
                        </a:defRPr>
                      </a:pPr>
                      <a:r>
                        <a:t>100% Containment Cut</a:t>
                      </a:r>
                    </a:p>
                  </a:txBody>
                  <a:tcPr>
                    <a:solidFill>
                      <a:srgbClr val="1A263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Unified Multi-Tier Architecture &amp; Formal Event Schema</a:t>
            </a:r>
          </a:p>
        </p:txBody>
      </p:sp>
      <p:sp>
        <p:nvSpPr>
          <p:cNvPr id="5" name="Rounded Rectangle 4"/>
          <p:cNvSpPr/>
          <p:nvPr/>
        </p:nvSpPr>
        <p:spPr>
          <a:xfrm>
            <a:off x="7315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65760"/>
          </a:xfrm>
          <a:prstGeom prst="rect">
            <a:avLst/>
          </a:prstGeom>
          <a:noFill/>
        </p:spPr>
        <p:txBody>
          <a:bodyPr wrap="square">
            <a:spAutoFit/>
          </a:bodyPr>
          <a:lstStyle/>
          <a:p>
            <a:pPr>
              <a:defRPr sz="1400" b="1">
                <a:solidFill>
                  <a:srgbClr val="0EA5E9"/>
                </a:solidFill>
              </a:defRPr>
            </a:pPr>
            <a:r>
              <a:t>Formal Unified Event Tuple (E_i)</a:t>
            </a:r>
          </a:p>
        </p:txBody>
      </p:sp>
      <p:sp>
        <p:nvSpPr>
          <p:cNvPr id="7" name="TextBox 6"/>
          <p:cNvSpPr txBox="1"/>
          <p:nvPr/>
        </p:nvSpPr>
        <p:spPr>
          <a:xfrm>
            <a:off x="914400" y="2011680"/>
            <a:ext cx="4846320" cy="4023360"/>
          </a:xfrm>
          <a:prstGeom prst="rect">
            <a:avLst/>
          </a:prstGeom>
          <a:noFill/>
        </p:spPr>
        <p:txBody>
          <a:bodyPr wrap="square">
            <a:spAutoFit/>
          </a:bodyPr>
          <a:lstStyle/>
          <a:p>
            <a:pPr>
              <a:defRPr sz="1300" b="1">
                <a:solidFill>
                  <a:srgbClr val="F59E0B"/>
                </a:solidFill>
              </a:defRPr>
            </a:pPr>
            <a:r>
              <a:t>E_i = &lt; UUID_i,  τ_i,  Tier_i,  HostID_i,  Type_i,  P_i,  π_i &gt;</a:t>
            </a:r>
            <a:br/>
          </a:p>
          <a:p>
            <a:pPr>
              <a:spcBef>
                <a:spcPts val="800"/>
              </a:spcBef>
              <a:defRPr sz="1200">
                <a:solidFill>
                  <a:srgbClr val="F8FAFC"/>
                </a:solidFill>
              </a:defRPr>
            </a:pPr>
            <a:r>
              <a:t>• UUID_i: Cryptographically unique identifier</a:t>
            </a:r>
            <a:br/>
            <a:r>
              <a:t>• τ_i: High-precision UTC timestamp (temporal ordering)</a:t>
            </a:r>
            <a:br/>
            <a:r>
              <a:t>• Tier_i ∈ {Edge, Fog, Cloud}: Physical execution tier</a:t>
            </a:r>
            <a:br/>
            <a:r>
              <a:t>• HostID_i: Device / VM / container identity</a:t>
            </a:r>
            <a:br/>
            <a:r>
              <a:t>• Type_i ∈ {Process, File, Socket, API}</a:t>
            </a:r>
            <a:br/>
            <a:r>
              <a:t>• P_i: Structured payload (network 5-tuple, process lineage, resource target)</a:t>
            </a:r>
            <a:br/>
            <a:r>
              <a:t>• π_i: SHA-256 Tamper-evident cryptographic hash ensuring legal chain-of-custody</a:t>
            </a:r>
          </a:p>
        </p:txBody>
      </p:sp>
      <p:sp>
        <p:nvSpPr>
          <p:cNvPr id="8" name="Rounded Rectangle 7"/>
          <p:cNvSpPr/>
          <p:nvPr/>
        </p:nvSpPr>
        <p:spPr>
          <a:xfrm>
            <a:off x="62179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65760"/>
          </a:xfrm>
          <a:prstGeom prst="rect">
            <a:avLst/>
          </a:prstGeom>
          <a:noFill/>
        </p:spPr>
        <p:txBody>
          <a:bodyPr wrap="square">
            <a:spAutoFit/>
          </a:bodyPr>
          <a:lstStyle/>
          <a:p>
            <a:pPr>
              <a:defRPr sz="1400" b="1">
                <a:solidFill>
                  <a:srgbClr val="0EA5E9"/>
                </a:solidFill>
              </a:defRPr>
            </a:pPr>
            <a:r>
              <a:t>Cross-Tier Socket &amp; Temporal Correlation</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300" b="1">
                <a:solidFill>
                  <a:srgbClr val="0EA5E9"/>
                </a:solidFill>
              </a:defRPr>
            </a:pPr>
            <a:r>
              <a:t>Stitching Disjoint Intra-Tier Graphs into Global DAG:</a:t>
            </a:r>
            <a:br/>
          </a:p>
          <a:p>
            <a:pPr>
              <a:spcBef>
                <a:spcPts val="600"/>
              </a:spcBef>
              <a:defRPr sz="1200">
                <a:solidFill>
                  <a:srgbClr val="F8FAFC"/>
                </a:solidFill>
              </a:defRPr>
            </a:pPr>
            <a:r>
              <a:t>1. Bi-directional Socket 5-Tuple Alignment:</a:t>
            </a:r>
            <a:br/>
            <a:r>
              <a:t>   &lt;src_ip, src_port, dst_ip, dst_port, protocol&gt;</a:t>
            </a:r>
            <a:br/>
            <a:br/>
            <a:r>
              <a:t>2. Strict Temporal Constraint:</a:t>
            </a:r>
            <a:br/>
            <a:r>
              <a:t>   τ_send &lt;= τ_recv (enforces causal forward flow)</a:t>
            </a:r>
            <a:br/>
            <a:br/>
            <a:r>
              <a:t>3. Cross-Tier Edge Construction (E_network):</a:t>
            </a:r>
            <a:br/>
            <a:r>
              <a:t>   Connects outbound socket on Edge to inbound socket on Fog, and Fog socket to Cloud ingress API.</a:t>
            </a:r>
            <a:br/>
            <a:br/>
            <a:r>
              <a:t>4. Global Causal Graph:</a:t>
            </a:r>
            <a:br/>
            <a:r>
              <a:t>   G_global = G_edge ∪ G_fog ∪ G_cloud ∪ E_network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Experimental Setup &amp; Multi-Tier Provenance Dataset</a:t>
            </a:r>
          </a:p>
        </p:txBody>
      </p:sp>
      <p:sp>
        <p:nvSpPr>
          <p:cNvPr id="5" name="Rounded Rectangle 4"/>
          <p:cNvSpPr/>
          <p:nvPr/>
        </p:nvSpPr>
        <p:spPr>
          <a:xfrm>
            <a:off x="7315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65760"/>
          </a:xfrm>
          <a:prstGeom prst="rect">
            <a:avLst/>
          </a:prstGeom>
          <a:noFill/>
        </p:spPr>
        <p:txBody>
          <a:bodyPr wrap="square">
            <a:spAutoFit/>
          </a:bodyPr>
          <a:lstStyle/>
          <a:p>
            <a:pPr>
              <a:defRPr sz="1400" b="1">
                <a:solidFill>
                  <a:srgbClr val="0EA5E9"/>
                </a:solidFill>
              </a:defRPr>
            </a:pPr>
            <a:r>
              <a:t>Provenance Dataset (70 Total Events)</a:t>
            </a:r>
          </a:p>
        </p:txBody>
      </p:sp>
      <p:sp>
        <p:nvSpPr>
          <p:cNvPr id="7" name="TextBox 6"/>
          <p:cNvSpPr txBox="1"/>
          <p:nvPr/>
        </p:nvSpPr>
        <p:spPr>
          <a:xfrm>
            <a:off x="914400" y="2011680"/>
            <a:ext cx="4846320" cy="4023360"/>
          </a:xfrm>
          <a:prstGeom prst="rect">
            <a:avLst/>
          </a:prstGeom>
          <a:noFill/>
        </p:spPr>
        <p:txBody>
          <a:bodyPr wrap="square">
            <a:spAutoFit/>
          </a:bodyPr>
          <a:lstStyle/>
          <a:p>
            <a:pPr>
              <a:defRPr sz="1300" b="1">
                <a:solidFill>
                  <a:srgbClr val="0EA5E9"/>
                </a:solidFill>
              </a:defRPr>
            </a:pPr>
            <a:r>
              <a:t>Generated by High-Fidelity Multi-Tier Telemetry Engine:</a:t>
            </a:r>
            <a:br/>
          </a:p>
          <a:p>
            <a:pPr>
              <a:spcBef>
                <a:spcPts val="600"/>
              </a:spcBef>
              <a:defRPr sz="1200">
                <a:solidFill>
                  <a:srgbClr val="F8FAFC"/>
                </a:solidFill>
              </a:defRPr>
            </a:pPr>
            <a:r>
              <a:t>• 40 Benign Background Noise Events:</a:t>
            </a:r>
            <a:br/>
            <a:r>
              <a:t>   Periodic IoT sensor readings, Fog heartbeat beacons, routine Cloud SQL database queries.</a:t>
            </a:r>
            <a:br/>
            <a:br/>
            <a:r>
              <a:t>• 14 Primary Attack Events (Vector 1):</a:t>
            </a:r>
            <a:br/>
            <a:r>
              <a:t>   edge-sensor-01 memory corruption -&gt; root shell -&gt; staging script -&gt; fog token theft -&gt; lateral socket -&gt; cloud admin API -&gt; exfiltration dump.</a:t>
            </a:r>
            <a:br/>
            <a:br/>
            <a:r>
              <a:t>• 8 Secondary Attack Events (Vector 2):</a:t>
            </a:r>
            <a:br/>
            <a:r>
              <a:t>   edge-sensor-02 firmware command injection exploit.</a:t>
            </a:r>
            <a:br/>
            <a:br/>
            <a:r>
              <a:t>• 8 Control-Bus Events (Vector 3):</a:t>
            </a:r>
            <a:br/>
            <a:r>
              <a:t>   edge-actuator-03 unauthorized control-bus injection.</a:t>
            </a:r>
          </a:p>
        </p:txBody>
      </p:sp>
      <p:sp>
        <p:nvSpPr>
          <p:cNvPr id="8" name="Rounded Rectangle 7"/>
          <p:cNvSpPr/>
          <p:nvPr/>
        </p:nvSpPr>
        <p:spPr>
          <a:xfrm>
            <a:off x="62179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65760"/>
          </a:xfrm>
          <a:prstGeom prst="rect">
            <a:avLst/>
          </a:prstGeom>
          <a:noFill/>
        </p:spPr>
        <p:txBody>
          <a:bodyPr wrap="square">
            <a:spAutoFit/>
          </a:bodyPr>
          <a:lstStyle/>
          <a:p>
            <a:pPr>
              <a:defRPr sz="1400" b="1">
                <a:solidFill>
                  <a:srgbClr val="0EA5E9"/>
                </a:solidFill>
              </a:defRPr>
            </a:pPr>
            <a:r>
              <a:t>Why Synthetic Ground Truth &amp; Future Benchmarks</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300" b="1">
                <a:solidFill>
                  <a:srgbClr val="F59E0B"/>
                </a:solidFill>
              </a:defRPr>
            </a:pPr>
            <a:r>
              <a:t>Methodological Rigor for Review 1 Validation:</a:t>
            </a:r>
            <a:br/>
          </a:p>
          <a:p>
            <a:pPr>
              <a:spcBef>
                <a:spcPts val="600"/>
              </a:spcBef>
              <a:defRPr sz="1200">
                <a:solidFill>
                  <a:srgbClr val="F8FAFC"/>
                </a:solidFill>
              </a:defRPr>
            </a:pPr>
            <a:r>
              <a:t>1. Verified Ground Truth:</a:t>
            </a:r>
            <a:br/>
            <a:r>
              <a:t>   Public single-host datasets lack correlated multi-tier telemetry across Edge, Fog, and Cloud simultaneously. Controlled ground truth is essential to verify 100% path recall and 0% false stitching.</a:t>
            </a:r>
            <a:br/>
            <a:br/>
            <a:r>
              <a:t>2. Realistic Behavioral Emulation:</a:t>
            </a:r>
            <a:br/>
            <a:r>
              <a:t>   Simulates realistic Linux process lifecycles, POSIX file I/O, BSD socket connections, and REST API access.</a:t>
            </a:r>
            <a:br/>
            <a:br/>
            <a:r>
              <a:t>3. Future Benchmark Roadmap (Phase 2):</a:t>
            </a:r>
            <a:br/>
            <a:r>
              <a:t>   Our unified schema is designed to ingest DARPA OpTC, DARPA TC (Cadets/THEIA), and TON_IoT in Semester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Novelty 1: Tier-Adaptive Task Placement Optimization</a:t>
            </a:r>
          </a:p>
        </p:txBody>
      </p:sp>
      <p:sp>
        <p:nvSpPr>
          <p:cNvPr id="5" name="Rounded Rectangle 4"/>
          <p:cNvSpPr/>
          <p:nvPr/>
        </p:nvSpPr>
        <p:spPr>
          <a:xfrm>
            <a:off x="731520" y="1463040"/>
            <a:ext cx="10725912" cy="15544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10360152" cy="365760"/>
          </a:xfrm>
          <a:prstGeom prst="rect">
            <a:avLst/>
          </a:prstGeom>
          <a:noFill/>
        </p:spPr>
        <p:txBody>
          <a:bodyPr wrap="square">
            <a:spAutoFit/>
          </a:bodyPr>
          <a:lstStyle/>
          <a:p>
            <a:pPr>
              <a:defRPr sz="1400" b="1">
                <a:solidFill>
                  <a:srgbClr val="0EA5E9"/>
                </a:solidFill>
              </a:defRPr>
            </a:pPr>
            <a:r>
              <a:t>Mathematical Formulation</a:t>
            </a:r>
          </a:p>
        </p:txBody>
      </p:sp>
      <p:sp>
        <p:nvSpPr>
          <p:cNvPr id="7" name="TextBox 6"/>
          <p:cNvSpPr txBox="1"/>
          <p:nvPr/>
        </p:nvSpPr>
        <p:spPr>
          <a:xfrm>
            <a:off x="914400" y="1920240"/>
            <a:ext cx="10332720" cy="1005840"/>
          </a:xfrm>
          <a:prstGeom prst="rect">
            <a:avLst/>
          </a:prstGeom>
          <a:noFill/>
        </p:spPr>
        <p:txBody>
          <a:bodyPr wrap="square">
            <a:spAutoFit/>
          </a:bodyPr>
          <a:lstStyle/>
          <a:p>
            <a:pPr>
              <a:defRPr sz="1500" b="1">
                <a:solidFill>
                  <a:srgbClr val="F59E0B"/>
                </a:solidFill>
              </a:defRPr>
            </a:pPr>
            <a:r>
              <a:t>min_x  J(x) = α · Lat(x) + β · BW(x) + γ · Priv(x) + δ · Cost(x)    subject to: C_edge(x) &lt;= C_max</a:t>
            </a:r>
          </a:p>
          <a:p>
            <a:pPr>
              <a:spcBef>
                <a:spcPts val="400"/>
              </a:spcBef>
              <a:defRPr sz="1200">
                <a:solidFill>
                  <a:srgbClr val="94A3B8"/>
                </a:solidFill>
              </a:defRPr>
            </a:pPr>
            <a:r>
              <a:t>Dynamically partitions tasks (Event Capture, Privacy Filtering, Graph Reduction, Fusion, Analytics) across Edge, Fog, and Cloud.</a:t>
            </a:r>
          </a:p>
        </p:txBody>
      </p:sp>
      <p:graphicFrame>
        <p:nvGraphicFramePr>
          <p:cNvPr id="8" name="Table 7"/>
          <p:cNvGraphicFramePr>
            <a:graphicFrameLocks noGrp="1"/>
          </p:cNvGraphicFramePr>
          <p:nvPr/>
        </p:nvGraphicFramePr>
        <p:xfrm>
          <a:off x="731520" y="3291840"/>
          <a:ext cx="10707624" cy="2926080"/>
        </p:xfrm>
        <a:graphic>
          <a:graphicData uri="http://schemas.openxmlformats.org/drawingml/2006/table">
            <a:tbl>
              <a:tblPr firstRow="1" bandRow="1">
                <a:tableStyleId>{5C22544A-7EE6-4342-B048-85BDC9FD1C3A}</a:tableStyleId>
              </a:tblPr>
              <a:tblGrid>
                <a:gridCol w="3410712"/>
                <a:gridCol w="2432304"/>
                <a:gridCol w="2432304"/>
                <a:gridCol w="2432304"/>
              </a:tblGrid>
              <a:tr h="585216">
                <a:tc>
                  <a:txBody>
                    <a:bodyPr/>
                    <a:lstStyle/>
                    <a:p>
                      <a:pPr>
                        <a:defRPr sz="1200" b="1">
                          <a:solidFill>
                            <a:srgbClr val="F8FAFC"/>
                          </a:solidFill>
                        </a:defRPr>
                      </a:pPr>
                      <a:r>
                        <a:t>Optimization Metric</a:t>
                      </a:r>
                    </a:p>
                  </a:txBody>
                  <a:tcPr>
                    <a:solidFill>
                      <a:srgbClr val="0F172A"/>
                    </a:solidFill>
                  </a:tcPr>
                </a:tc>
                <a:tc>
                  <a:txBody>
                    <a:bodyPr/>
                    <a:lstStyle/>
                    <a:p>
                      <a:pPr>
                        <a:defRPr sz="1200" b="1">
                          <a:solidFill>
                            <a:srgbClr val="F8FAFC"/>
                          </a:solidFill>
                        </a:defRPr>
                      </a:pPr>
                      <a:r>
                        <a:t>Centralized Cloud Baseline</a:t>
                      </a:r>
                    </a:p>
                  </a:txBody>
                  <a:tcPr>
                    <a:solidFill>
                      <a:srgbClr val="0F172A"/>
                    </a:solidFill>
                  </a:tcPr>
                </a:tc>
                <a:tc>
                  <a:txBody>
                    <a:bodyPr/>
                    <a:lstStyle/>
                    <a:p>
                      <a:pPr>
                        <a:defRPr sz="1200" b="1">
                          <a:solidFill>
                            <a:srgbClr val="F8FAFC"/>
                          </a:solidFill>
                        </a:defRPr>
                      </a:pPr>
                      <a:r>
                        <a:t>CLOUD-M7 (Optimal Placement)</a:t>
                      </a:r>
                    </a:p>
                  </a:txBody>
                  <a:tcPr>
                    <a:solidFill>
                      <a:srgbClr val="0F172A"/>
                    </a:solidFill>
                  </a:tcPr>
                </a:tc>
                <a:tc>
                  <a:txBody>
                    <a:bodyPr/>
                    <a:lstStyle/>
                    <a:p>
                      <a:pPr>
                        <a:defRPr sz="1200" b="1">
                          <a:solidFill>
                            <a:srgbClr val="0EA5E9"/>
                          </a:solidFill>
                        </a:defRPr>
                      </a:pPr>
                      <a:r>
                        <a:t>Performance Gain</a:t>
                      </a:r>
                    </a:p>
                  </a:txBody>
                  <a:tcPr>
                    <a:solidFill>
                      <a:srgbClr val="0F172A"/>
                    </a:solidFill>
                  </a:tcPr>
                </a:tc>
              </a:tr>
              <a:tr h="585216">
                <a:tc>
                  <a:txBody>
                    <a:bodyPr/>
                    <a:lstStyle/>
                    <a:p>
                      <a:pPr>
                        <a:defRPr sz="1200">
                          <a:solidFill>
                            <a:srgbClr val="F8FAFC"/>
                          </a:solidFill>
                        </a:defRPr>
                      </a:pPr>
                      <a:r>
                        <a:t>Network Bandwidth (Uplink)</a:t>
                      </a:r>
                    </a:p>
                  </a:txBody>
                  <a:tcPr>
                    <a:solidFill>
                      <a:srgbClr val="1E293B"/>
                    </a:solidFill>
                  </a:tcPr>
                </a:tc>
                <a:tc>
                  <a:txBody>
                    <a:bodyPr/>
                    <a:lstStyle/>
                    <a:p>
                      <a:pPr>
                        <a:defRPr sz="1200">
                          <a:solidFill>
                            <a:srgbClr val="F8FAFC"/>
                          </a:solidFill>
                        </a:defRPr>
                      </a:pPr>
                      <a:r>
                        <a:t>500.0 KB/s</a:t>
                      </a:r>
                    </a:p>
                  </a:txBody>
                  <a:tcPr>
                    <a:solidFill>
                      <a:srgbClr val="1E293B"/>
                    </a:solidFill>
                  </a:tcPr>
                </a:tc>
                <a:tc>
                  <a:txBody>
                    <a:bodyPr/>
                    <a:lstStyle/>
                    <a:p>
                      <a:pPr>
                        <a:defRPr sz="1200">
                          <a:solidFill>
                            <a:srgbClr val="F8FAFC"/>
                          </a:solidFill>
                        </a:defRPr>
                      </a:pPr>
                      <a:r>
                        <a:t>50.0 KB/s</a:t>
                      </a:r>
                    </a:p>
                  </a:txBody>
                  <a:tcPr>
                    <a:solidFill>
                      <a:srgbClr val="1E293B"/>
                    </a:solidFill>
                  </a:tcPr>
                </a:tc>
                <a:tc>
                  <a:txBody>
                    <a:bodyPr/>
                    <a:lstStyle/>
                    <a:p>
                      <a:pPr>
                        <a:defRPr sz="1200" b="1">
                          <a:solidFill>
                            <a:srgbClr val="10B981"/>
                          </a:solidFill>
                        </a:defRPr>
                      </a:pPr>
                      <a:r>
                        <a:t>90.0% Reduction (10x Savings)</a:t>
                      </a:r>
                    </a:p>
                  </a:txBody>
                  <a:tcPr>
                    <a:solidFill>
                      <a:srgbClr val="1E293B"/>
                    </a:solidFill>
                  </a:tcPr>
                </a:tc>
              </a:tr>
              <a:tr h="585216">
                <a:tc>
                  <a:txBody>
                    <a:bodyPr/>
                    <a:lstStyle/>
                    <a:p>
                      <a:pPr>
                        <a:defRPr sz="1200">
                          <a:solidFill>
                            <a:srgbClr val="F8FAFC"/>
                          </a:solidFill>
                        </a:defRPr>
                      </a:pPr>
                      <a:r>
                        <a:t>Processing Latency</a:t>
                      </a:r>
                    </a:p>
                  </a:txBody>
                  <a:tcPr>
                    <a:solidFill>
                      <a:srgbClr val="1A2639"/>
                    </a:solidFill>
                  </a:tcPr>
                </a:tc>
                <a:tc>
                  <a:txBody>
                    <a:bodyPr/>
                    <a:lstStyle/>
                    <a:p>
                      <a:pPr>
                        <a:defRPr sz="1200">
                          <a:solidFill>
                            <a:srgbClr val="F8FAFC"/>
                          </a:solidFill>
                        </a:defRPr>
                      </a:pPr>
                      <a:r>
                        <a:t>160.0 ms</a:t>
                      </a:r>
                    </a:p>
                  </a:txBody>
                  <a:tcPr>
                    <a:solidFill>
                      <a:srgbClr val="1A2639"/>
                    </a:solidFill>
                  </a:tcPr>
                </a:tc>
                <a:tc>
                  <a:txBody>
                    <a:bodyPr/>
                    <a:lstStyle/>
                    <a:p>
                      <a:pPr>
                        <a:defRPr sz="1200">
                          <a:solidFill>
                            <a:srgbClr val="F8FAFC"/>
                          </a:solidFill>
                        </a:defRPr>
                      </a:pPr>
                      <a:r>
                        <a:t>20.0 ms</a:t>
                      </a:r>
                    </a:p>
                  </a:txBody>
                  <a:tcPr>
                    <a:solidFill>
                      <a:srgbClr val="1A2639"/>
                    </a:solidFill>
                  </a:tcPr>
                </a:tc>
                <a:tc>
                  <a:txBody>
                    <a:bodyPr/>
                    <a:lstStyle/>
                    <a:p>
                      <a:pPr>
                        <a:defRPr sz="1200" b="1">
                          <a:solidFill>
                            <a:srgbClr val="10B981"/>
                          </a:solidFill>
                        </a:defRPr>
                      </a:pPr>
                      <a:r>
                        <a:t>87.5% Faster Local Triage</a:t>
                      </a:r>
                    </a:p>
                  </a:txBody>
                  <a:tcPr>
                    <a:solidFill>
                      <a:srgbClr val="1A2639"/>
                    </a:solidFill>
                  </a:tcPr>
                </a:tc>
              </a:tr>
              <a:tr h="585216">
                <a:tc>
                  <a:txBody>
                    <a:bodyPr/>
                    <a:lstStyle/>
                    <a:p>
                      <a:pPr>
                        <a:defRPr sz="1200">
                          <a:solidFill>
                            <a:srgbClr val="F8FAFC"/>
                          </a:solidFill>
                        </a:defRPr>
                      </a:pPr>
                      <a:r>
                        <a:t>Privacy Exposure Penalty</a:t>
                      </a:r>
                    </a:p>
                  </a:txBody>
                  <a:tcPr>
                    <a:solidFill>
                      <a:srgbClr val="1E293B"/>
                    </a:solidFill>
                  </a:tcPr>
                </a:tc>
                <a:tc>
                  <a:txBody>
                    <a:bodyPr/>
                    <a:lstStyle/>
                    <a:p>
                      <a:pPr>
                        <a:defRPr sz="1200">
                          <a:solidFill>
                            <a:srgbClr val="F8FAFC"/>
                          </a:solidFill>
                        </a:defRPr>
                      </a:pPr>
                      <a:r>
                        <a:t>120.0 points</a:t>
                      </a:r>
                    </a:p>
                  </a:txBody>
                  <a:tcPr>
                    <a:solidFill>
                      <a:srgbClr val="1E293B"/>
                    </a:solidFill>
                  </a:tcPr>
                </a:tc>
                <a:tc>
                  <a:txBody>
                    <a:bodyPr/>
                    <a:lstStyle/>
                    <a:p>
                      <a:pPr>
                        <a:defRPr sz="1200">
                          <a:solidFill>
                            <a:srgbClr val="F8FAFC"/>
                          </a:solidFill>
                        </a:defRPr>
                      </a:pPr>
                      <a:r>
                        <a:t>5.0 points</a:t>
                      </a:r>
                    </a:p>
                  </a:txBody>
                  <a:tcPr>
                    <a:solidFill>
                      <a:srgbClr val="1E293B"/>
                    </a:solidFill>
                  </a:tcPr>
                </a:tc>
                <a:tc>
                  <a:txBody>
                    <a:bodyPr/>
                    <a:lstStyle/>
                    <a:p>
                      <a:pPr>
                        <a:defRPr sz="1200" b="1">
                          <a:solidFill>
                            <a:srgbClr val="10B981"/>
                          </a:solidFill>
                        </a:defRPr>
                      </a:pPr>
                      <a:r>
                        <a:t>95.8% Exposure Mitigation</a:t>
                      </a:r>
                    </a:p>
                  </a:txBody>
                  <a:tcPr>
                    <a:solidFill>
                      <a:srgbClr val="1E293B"/>
                    </a:solidFill>
                  </a:tcPr>
                </a:tc>
              </a:tr>
              <a:tr h="585216">
                <a:tc>
                  <a:txBody>
                    <a:bodyPr/>
                    <a:lstStyle/>
                    <a:p>
                      <a:pPr>
                        <a:defRPr sz="1200">
                          <a:solidFill>
                            <a:srgbClr val="F8FAFC"/>
                          </a:solidFill>
                        </a:defRPr>
                      </a:pPr>
                      <a:r>
                        <a:t>Edge CPU Utilization</a:t>
                      </a:r>
                    </a:p>
                  </a:txBody>
                  <a:tcPr>
                    <a:solidFill>
                      <a:srgbClr val="1A2639"/>
                    </a:solidFill>
                  </a:tcPr>
                </a:tc>
                <a:tc>
                  <a:txBody>
                    <a:bodyPr/>
                    <a:lstStyle/>
                    <a:p>
                      <a:pPr>
                        <a:defRPr sz="1200">
                          <a:solidFill>
                            <a:srgbClr val="F8FAFC"/>
                          </a:solidFill>
                        </a:defRPr>
                      </a:pPr>
                      <a:r>
                        <a:t>150.0 mcores</a:t>
                      </a:r>
                    </a:p>
                  </a:txBody>
                  <a:tcPr>
                    <a:solidFill>
                      <a:srgbClr val="1A2639"/>
                    </a:solidFill>
                  </a:tcPr>
                </a:tc>
                <a:tc>
                  <a:txBody>
                    <a:bodyPr/>
                    <a:lstStyle/>
                    <a:p>
                      <a:pPr>
                        <a:defRPr sz="1200">
                          <a:solidFill>
                            <a:srgbClr val="F8FAFC"/>
                          </a:solidFill>
                        </a:defRPr>
                      </a:pPr>
                      <a:r>
                        <a:t>620.0 mcores</a:t>
                      </a:r>
                    </a:p>
                  </a:txBody>
                  <a:tcPr>
                    <a:solidFill>
                      <a:srgbClr val="1A2639"/>
                    </a:solidFill>
                  </a:tcPr>
                </a:tc>
                <a:tc>
                  <a:txBody>
                    <a:bodyPr/>
                    <a:lstStyle/>
                    <a:p>
                      <a:pPr>
                        <a:defRPr sz="1200" b="1">
                          <a:solidFill>
                            <a:srgbClr val="10B981"/>
                          </a:solidFill>
                        </a:defRPr>
                      </a:pPr>
                      <a:r>
                        <a:t>Feasible (&lt; 800 mcores limit)</a:t>
                      </a:r>
                    </a:p>
                  </a:txBody>
                  <a:tcPr>
                    <a:solidFill>
                      <a:srgbClr val="1A263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Novelty 2: Hyperparameter-Tuned Iterative Causal Discovery</a:t>
            </a:r>
          </a:p>
        </p:txBody>
      </p:sp>
      <p:sp>
        <p:nvSpPr>
          <p:cNvPr id="5" name="Rounded Rectangle 4"/>
          <p:cNvSpPr/>
          <p:nvPr/>
        </p:nvSpPr>
        <p:spPr>
          <a:xfrm>
            <a:off x="7315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65760"/>
          </a:xfrm>
          <a:prstGeom prst="rect">
            <a:avLst/>
          </a:prstGeom>
          <a:noFill/>
        </p:spPr>
        <p:txBody>
          <a:bodyPr wrap="square">
            <a:spAutoFit/>
          </a:bodyPr>
          <a:lstStyle/>
          <a:p>
            <a:pPr>
              <a:defRPr sz="1400" b="1">
                <a:solidFill>
                  <a:srgbClr val="0EA5E9"/>
                </a:solidFill>
              </a:defRPr>
            </a:pPr>
            <a:r>
              <a:t>Iterative Discovery Engine Formulation</a:t>
            </a:r>
          </a:p>
        </p:txBody>
      </p:sp>
      <p:sp>
        <p:nvSpPr>
          <p:cNvPr id="7" name="TextBox 6"/>
          <p:cNvSpPr txBox="1"/>
          <p:nvPr/>
        </p:nvSpPr>
        <p:spPr>
          <a:xfrm>
            <a:off x="914400" y="2011680"/>
            <a:ext cx="4846320" cy="4023360"/>
          </a:xfrm>
          <a:prstGeom prst="rect">
            <a:avLst/>
          </a:prstGeom>
          <a:noFill/>
        </p:spPr>
        <p:txBody>
          <a:bodyPr wrap="square">
            <a:spAutoFit/>
          </a:bodyPr>
          <a:lstStyle/>
          <a:p>
            <a:pPr>
              <a:defRPr sz="1300" b="1">
                <a:solidFill>
                  <a:srgbClr val="F59E0B"/>
                </a:solidFill>
              </a:defRPr>
            </a:pPr>
            <a:r>
              <a:t>Marginal Impact Comparison Condition:</a:t>
            </a:r>
            <a:br/>
          </a:p>
          <a:p>
            <a:pPr>
              <a:defRPr sz="1400" b="1">
                <a:solidFill>
                  <a:srgbClr val="0EA5E9"/>
                </a:solidFill>
              </a:defRPr>
            </a:pPr>
            <a:r>
              <a:t>ΔI_k = Impact(R_k) · e^(-λ · k) &gt;= ε</a:t>
            </a:r>
            <a:br/>
          </a:p>
          <a:p>
            <a:pPr>
              <a:spcBef>
                <a:spcPts val="400"/>
              </a:spcBef>
              <a:defRPr sz="1200">
                <a:solidFill>
                  <a:srgbClr val="F8FAFC"/>
                </a:solidFill>
              </a:defRPr>
            </a:pPr>
            <a:r>
              <a:t>• Hyperparameter K_max: Iteration ceiling (stops infinite traversal)</a:t>
            </a:r>
            <a:br/>
            <a:r>
              <a:t>• Hyperparameter ε: Diminishing return threshold</a:t>
            </a:r>
            <a:br/>
            <a:r>
              <a:t>• Hyperparameter λ: Exponential decay attenuation factor</a:t>
            </a:r>
            <a:br/>
            <a:br/>
            <a:r>
              <a:t>Forensic Superiority over Single-Pass BFS:</a:t>
            </a:r>
            <a:br/>
            <a:r>
              <a:t>Standard forensic algorithms terminate as soon as ONE root cause is discovered. Our engine subtracts previously traversed subgraphs and iteratively uncovers stealthy concurrent entry vectors.</a:t>
            </a:r>
          </a:p>
        </p:txBody>
      </p:sp>
      <p:sp>
        <p:nvSpPr>
          <p:cNvPr id="8" name="Rounded Rectangle 7"/>
          <p:cNvSpPr/>
          <p:nvPr/>
        </p:nvSpPr>
        <p:spPr>
          <a:xfrm>
            <a:off x="62179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65760"/>
          </a:xfrm>
          <a:prstGeom prst="rect">
            <a:avLst/>
          </a:prstGeom>
          <a:noFill/>
        </p:spPr>
        <p:txBody>
          <a:bodyPr wrap="square">
            <a:spAutoFit/>
          </a:bodyPr>
          <a:lstStyle/>
          <a:p>
            <a:pPr>
              <a:defRPr sz="1400" b="1">
                <a:solidFill>
                  <a:srgbClr val="0EA5E9"/>
                </a:solidFill>
              </a:defRPr>
            </a:pPr>
            <a:r>
              <a:t>Empirical Discovery of Concurrent Attack Roots</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300" b="1">
                <a:solidFill>
                  <a:srgbClr val="10B981"/>
                </a:solidFill>
              </a:defRPr>
            </a:pPr>
            <a:r>
              <a:t>Discovered Attack Roots Across Iterations:</a:t>
            </a:r>
            <a:br/>
          </a:p>
          <a:p>
            <a:pPr>
              <a:spcBef>
                <a:spcPts val="400"/>
              </a:spcBef>
              <a:defRPr sz="1200">
                <a:solidFill>
                  <a:srgbClr val="F8FAFC"/>
                </a:solidFill>
              </a:defRPr>
            </a:pPr>
            <a:r>
              <a:t>• Iteration 1 [Primary Vector]:</a:t>
            </a:r>
            <a:br/>
            <a:r>
              <a:t>   Host: edge-sensor-01 | /usr/bin/iot_agent</a:t>
            </a:r>
            <a:br/>
            <a:r>
              <a:t>   Path: 14 hops to Cloud | Impact: 102.30</a:t>
            </a:r>
            <a:br/>
            <a:r>
              <a:t>   Vector: IoT memory corruption vulnerability</a:t>
            </a:r>
            <a:br/>
            <a:br/>
            <a:r>
              <a:t>• Iteration 2 [Secondary Vector]:</a:t>
            </a:r>
            <a:br/>
            <a:r>
              <a:t>   Host: edge-sensor-02 | /usr/sbin/fw_updater</a:t>
            </a:r>
            <a:br/>
            <a:r>
              <a:t>   Path: 11 hops to Cloud | Impact: 10.24</a:t>
            </a:r>
            <a:br/>
            <a:r>
              <a:t>   Vector: Concurrent firmware command-injection</a:t>
            </a:r>
            <a:br/>
            <a:br/>
            <a:r>
              <a:t>• Iteration 3 [Secondary Vector]:</a:t>
            </a:r>
            <a:br/>
            <a:r>
              <a:t>   Host: fog-gateway-01 | cloud_service_account.json</a:t>
            </a:r>
            <a:br/>
            <a:r>
              <a:t>   Path: 7 hops to Cloud | Impact: 3.77</a:t>
            </a:r>
            <a:br/>
            <a:r>
              <a:t>   Vector: Stolen Fog IAM credential token</a:t>
            </a:r>
            <a:br/>
            <a:br/>
            <a:r>
              <a:t>[*] Convergence: Terminates cleanly at iteration 4 when ΔI_4 &lt; 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Novelty 3: Interconnected Multi-Sensor Graph &amp; Choke-Point Analysis</a:t>
            </a:r>
          </a:p>
        </p:txBody>
      </p:sp>
      <p:sp>
        <p:nvSpPr>
          <p:cNvPr id="5" name="Rounded Rectangle 4"/>
          <p:cNvSpPr/>
          <p:nvPr/>
        </p:nvSpPr>
        <p:spPr>
          <a:xfrm>
            <a:off x="7315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65760"/>
          </a:xfrm>
          <a:prstGeom prst="rect">
            <a:avLst/>
          </a:prstGeom>
          <a:noFill/>
        </p:spPr>
        <p:txBody>
          <a:bodyPr wrap="square">
            <a:spAutoFit/>
          </a:bodyPr>
          <a:lstStyle/>
          <a:p>
            <a:pPr>
              <a:defRPr sz="1400" b="1">
                <a:solidFill>
                  <a:srgbClr val="0EA5E9"/>
                </a:solidFill>
              </a:defRPr>
            </a:pPr>
            <a:r>
              <a:t>Convergent Multi-Sensor Attack Graph</a:t>
            </a:r>
          </a:p>
        </p:txBody>
      </p:sp>
      <p:sp>
        <p:nvSpPr>
          <p:cNvPr id="7" name="TextBox 6"/>
          <p:cNvSpPr txBox="1"/>
          <p:nvPr/>
        </p:nvSpPr>
        <p:spPr>
          <a:xfrm>
            <a:off x="914400" y="2011680"/>
            <a:ext cx="4846320" cy="4023360"/>
          </a:xfrm>
          <a:prstGeom prst="rect">
            <a:avLst/>
          </a:prstGeom>
          <a:noFill/>
        </p:spPr>
        <p:txBody>
          <a:bodyPr wrap="square">
            <a:spAutoFit/>
          </a:bodyPr>
          <a:lstStyle/>
          <a:p>
            <a:pPr>
              <a:defRPr sz="1300" b="1">
                <a:solidFill>
                  <a:srgbClr val="0EA5E9"/>
                </a:solidFill>
              </a:defRPr>
            </a:pPr>
            <a:r>
              <a:t>Tracing Convergent Attack Trajectories:</a:t>
            </a:r>
            <a:br/>
          </a:p>
          <a:p>
            <a:pPr>
              <a:spcBef>
                <a:spcPts val="400"/>
              </a:spcBef>
              <a:defRPr sz="1200">
                <a:solidFill>
                  <a:srgbClr val="F8FAFC"/>
                </a:solidFill>
              </a:defRPr>
            </a:pPr>
            <a:r>
              <a:t>• In real IoT environments, attacks originate from multiple sensors simultaneously.</a:t>
            </a:r>
            <a:br/>
            <a:br/>
            <a:r>
              <a:t>• Engine discovers all paths from Edge sensors (edge-sensor-01, edge-sensor-02, edge-actuator-03) through Fog to Cloud target.</a:t>
            </a:r>
            <a:br/>
            <a:br/>
            <a:r>
              <a:t>• Articulation Cut-Vertex Detection:</a:t>
            </a:r>
            <a:br/>
            <a:r>
              <a:t>   Computes graph articulation bottlenecks where all divergent sensor attack paths MUST converge.</a:t>
            </a:r>
            <a:br/>
            <a:br/>
            <a:r>
              <a:t>   Containment Efficiency Formulation:</a:t>
            </a:r>
            <a:br/>
            <a:r>
              <a:t>   E_cut(v) = |{p ∈ P_multi | v ∈ p}| / |P_multi|</a:t>
            </a:r>
          </a:p>
        </p:txBody>
      </p:sp>
      <p:sp>
        <p:nvSpPr>
          <p:cNvPr id="8" name="Rounded Rectangle 7"/>
          <p:cNvSpPr/>
          <p:nvPr/>
        </p:nvSpPr>
        <p:spPr>
          <a:xfrm>
            <a:off x="62179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65760"/>
          </a:xfrm>
          <a:prstGeom prst="rect">
            <a:avLst/>
          </a:prstGeom>
          <a:noFill/>
        </p:spPr>
        <p:txBody>
          <a:bodyPr wrap="square">
            <a:spAutoFit/>
          </a:bodyPr>
          <a:lstStyle/>
          <a:p>
            <a:pPr>
              <a:defRPr sz="1400" b="1">
                <a:solidFill>
                  <a:srgbClr val="0EA5E9"/>
                </a:solidFill>
              </a:defRPr>
            </a:pPr>
            <a:r>
              <a:t>Critical Choke-Point Discovery &amp; Containment</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300" b="1">
                <a:solidFill>
                  <a:srgbClr val="F59E0B"/>
                </a:solidFill>
              </a:defRPr>
            </a:pPr>
            <a:r>
              <a:t>Discovered Articulation Bottleneck:</a:t>
            </a:r>
            <a:br/>
          </a:p>
          <a:p>
            <a:pPr>
              <a:spcBef>
                <a:spcPts val="400"/>
              </a:spcBef>
              <a:defRPr sz="1200">
                <a:solidFill>
                  <a:srgbClr val="F8FAFC"/>
                </a:solidFill>
              </a:defRPr>
            </a:pPr>
            <a:r>
              <a:t>[*] Identified Choke-Point Node:</a:t>
            </a:r>
            <a:br/>
            <a:r>
              <a:t>   Tier: [FOG] | Host: 'fog-gateway-01'</a:t>
            </a:r>
            <a:br/>
            <a:r>
              <a:t>   Action: Socket 'connect' to Cloud Ingress</a:t>
            </a:r>
            <a:br/>
            <a:r>
              <a:t>   Containment Efficiency: 100.0% (Severs 3/3 paths)</a:t>
            </a:r>
            <a:br/>
            <a:r>
              <a:t>   Is Articulation Cut-Point: TRUE</a:t>
            </a:r>
            <a:br/>
            <a:br/>
            <a:r>
              <a:t>Practical Incident Response Impact:</a:t>
            </a:r>
            <a:br/>
            <a:r>
              <a:t>• Instead of rushing to patch dozens of remote edge sensors in the field during an active breach...</a:t>
            </a:r>
            <a:br/>
            <a:br/>
            <a:r>
              <a:t>• Security teams can isolate or block JUST ONE choke-point on the Fog gateway to achieve 100% containment of all multi-sensor attack paths!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Visual Forensic Artifacts &amp; Reconstructed Attack Graphs</a:t>
            </a:r>
          </a:p>
        </p:txBody>
      </p:sp>
      <p:sp>
        <p:nvSpPr>
          <p:cNvPr id="5" name="Rounded Rectangle 4"/>
          <p:cNvSpPr/>
          <p:nvPr/>
        </p:nvSpPr>
        <p:spPr>
          <a:xfrm>
            <a:off x="7315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65760"/>
          </a:xfrm>
          <a:prstGeom prst="rect">
            <a:avLst/>
          </a:prstGeom>
          <a:noFill/>
        </p:spPr>
        <p:txBody>
          <a:bodyPr wrap="square">
            <a:spAutoFit/>
          </a:bodyPr>
          <a:lstStyle/>
          <a:p>
            <a:pPr>
              <a:defRPr sz="1400" b="1">
                <a:solidFill>
                  <a:srgbClr val="0EA5E9"/>
                </a:solidFill>
              </a:defRPr>
            </a:pPr>
            <a:r>
              <a:t>Figure 1: Cross-Tier 14-Hop Attack Path</a:t>
            </a:r>
          </a:p>
        </p:txBody>
      </p:sp>
      <p:pic>
        <p:nvPicPr>
          <p:cNvPr id="7" name="Picture 6" descr="attack_path_reconstruction.png"/>
          <p:cNvPicPr>
            <a:picLocks noChangeAspect="1"/>
          </p:cNvPicPr>
          <p:nvPr/>
        </p:nvPicPr>
        <p:blipFill>
          <a:blip r:embed="rId2"/>
          <a:stretch>
            <a:fillRect/>
          </a:stretch>
        </p:blipFill>
        <p:spPr>
          <a:xfrm>
            <a:off x="822960" y="2011680"/>
            <a:ext cx="5029200" cy="3657600"/>
          </a:xfrm>
          <a:prstGeom prst="rect">
            <a:avLst/>
          </a:prstGeom>
        </p:spPr>
      </p:pic>
      <p:sp>
        <p:nvSpPr>
          <p:cNvPr id="8" name="TextBox 7"/>
          <p:cNvSpPr txBox="1"/>
          <p:nvPr/>
        </p:nvSpPr>
        <p:spPr>
          <a:xfrm>
            <a:off x="822960" y="5760720"/>
            <a:ext cx="5029200" cy="457200"/>
          </a:xfrm>
          <a:prstGeom prst="rect">
            <a:avLst/>
          </a:prstGeom>
          <a:noFill/>
        </p:spPr>
        <p:txBody>
          <a:bodyPr wrap="none">
            <a:spAutoFit/>
          </a:bodyPr>
          <a:lstStyle/>
          <a:p>
            <a:pPr>
              <a:defRPr sz="1100">
                <a:solidFill>
                  <a:srgbClr val="94A3B8"/>
                </a:solidFill>
              </a:defRPr>
            </a:pPr>
            <a:r>
              <a:t>Edge (Green) -&gt; Fog (Orange) -&gt; Cloud (Purple). 80% noise pruned.</a:t>
            </a:r>
          </a:p>
        </p:txBody>
      </p:sp>
      <p:sp>
        <p:nvSpPr>
          <p:cNvPr id="9" name="Rounded Rectangle 8"/>
          <p:cNvSpPr/>
          <p:nvPr/>
        </p:nvSpPr>
        <p:spPr>
          <a:xfrm>
            <a:off x="62179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65760"/>
          </a:xfrm>
          <a:prstGeom prst="rect">
            <a:avLst/>
          </a:prstGeom>
          <a:noFill/>
        </p:spPr>
        <p:txBody>
          <a:bodyPr wrap="square">
            <a:spAutoFit/>
          </a:bodyPr>
          <a:lstStyle/>
          <a:p>
            <a:pPr>
              <a:defRPr sz="1400" b="1">
                <a:solidFill>
                  <a:srgbClr val="0EA5E9"/>
                </a:solidFill>
              </a:defRPr>
            </a:pPr>
            <a:r>
              <a:t>Figure 2: Multi-Sensor Paths &amp; Gold Choke Points</a:t>
            </a:r>
          </a:p>
        </p:txBody>
      </p:sp>
      <p:pic>
        <p:nvPicPr>
          <p:cNvPr id="11" name="Picture 10" descr="interconnected_attack_paths.png"/>
          <p:cNvPicPr>
            <a:picLocks noChangeAspect="1"/>
          </p:cNvPicPr>
          <p:nvPr/>
        </p:nvPicPr>
        <p:blipFill>
          <a:blip r:embed="rId3"/>
          <a:stretch>
            <a:fillRect/>
          </a:stretch>
        </p:blipFill>
        <p:spPr>
          <a:xfrm>
            <a:off x="6309360" y="2011680"/>
            <a:ext cx="5029200" cy="3657600"/>
          </a:xfrm>
          <a:prstGeom prst="rect">
            <a:avLst/>
          </a:prstGeom>
        </p:spPr>
      </p:pic>
      <p:sp>
        <p:nvSpPr>
          <p:cNvPr id="12" name="TextBox 11"/>
          <p:cNvSpPr txBox="1"/>
          <p:nvPr/>
        </p:nvSpPr>
        <p:spPr>
          <a:xfrm>
            <a:off x="6309360" y="5760720"/>
            <a:ext cx="5029200" cy="457200"/>
          </a:xfrm>
          <a:prstGeom prst="rect">
            <a:avLst/>
          </a:prstGeom>
          <a:noFill/>
        </p:spPr>
        <p:txBody>
          <a:bodyPr wrap="none">
            <a:spAutoFit/>
          </a:bodyPr>
          <a:lstStyle/>
          <a:p>
            <a:pPr>
              <a:defRPr sz="1100">
                <a:solidFill>
                  <a:srgbClr val="94A3B8"/>
                </a:solidFill>
              </a:defRPr>
            </a:pPr>
            <a:r>
              <a:t>Multiple edge sensors converging to cloud. Gold nodes = 100% containment choke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Quantitative Results &amp; Automated Test Verification</a:t>
            </a:r>
          </a:p>
        </p:txBody>
      </p:sp>
      <p:sp>
        <p:nvSpPr>
          <p:cNvPr id="5" name="Rounded Rectangle 4"/>
          <p:cNvSpPr/>
          <p:nvPr/>
        </p:nvSpPr>
        <p:spPr>
          <a:xfrm>
            <a:off x="7315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65760"/>
          </a:xfrm>
          <a:prstGeom prst="rect">
            <a:avLst/>
          </a:prstGeom>
          <a:noFill/>
        </p:spPr>
        <p:txBody>
          <a:bodyPr wrap="square">
            <a:spAutoFit/>
          </a:bodyPr>
          <a:lstStyle/>
          <a:p>
            <a:pPr>
              <a:defRPr sz="1400" b="1">
                <a:solidFill>
                  <a:srgbClr val="0EA5E9"/>
                </a:solidFill>
              </a:defRPr>
            </a:pPr>
            <a:r>
              <a:t>Empirical Performance Summary</a:t>
            </a:r>
          </a:p>
        </p:txBody>
      </p:sp>
      <p:sp>
        <p:nvSpPr>
          <p:cNvPr id="7" name="TextBox 6"/>
          <p:cNvSpPr txBox="1"/>
          <p:nvPr/>
        </p:nvSpPr>
        <p:spPr>
          <a:xfrm>
            <a:off x="914400" y="2011680"/>
            <a:ext cx="4846320" cy="4023360"/>
          </a:xfrm>
          <a:prstGeom prst="rect">
            <a:avLst/>
          </a:prstGeom>
          <a:noFill/>
        </p:spPr>
        <p:txBody>
          <a:bodyPr wrap="square">
            <a:spAutoFit/>
          </a:bodyPr>
          <a:lstStyle/>
          <a:p>
            <a:pPr>
              <a:defRPr sz="1300" b="1">
                <a:solidFill>
                  <a:srgbClr val="10B981"/>
                </a:solidFill>
              </a:defRPr>
            </a:pPr>
            <a:r>
              <a:t>Key Quantitative Achievements:</a:t>
            </a:r>
            <a:br/>
          </a:p>
          <a:p>
            <a:pPr>
              <a:spcBef>
                <a:spcPts val="600"/>
              </a:spcBef>
              <a:defRPr sz="1200">
                <a:solidFill>
                  <a:srgbClr val="F8FAFC"/>
                </a:solidFill>
              </a:defRPr>
            </a:pPr>
            <a:r>
              <a:t>• Bandwidth Reduction: 90.0% (500 KB/s -&gt; 50 KB/s)</a:t>
            </a:r>
            <a:br/>
            <a:r>
              <a:t>• Latency Reduction: 87.5% (160 ms -&gt; 20 ms)</a:t>
            </a:r>
            <a:br/>
            <a:r>
              <a:t>• Background Noise Pruning: 80.0% pruned away</a:t>
            </a:r>
            <a:br/>
            <a:r>
              <a:t>• Reconstructed Attack Path: Exactly 14 causal hops</a:t>
            </a:r>
            <a:br/>
            <a:r>
              <a:t>• Choke-Point Containment: 100.0% efficiency (1 Fog node)</a:t>
            </a:r>
            <a:br/>
            <a:r>
              <a:t>• Attack Vectors Uncovered: 3 distinct vectors (Iterative engine)</a:t>
            </a:r>
            <a:br/>
            <a:r>
              <a:t>• Edge CPU Feasibility: 620 / 800 mcores (Within budget)</a:t>
            </a:r>
          </a:p>
        </p:txBody>
      </p:sp>
      <p:sp>
        <p:nvSpPr>
          <p:cNvPr id="8" name="Rounded Rectangle 7"/>
          <p:cNvSpPr/>
          <p:nvPr/>
        </p:nvSpPr>
        <p:spPr>
          <a:xfrm>
            <a:off x="6217920" y="1463040"/>
            <a:ext cx="5212080" cy="4754880"/>
          </a:xfrm>
          <a:prstGeom prst="roundRect">
            <a:avLst/>
          </a:prstGeom>
          <a:solidFill>
            <a:srgbClr val="1A2639"/>
          </a:solidFill>
          <a:ln w="19050">
            <a:solidFill>
              <a:srgbClr val="2D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65760"/>
          </a:xfrm>
          <a:prstGeom prst="rect">
            <a:avLst/>
          </a:prstGeom>
          <a:noFill/>
        </p:spPr>
        <p:txBody>
          <a:bodyPr wrap="square">
            <a:spAutoFit/>
          </a:bodyPr>
          <a:lstStyle/>
          <a:p>
            <a:pPr>
              <a:defRPr sz="1400" b="1">
                <a:solidFill>
                  <a:srgbClr val="0EA5E9"/>
                </a:solidFill>
              </a:defRPr>
            </a:pPr>
            <a:r>
              <a:t>Automated Pytest Suite (13/13 Passing)</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300" b="1">
                <a:solidFill>
                  <a:srgbClr val="0EA5E9"/>
                </a:solidFill>
              </a:defRPr>
            </a:pPr>
            <a:r>
              <a:t>Strict Software Engineering Quality Standards:</a:t>
            </a:r>
            <a:br/>
          </a:p>
          <a:p>
            <a:pPr>
              <a:spcBef>
                <a:spcPts val="400"/>
              </a:spcBef>
              <a:defRPr sz="1100">
                <a:solidFill>
                  <a:srgbClr val="F8FAFC"/>
                </a:solidFill>
              </a:defRPr>
            </a:pPr>
            <a:r>
              <a:t>PASSED: test_end_to_end_attack_reconstruction</a:t>
            </a:r>
            <a:br/>
            <a:r>
              <a:t>PASSED: test_cross_tier_network_correlation</a:t>
            </a:r>
            <a:br/>
            <a:r>
              <a:t>PASSED: test_backward_and_forward_traversal</a:t>
            </a:r>
            <a:br/>
            <a:r>
              <a:t>PASSED: test_multi_sensor_paths_to_cloud</a:t>
            </a:r>
            <a:br/>
            <a:r>
              <a:t>PASSED: test_choke_point_containment_bottlenecks</a:t>
            </a:r>
            <a:br/>
            <a:r>
              <a:t>PASSED: test_iterative_discovery_multi_vector</a:t>
            </a:r>
            <a:br/>
            <a:r>
              <a:t>PASSED: test_hyperparameter_max_iterations_ceiling</a:t>
            </a:r>
            <a:br/>
            <a:r>
              <a:t>PASSED: test_hyperparameter_epsilon_convergence</a:t>
            </a:r>
            <a:br/>
            <a:r>
              <a:t>PASSED: test_placement_feasibility_constraint</a:t>
            </a:r>
            <a:br/>
            <a:r>
              <a:t>PASSED: test_optimal_placement_discovery</a:t>
            </a:r>
            <a:br/>
            <a:r>
              <a:t>PASSED: test_event_initialization_and_hash</a:t>
            </a:r>
            <a:br/>
            <a:r>
              <a:t>PASSED: test_serialization_and_deserialization</a:t>
            </a:r>
            <a:br/>
            <a:r>
              <a:t>PASSED: test_network_tuple_extraction</a:t>
            </a:r>
            <a:br/>
            <a:br/>
            <a:r>
              <a:t>[*] 100% Passing in 0.88s on Python 3.11.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EA5E9"/>
                </a:solidFill>
              </a:defRPr>
            </a:pPr>
            <a:r>
              <a:t>CLOUD-M7 CAPSTONE REVIEW 1</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2-Year Capstone Project Roadmap (Phase 1 to Phase 4)</a:t>
            </a:r>
          </a:p>
        </p:txBody>
      </p:sp>
      <p:sp>
        <p:nvSpPr>
          <p:cNvPr id="5" name="Rounded Rectangle 4"/>
          <p:cNvSpPr/>
          <p:nvPr/>
        </p:nvSpPr>
        <p:spPr>
          <a:xfrm>
            <a:off x="731520" y="1463040"/>
            <a:ext cx="2468880" cy="4754880"/>
          </a:xfrm>
          <a:prstGeom prst="roundRect">
            <a:avLst/>
          </a:prstGeom>
          <a:solidFill>
            <a:srgbClr val="1A263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103120" cy="365760"/>
          </a:xfrm>
          <a:prstGeom prst="rect">
            <a:avLst/>
          </a:prstGeom>
          <a:noFill/>
        </p:spPr>
        <p:txBody>
          <a:bodyPr wrap="square">
            <a:spAutoFit/>
          </a:bodyPr>
          <a:lstStyle/>
          <a:p>
            <a:pPr>
              <a:defRPr sz="1400" b="1">
                <a:solidFill>
                  <a:srgbClr val="0EA5E9"/>
                </a:solidFill>
              </a:defRPr>
            </a:pPr>
            <a:r>
              <a:t>Phase 1: Review 1</a:t>
            </a:r>
          </a:p>
        </p:txBody>
      </p:sp>
      <p:sp>
        <p:nvSpPr>
          <p:cNvPr id="7" name="TextBox 6"/>
          <p:cNvSpPr txBox="1"/>
          <p:nvPr/>
        </p:nvSpPr>
        <p:spPr>
          <a:xfrm>
            <a:off x="914400" y="1965960"/>
            <a:ext cx="2103120" cy="274320"/>
          </a:xfrm>
          <a:prstGeom prst="rect">
            <a:avLst/>
          </a:prstGeom>
          <a:noFill/>
        </p:spPr>
        <p:txBody>
          <a:bodyPr wrap="none">
            <a:spAutoFit/>
          </a:bodyPr>
          <a:lstStyle/>
          <a:p>
            <a:pPr>
              <a:defRPr sz="1100" b="1">
                <a:solidFill>
                  <a:srgbClr val="10B981"/>
                </a:solidFill>
              </a:defRPr>
            </a:pPr>
            <a:r>
              <a:t>[COMPLETED]</a:t>
            </a:r>
          </a:p>
        </p:txBody>
      </p:sp>
      <p:sp>
        <p:nvSpPr>
          <p:cNvPr id="8" name="TextBox 7"/>
          <p:cNvSpPr txBox="1"/>
          <p:nvPr/>
        </p:nvSpPr>
        <p:spPr>
          <a:xfrm>
            <a:off x="914400" y="2286000"/>
            <a:ext cx="2103120" cy="3749040"/>
          </a:xfrm>
          <a:prstGeom prst="rect">
            <a:avLst/>
          </a:prstGeom>
          <a:noFill/>
        </p:spPr>
        <p:txBody>
          <a:bodyPr wrap="square">
            <a:spAutoFit/>
          </a:bodyPr>
          <a:lstStyle/>
          <a:p>
            <a:pPr>
              <a:defRPr sz="1100">
                <a:solidFill>
                  <a:srgbClr val="F8FAFC"/>
                </a:solidFill>
              </a:defRPr>
            </a:pPr>
            <a:r>
              <a:t>• Formal Event Schema E_i</a:t>
            </a:r>
            <a:br/>
            <a:r>
              <a:t>• SHA-256 integrity hash</a:t>
            </a:r>
            <a:br/>
            <a:r>
              <a:t>• Placement Cost Optimizer</a:t>
            </a:r>
            <a:br/>
            <a:r>
              <a:t>• Causal Graph Fusion</a:t>
            </a:r>
            <a:br/>
            <a:r>
              <a:t>• Iterative Discovery Engine</a:t>
            </a:r>
            <a:br/>
            <a:r>
              <a:t>• Multi-Sensor Choke Points</a:t>
            </a:r>
            <a:br/>
            <a:r>
              <a:t>• 13/13 Pytest Suite</a:t>
            </a:r>
            <a:br/>
            <a:r>
              <a:t>• GitHub Repo Setup</a:t>
            </a:r>
          </a:p>
        </p:txBody>
      </p:sp>
      <p:sp>
        <p:nvSpPr>
          <p:cNvPr id="9" name="Rounded Rectangle 8"/>
          <p:cNvSpPr/>
          <p:nvPr/>
        </p:nvSpPr>
        <p:spPr>
          <a:xfrm>
            <a:off x="3474720" y="1463040"/>
            <a:ext cx="2468880" cy="4754880"/>
          </a:xfrm>
          <a:prstGeom prst="roundRect">
            <a:avLst/>
          </a:prstGeom>
          <a:solidFill>
            <a:srgbClr val="1A2639"/>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600200"/>
            <a:ext cx="2103120" cy="365760"/>
          </a:xfrm>
          <a:prstGeom prst="rect">
            <a:avLst/>
          </a:prstGeom>
          <a:noFill/>
        </p:spPr>
        <p:txBody>
          <a:bodyPr wrap="square">
            <a:spAutoFit/>
          </a:bodyPr>
          <a:lstStyle/>
          <a:p>
            <a:pPr>
              <a:defRPr sz="1400" b="1">
                <a:solidFill>
                  <a:srgbClr val="0EA5E9"/>
                </a:solidFill>
              </a:defRPr>
            </a:pPr>
            <a:r>
              <a:t>Phase 2: Review 2</a:t>
            </a:r>
          </a:p>
        </p:txBody>
      </p:sp>
      <p:sp>
        <p:nvSpPr>
          <p:cNvPr id="11" name="TextBox 10"/>
          <p:cNvSpPr txBox="1"/>
          <p:nvPr/>
        </p:nvSpPr>
        <p:spPr>
          <a:xfrm>
            <a:off x="3657600" y="1965960"/>
            <a:ext cx="2103120" cy="274320"/>
          </a:xfrm>
          <a:prstGeom prst="rect">
            <a:avLst/>
          </a:prstGeom>
          <a:noFill/>
        </p:spPr>
        <p:txBody>
          <a:bodyPr wrap="none">
            <a:spAutoFit/>
          </a:bodyPr>
          <a:lstStyle/>
          <a:p>
            <a:pPr>
              <a:defRPr sz="1100" b="1">
                <a:solidFill>
                  <a:srgbClr val="0EA5E9"/>
                </a:solidFill>
              </a:defRPr>
            </a:pPr>
            <a:r>
              <a:t>[Semester 6]</a:t>
            </a:r>
          </a:p>
        </p:txBody>
      </p:sp>
      <p:sp>
        <p:nvSpPr>
          <p:cNvPr id="12" name="TextBox 11"/>
          <p:cNvSpPr txBox="1"/>
          <p:nvPr/>
        </p:nvSpPr>
        <p:spPr>
          <a:xfrm>
            <a:off x="3657600" y="2286000"/>
            <a:ext cx="2103120" cy="3749040"/>
          </a:xfrm>
          <a:prstGeom prst="rect">
            <a:avLst/>
          </a:prstGeom>
          <a:noFill/>
        </p:spPr>
        <p:txBody>
          <a:bodyPr wrap="square">
            <a:spAutoFit/>
          </a:bodyPr>
          <a:lstStyle/>
          <a:p>
            <a:pPr>
              <a:defRPr sz="1100">
                <a:solidFill>
                  <a:srgbClr val="F8FAFC"/>
                </a:solidFill>
              </a:defRPr>
            </a:pPr>
            <a:r>
              <a:t>• Public Datasets:</a:t>
            </a:r>
            <a:br/>
            <a:r>
              <a:t>  - DARPA OpTC</a:t>
            </a:r>
            <a:br/>
            <a:r>
              <a:t>  - DARPA TC (Cadets)</a:t>
            </a:r>
            <a:br/>
            <a:r>
              <a:t>  - TON_IoT</a:t>
            </a:r>
            <a:br/>
            <a:r>
              <a:t>• Docker Multi-Tier Testbed</a:t>
            </a:r>
            <a:br/>
            <a:r>
              <a:t>• Linux eBPF Kernel Hooks</a:t>
            </a:r>
            <a:br/>
            <a:r>
              <a:t>• Merkle-Tree Hash Chaining</a:t>
            </a:r>
          </a:p>
        </p:txBody>
      </p:sp>
      <p:sp>
        <p:nvSpPr>
          <p:cNvPr id="13" name="Rounded Rectangle 12"/>
          <p:cNvSpPr/>
          <p:nvPr/>
        </p:nvSpPr>
        <p:spPr>
          <a:xfrm>
            <a:off x="6217920" y="1463040"/>
            <a:ext cx="2468880" cy="4754880"/>
          </a:xfrm>
          <a:prstGeom prst="roundRect">
            <a:avLst/>
          </a:prstGeom>
          <a:solidFill>
            <a:srgbClr val="1A263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600200"/>
            <a:ext cx="2103120" cy="365760"/>
          </a:xfrm>
          <a:prstGeom prst="rect">
            <a:avLst/>
          </a:prstGeom>
          <a:noFill/>
        </p:spPr>
        <p:txBody>
          <a:bodyPr wrap="square">
            <a:spAutoFit/>
          </a:bodyPr>
          <a:lstStyle/>
          <a:p>
            <a:pPr>
              <a:defRPr sz="1400" b="1">
                <a:solidFill>
                  <a:srgbClr val="0EA5E9"/>
                </a:solidFill>
              </a:defRPr>
            </a:pPr>
            <a:r>
              <a:t>Phase 3: Review 3</a:t>
            </a:r>
          </a:p>
        </p:txBody>
      </p:sp>
      <p:sp>
        <p:nvSpPr>
          <p:cNvPr id="15" name="TextBox 14"/>
          <p:cNvSpPr txBox="1"/>
          <p:nvPr/>
        </p:nvSpPr>
        <p:spPr>
          <a:xfrm>
            <a:off x="6400800" y="1965960"/>
            <a:ext cx="2103120" cy="274320"/>
          </a:xfrm>
          <a:prstGeom prst="rect">
            <a:avLst/>
          </a:prstGeom>
          <a:noFill/>
        </p:spPr>
        <p:txBody>
          <a:bodyPr wrap="none">
            <a:spAutoFit/>
          </a:bodyPr>
          <a:lstStyle/>
          <a:p>
            <a:pPr>
              <a:defRPr sz="1100" b="1">
                <a:solidFill>
                  <a:srgbClr val="F59E0B"/>
                </a:solidFill>
              </a:defRPr>
            </a:pPr>
            <a:r>
              <a:t>[Semester 7]</a:t>
            </a:r>
          </a:p>
        </p:txBody>
      </p:sp>
      <p:sp>
        <p:nvSpPr>
          <p:cNvPr id="16" name="TextBox 15"/>
          <p:cNvSpPr txBox="1"/>
          <p:nvPr/>
        </p:nvSpPr>
        <p:spPr>
          <a:xfrm>
            <a:off x="6400800" y="2286000"/>
            <a:ext cx="2103120" cy="3749040"/>
          </a:xfrm>
          <a:prstGeom prst="rect">
            <a:avLst/>
          </a:prstGeom>
          <a:noFill/>
        </p:spPr>
        <p:txBody>
          <a:bodyPr wrap="square">
            <a:spAutoFit/>
          </a:bodyPr>
          <a:lstStyle/>
          <a:p>
            <a:pPr>
              <a:defRPr sz="1100">
                <a:solidFill>
                  <a:srgbClr val="F8FAFC"/>
                </a:solidFill>
              </a:defRPr>
            </a:pPr>
            <a:r>
              <a:t>• Deep Reinforcement Learning Placement Agent (PPO/DQN)</a:t>
            </a:r>
            <a:br/>
            <a:r>
              <a:t>• Dynamic real-time network adaptation</a:t>
            </a:r>
            <a:br/>
            <a:r>
              <a:t>• Graph Neural Network (GNN) anomalous path scorer</a:t>
            </a:r>
          </a:p>
        </p:txBody>
      </p:sp>
      <p:sp>
        <p:nvSpPr>
          <p:cNvPr id="17" name="Rounded Rectangle 16"/>
          <p:cNvSpPr/>
          <p:nvPr/>
        </p:nvSpPr>
        <p:spPr>
          <a:xfrm>
            <a:off x="8961120" y="1463040"/>
            <a:ext cx="2468880" cy="4754880"/>
          </a:xfrm>
          <a:prstGeom prst="roundRect">
            <a:avLst/>
          </a:prstGeom>
          <a:solidFill>
            <a:srgbClr val="1A2639"/>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600200"/>
            <a:ext cx="2103120" cy="365760"/>
          </a:xfrm>
          <a:prstGeom prst="rect">
            <a:avLst/>
          </a:prstGeom>
          <a:noFill/>
        </p:spPr>
        <p:txBody>
          <a:bodyPr wrap="square">
            <a:spAutoFit/>
          </a:bodyPr>
          <a:lstStyle/>
          <a:p>
            <a:pPr>
              <a:defRPr sz="1400" b="1">
                <a:solidFill>
                  <a:srgbClr val="0EA5E9"/>
                </a:solidFill>
              </a:defRPr>
            </a:pPr>
            <a:r>
              <a:t>Phase 4: Final Review</a:t>
            </a:r>
          </a:p>
        </p:txBody>
      </p:sp>
      <p:sp>
        <p:nvSpPr>
          <p:cNvPr id="19" name="TextBox 18"/>
          <p:cNvSpPr txBox="1"/>
          <p:nvPr/>
        </p:nvSpPr>
        <p:spPr>
          <a:xfrm>
            <a:off x="9144000" y="1965960"/>
            <a:ext cx="2103120" cy="274320"/>
          </a:xfrm>
          <a:prstGeom prst="rect">
            <a:avLst/>
          </a:prstGeom>
          <a:noFill/>
        </p:spPr>
        <p:txBody>
          <a:bodyPr wrap="none">
            <a:spAutoFit/>
          </a:bodyPr>
          <a:lstStyle/>
          <a:p>
            <a:pPr>
              <a:defRPr sz="1100" b="1">
                <a:solidFill>
                  <a:srgbClr val="0EA5E9"/>
                </a:solidFill>
              </a:defRPr>
            </a:pPr>
            <a:r>
              <a:t>[Semester 8]</a:t>
            </a:r>
          </a:p>
        </p:txBody>
      </p:sp>
      <p:sp>
        <p:nvSpPr>
          <p:cNvPr id="20" name="TextBox 19"/>
          <p:cNvSpPr txBox="1"/>
          <p:nvPr/>
        </p:nvSpPr>
        <p:spPr>
          <a:xfrm>
            <a:off x="9144000" y="2286000"/>
            <a:ext cx="2103120" cy="3749040"/>
          </a:xfrm>
          <a:prstGeom prst="rect">
            <a:avLst/>
          </a:prstGeom>
          <a:noFill/>
        </p:spPr>
        <p:txBody>
          <a:bodyPr wrap="square">
            <a:spAutoFit/>
          </a:bodyPr>
          <a:lstStyle/>
          <a:p>
            <a:pPr>
              <a:defRPr sz="1100">
                <a:solidFill>
                  <a:srgbClr val="F8FAFC"/>
                </a:solidFill>
              </a:defRPr>
            </a:pPr>
            <a:r>
              <a:t>• Physical Hardware Testbed (Raspberry Pi + Jetson + AWS)</a:t>
            </a:r>
            <a:br/>
            <a:r>
              <a:t>• Web-based Interactive SOC Analyst Dashboard</a:t>
            </a:r>
            <a:br/>
            <a:r>
              <a:t>• Research Paper Submission to IEEE/ACM Security Conference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