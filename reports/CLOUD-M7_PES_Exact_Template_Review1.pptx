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jsQ9BQIw5gp6v/3ENSYpIg7BIh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5" Type="http://customschemas.google.com/relationships/presentationmetadata" Target="meta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89" name="Google Shape;89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04079b4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004079b4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004079b4d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sp>
        <p:nvSpPr>
          <p:cNvPr id="137" name="Google Shape;137;g3004079b4df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04079b4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004079b4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004079b4d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sp>
        <p:nvSpPr>
          <p:cNvPr id="137" name="Google Shape;137;g3004079b4df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50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681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87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3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5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5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1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101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2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94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50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2057400" y="1219200"/>
            <a:ext cx="7924800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b="1">
                <a:solidFill>
                  <a:srgbClr val="1B2B50"/>
                </a:solidFill>
                <a:latin typeface="Segoe UI"/>
              </a:defRPr>
            </a:pPr>
            <a:r>
              <a:t>B.Tech. in CSE (2024-2028)</a:t>
            </a:r>
          </a:p>
          <a:p>
            <a:pPr>
              <a:defRPr b="1">
                <a:solidFill>
                  <a:srgbClr val="1B2B50"/>
                </a:solidFill>
                <a:latin typeface="Segoe UI"/>
              </a:defRPr>
            </a:pPr>
            <a:r>
              <a:t>Semester- V</a:t>
            </a:r>
          </a:p>
          <a:p>
            <a:pPr>
              <a:defRPr b="1">
                <a:solidFill>
                  <a:srgbClr val="1B2B50"/>
                </a:solidFill>
                <a:latin typeface="Segoe UI"/>
              </a:defRPr>
            </a:pPr>
            <a:r>
              <a:t>UE24CS320A - Capstone Project Phase-1</a:t>
            </a:r>
          </a:p>
          <a:p>
            <a:pPr>
              <a:defRPr b="1">
                <a:solidFill>
                  <a:srgbClr val="1B2B50"/>
                </a:solidFill>
                <a:latin typeface="Segoe UI"/>
              </a:defRPr>
            </a:pPr>
            <a:r>
              <a:t>Review-1</a:t>
            </a:r>
          </a:p>
        </p:txBody>
      </p:sp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8;g3785cdd0013_0_0">
            <a:extLst>
              <a:ext uri="{FF2B5EF4-FFF2-40B4-BE49-F238E27FC236}">
                <a16:creationId xmlns:a16="http://schemas.microsoft.com/office/drawing/2014/main" id="{47CE0D3F-F372-8831-DF7A-7ED362BB0BBD}"/>
              </a:ext>
            </a:extLst>
          </p:cNvPr>
          <p:cNvSpPr txBox="1"/>
          <p:nvPr/>
        </p:nvSpPr>
        <p:spPr>
          <a:xfrm>
            <a:off x="1828800" y="4419601"/>
            <a:ext cx="845820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Project Title   : CLOUD-M7: Tier-Adaptive Forensic Provenance</a:t>
            </a:r>
          </a:p>
          <a:p>
            <a:pPr>
              <a:defRPr sz="1200" b="0">
                <a:solidFill>
                  <a:srgbClr val="1E293B"/>
                </a:solidFill>
                <a:latin typeface="Segoe UI"/>
              </a:defRPr>
            </a:pPr>
            <a:r>
              <a:t>Project ID      : UE24CS320A-CAP-CLOUD-M7</a:t>
            </a:r>
          </a:p>
          <a:p>
            <a:pPr>
              <a:defRPr sz="1200" b="0">
                <a:solidFill>
                  <a:srgbClr val="1E293B"/>
                </a:solidFill>
                <a:latin typeface="Segoe UI"/>
              </a:defRPr>
            </a:pPr>
            <a:r>
              <a:t>Project Guide   : [Internal Faculty Guide, Department of CSE]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Project Team    : Dharshini  [PES1UG24CS...]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1600200" y="1676400"/>
            <a:ext cx="8534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85791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Arial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Problem Statement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Introduction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Scope and Feasibility study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Applications/Use cases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Background Study (5 Key Research Papers)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Implementation (Architecture, Novelties &amp; Live Demo)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Capstone (Phase-I &amp; Phase-II) Project Timeline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- Any other information &amp; Verification</a:t>
            </a:r>
          </a:p>
        </p:txBody>
      </p:sp>
      <p:sp>
        <p:nvSpPr>
          <p:cNvPr id="93" name="Google Shape;93;p3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dirty="0"/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162560" y="1474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96" name="Google Shape;96;p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1. The Distributed Forensic Dilemma: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Modern enterprise workloads span three heterogeneous tiers: Edge IoT sensors, intermediate Fog gateways, and centralized Cloud datastores. When Advanced Persistent Threats (APTs) strike, forensic evidence is fragmented across isolated silos.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2. Failure of Host EDR (Pillar 1):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Tools like Linux auditd and CamFlow monitor single OS kernels. When an attacker pivots across a network socket, the causal chain breaks permanently.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3. Failure of Centralized SIEM (Pillar 2):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Forwarding all raw audit events to the cloud exhausts constrained edge uplinks (&gt;500 KB/s), incurs high detection latency (160ms+), and violates privacy laws (GDPR/HIPAA).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4. Heterogeneous Schemas (Pillar 3):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Incompatible log formats between Edge syscalls, Fog container streams, and Cloud REST APIs prevent automated end-to-end causal reconstruction.</a:t>
            </a:r>
          </a:p>
        </p:txBody>
      </p:sp>
      <p:sp>
        <p:nvSpPr>
          <p:cNvPr id="105" name="Google Shape;105;p4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162560" y="1474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108" name="Google Shape;108;p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3;p4">
            <a:extLst>
              <a:ext uri="{FF2B5EF4-FFF2-40B4-BE49-F238E27FC236}">
                <a16:creationId xmlns:a16="http://schemas.microsoft.com/office/drawing/2014/main" id="{AD13B508-2083-46A5-2EFB-8C66C36301E1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05;p4">
            <a:extLst>
              <a:ext uri="{FF2B5EF4-FFF2-40B4-BE49-F238E27FC236}">
                <a16:creationId xmlns:a16="http://schemas.microsoft.com/office/drawing/2014/main" id="{2C181E3B-2FEB-7C6E-B8BA-EA9AC6E9CE3F}"/>
              </a:ext>
            </a:extLst>
          </p:cNvPr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dirty="0"/>
          </a:p>
        </p:txBody>
      </p:sp>
      <p:pic>
        <p:nvPicPr>
          <p:cNvPr id="7" name="Google Shape;106;p4">
            <a:extLst>
              <a:ext uri="{FF2B5EF4-FFF2-40B4-BE49-F238E27FC236}">
                <a16:creationId xmlns:a16="http://schemas.microsoft.com/office/drawing/2014/main" id="{A403B95A-2FE1-E2BB-DEF4-B907F86712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7;p4">
            <a:extLst>
              <a:ext uri="{FF2B5EF4-FFF2-40B4-BE49-F238E27FC236}">
                <a16:creationId xmlns:a16="http://schemas.microsoft.com/office/drawing/2014/main" id="{D46637F5-57E8-EAE2-5265-6D83C31A0FB4}"/>
              </a:ext>
            </a:extLst>
          </p:cNvPr>
          <p:cNvSpPr txBox="1"/>
          <p:nvPr/>
        </p:nvSpPr>
        <p:spPr>
          <a:xfrm>
            <a:off x="162560" y="1474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9" name="Google Shape;108;p4">
            <a:extLst>
              <a:ext uri="{FF2B5EF4-FFF2-40B4-BE49-F238E27FC236}">
                <a16:creationId xmlns:a16="http://schemas.microsoft.com/office/drawing/2014/main" id="{04683160-96DB-D72F-38FC-47E37AF2DDC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77E09-ADD9-32D6-CDE9-6CCDE402B8A5}"/>
              </a:ext>
            </a:extLst>
          </p:cNvPr>
          <p:cNvSpPr txBox="1"/>
          <p:nvPr/>
        </p:nvSpPr>
        <p:spPr>
          <a:xfrm>
            <a:off x="1920240" y="244243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1. Project Definition: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CLOUD-M7 is an end-to-end distributed forensic provenance framework tailored for heterogeneous Edge, Fog, and Cloud computing environments.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2. Three-Tier Architectural Hierarchy: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Edge Tier: Low-latency syscall capture and in-memory privacy filtering.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Fog Tier: Regional aggregation, reduction, and intermediate network socket correlation.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Cloud Tier: Global causal graph analytics and tamper-evident long-term storage.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3. Core Innovations: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Tier-Adaptive Task Placement Optimization: Formulates min J(x) to mathematically place forensic tasks across tiers.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Automated Cross-Tier Graph Fusion: Correlates network socket flows across tiers to synthesize complete multi-hop attack paths.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Unified Event Model: Cryptographically bound 7-element tuple E_i ensuring legal non-repudiation.</a:t>
            </a:r>
          </a:p>
        </p:txBody>
      </p:sp>
    </p:spTree>
    <p:extLst>
      <p:ext uri="{BB962C8B-B14F-4D97-AF65-F5344CB8AC3E}">
        <p14:creationId xmlns:p14="http://schemas.microsoft.com/office/powerpoint/2010/main" val="358376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1. Project Scope &amp; Technical Boundaries: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Multi-Tier Coverage: Covers Edge microcontrollers (ARM Cortex/Raspberry Pi), Linux Fog gateways, and enterprise Cloud clusters.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Normalized Event Scope: Normalizes 4 core abstractions: Process lifecycle, POSIX file I/O, BSD network sockets, and Cloud REST APIs.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Threat Model: Multi-stage APTs involving remote buffer overflows, privilege escalation, lateral socket movement, and database exfiltration.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2. Possible Shortcomings &amp; Feasibility Solutions: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Challenge: Edge Resource Constraints (CPU/RAM caps)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  -&gt; Feasibility: Lightweight local reduction uses 620/800 mcores CPU and 292 MB RAM.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Challenge: Uplink Bandwidth Saturation on IoT Networks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  -&gt; Feasibility: Tier-adaptive placement cuts network bandwidth by 90.0% (500 KB/s -&gt; 50 KB/s).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Challenge: Cross-Tier Timing Jitter &amp; Latency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  -&gt; Feasibility: Sliding temporal causal window (t_send &lt;= t_recv &lt;= t_send + Dt) enforces forward causality.</a:t>
            </a:r>
          </a:p>
        </p:txBody>
      </p:sp>
      <p:sp>
        <p:nvSpPr>
          <p:cNvPr id="117" name="Google Shape;117;p5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Scope and Feasibility study</a:t>
            </a:r>
            <a:endParaRPr dirty="0"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162560" y="1474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120" name="Google Shape;120;p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1. Industrial IoT &amp; SCADA Smart Facilities: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Detects and reconstructs attacks where adversaries exploit sensors/PLCs and pivot to plant control servers (e.g. Stuxnet/Triton), severing exfiltration before reaching corporate networks.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2. Connected Autonomous Vehicles (V2X):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Enables real-time forensic logging over constrained 4G/5G cellular uplinks without vehicle network lag, isolating telematics tampering.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3. Smart Healthcare &amp; Medical Grids (IoMT):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Guarantees HIPAA and GDPR compliance via local in-memory privacy filtering of sensitive patient vitals before transmission to central EHR databases.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4. Enterprise Hybrid Cloud Infrastructures: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Protects corporate networks against supply chain attacks entering through branch IoT devices and traversing VPN tunnels to exfiltrate enterprise SQL databases.</a:t>
            </a:r>
          </a:p>
        </p:txBody>
      </p:sp>
      <p:sp>
        <p:nvSpPr>
          <p:cNvPr id="129" name="Google Shape;129;p6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Applications/Use cases</a:t>
            </a:r>
            <a:endParaRPr dirty="0"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162560" y="1474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132" name="Google Shape;132;p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04079b4df_0_0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004079b4df_0_0"/>
          <p:cNvSpPr txBox="1"/>
          <p:nvPr/>
        </p:nvSpPr>
        <p:spPr>
          <a:xfrm>
            <a:off x="2057400" y="2188868"/>
            <a:ext cx="80772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1. CamFlow / CamQuery (Pasquier et al., USENIX ATC 2018):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Focus: Whole-system OS provenance capture via Linux Security Modules (LSM) &amp; graph query engine.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Limitation: Confined to single OS kernel; completely blind to cross-network socket pivots.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CLOUD-M7 Advance: Bridges tiers via unified tuple E_i and socket flow correlation (E_network).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2. SPADE (Bates et al., USENIX Security 2015):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Focus: Distributed provenance collection and query engine for Linux auditd.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Limitation: Ships all raw audit records to central storage, saturating edge uplinks.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CLOUD-M7 Advance: Constrained task placement optimization (min J(x)) saving 90.0% bandwidth.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3. Prov-IoT (Wang et al., IEEE IoT Journal 2020):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Focus: Provenance tracking framework designed for smart home IoT devices.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Limitation: Restricted to simple smart-home app triggers; cannot scale to hybrid clouds.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CLOUD-M7 Advance: Unified schema scaling from microcontrollers to enterprise cloud datastores.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4. HOLMES (Milajerdi et al., IEEE S&amp;P 2019):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Focus: Real-time APT detection by correlating information flows to MITRE ATT&amp;CK.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Limitation: Single-pass kill chain traversal terminates at first alert, missing secondary roots.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CLOUD-M7 Advance: Hyperparameter-tuned iterative multi-root discovery (Delta_I_k &gt;= epsilon).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5. BackTracker (King &amp; Chen, ACM SOSP 2003):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Focus: Foundational backward causal dependency graph analysis from detection to root.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Limitation: Single host, prone to dependency explosion, and no choke-point containment.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- CLOUD-M7 Advance: Multi-sensor convergent graph analysis with articulation choke points (100% containment).</a:t>
            </a:r>
          </a:p>
        </p:txBody>
      </p:sp>
      <p:sp>
        <p:nvSpPr>
          <p:cNvPr id="141" name="Google Shape;141;g3004079b4df_0_0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Background Study</a:t>
            </a:r>
            <a:endParaRPr dirty="0"/>
          </a:p>
        </p:txBody>
      </p:sp>
      <p:pic>
        <p:nvPicPr>
          <p:cNvPr id="142" name="Google Shape;142;g3004079b4df_0_0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004079b4df_0_0"/>
          <p:cNvSpPr txBox="1"/>
          <p:nvPr/>
        </p:nvSpPr>
        <p:spPr>
          <a:xfrm>
            <a:off x="162560" y="147428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144" name="Google Shape;144;g3004079b4df_0_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04079b4df_0_0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004079b4df_0_0"/>
          <p:cNvSpPr txBox="1"/>
          <p:nvPr/>
        </p:nvSpPr>
        <p:spPr>
          <a:xfrm>
            <a:off x="2057400" y="2188868"/>
            <a:ext cx="80772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1. System Architecture &amp; Mathematical Schema (Equation 1):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E_i = &lt; UUID_i, tau_i, Tier_i, HostID_i, Type_i, P_i, pi_i &gt; with SHA-256 tamper-evident integrity.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Cross-Tier Flow Correlation (E_network): Socket 5-tuple matching with temporal window constraints.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2. Core Novelty 1: Iterative Multi-Root Discovery Engine: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Formula: Delta_I_k = Impact(R_k) * exp(-lambda * k) &gt;= epsilon  (K_max=5, epsilon=1.0, lambda=0.1)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Discovered all 3 concurrent entry vectors (IoT agent exploit, firmware injection, cloud token theft).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3. Core Novelty 2: Multi-Sensor Convergence &amp; Choke-Point Analysis: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Containment Efficiency: E_cut(v) = |{p in P_multi | v in p}| / |P_multi|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Discovered choke point: 'fog-gateway-01:socket_connect' achieves 100.0% containment efficiency.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4. Live Working Demonstration (run_demo.bat):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Reconstructed 14-hop causal attack path across Edge -&gt; Fog -&gt; Cloud with 80% noise pruned.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- Automated Pytest Suite: 13/13 passing tests verifying schema, placement, and novelty algorithms.</a:t>
            </a:r>
          </a:p>
        </p:txBody>
      </p:sp>
      <p:sp>
        <p:nvSpPr>
          <p:cNvPr id="141" name="Google Shape;141;g3004079b4df_0_0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Implementation</a:t>
            </a:r>
            <a:endParaRPr dirty="0"/>
          </a:p>
        </p:txBody>
      </p:sp>
      <p:pic>
        <p:nvPicPr>
          <p:cNvPr id="142" name="Google Shape;142;g3004079b4df_0_0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004079b4df_0_0"/>
          <p:cNvSpPr txBox="1"/>
          <p:nvPr/>
        </p:nvSpPr>
        <p:spPr>
          <a:xfrm>
            <a:off x="162560" y="147428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144" name="Google Shape;144;g3004079b4df_0_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Capstone (Phase-I &amp; Phase-II) Project Timeline</a:t>
            </a:r>
            <a:endParaRPr/>
          </a:p>
        </p:txBody>
      </p:sp>
      <p:sp>
        <p:nvSpPr>
          <p:cNvPr id="151" name="Google Shape;151;p29"/>
          <p:cNvSpPr txBox="1"/>
          <p:nvPr/>
        </p:nvSpPr>
        <p:spPr>
          <a:xfrm>
            <a:off x="2133601" y="1905001"/>
            <a:ext cx="8839199" cy="297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1. Timelines for Execution (Gantt Chart Milestones):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Phase-I (Sem 5 - Review 1): Event Schema E_i, SHA-256 Hashing, Placement Optimization, Iterative Loop, Choke Points, 13 Pytests -&gt; [COMPLETED]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Phase-I (Sem 6 - Review 2): Real datasets ingestion (DARPA OpTC, TON_IoT), Docker multi-tier testbed, live Linux kernel eBPF syscall capture -&gt; [PLANNED]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Phase-II (Sem 7 - Review 3): Deep Reinforcement Learning (PPO/DQN) placement agent for dynamic adaptation, GNN anomalous path scorer -&gt; [PLANNED]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Phase-II (Sem 8 - Final Review): Physical hardware testbed (Raspberry Pi 4 + NVIDIA Jetson + AWS Cloud), Web SOC dashboard, IEEE security conference submission -&gt; [PLANNED]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2. Individual Effort Plan: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Dharshini (100% Effort): System Architecture, Placement Optimization, Graph Fusion, Novelty Formulations, Experimental Verification &amp; Defense.</a:t>
            </a:r>
          </a:p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/>
        </p:nvSpPr>
        <p:spPr>
          <a:xfrm>
            <a:off x="162560" y="1474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154" name="Google Shape;154;p2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Trebuchet MS"/>
                <a:ea typeface="Trebuchet MS"/>
                <a:cs typeface="Trebuchet MS"/>
                <a:sym typeface="Trebuchet MS"/>
              </a:rPr>
              <a:t>Any other information</a:t>
            </a:r>
            <a:endParaRPr/>
          </a:p>
        </p:txBody>
      </p:sp>
      <p:sp>
        <p:nvSpPr>
          <p:cNvPr id="161" name="Google Shape;161;p30"/>
          <p:cNvSpPr txBox="1"/>
          <p:nvPr/>
        </p:nvSpPr>
        <p:spPr>
          <a:xfrm>
            <a:off x="2133601" y="1905001"/>
            <a:ext cx="88391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1. Quantitative Benchmark vs. Centralized Baseline: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Bandwidth: 500 KB/s -&gt; 50 KB/s (90.0% Reduction / 10x Bandwidth Savings)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Latency: 160 ms -&gt; 20 ms (87.5% Faster Incident Response)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Privacy Exposure Penalty: 120 pts -&gt; 5 pts (95.8% Exposure Mitigation)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Background Noise Pruning: 80.0% pruned away (4x Signal-to-Noise Ratio)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2. Automated Software Engineering Verification: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- 13 passing unit and integration tests executing in 0.88s on Python 3.11.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3. Real-World Datasets Roadmap for Phase-I Review 2: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- Ingestion adapters designed for DARPA OpTC (500+ GB enterprise audit logs), DARPA TC (Cadets/THEIA provenance graphs), and TON_IoT (industrial sensors).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4. Open-Source GitHub Repository: https://github.com/DharshiniPES/cloud-m7</a:t>
            </a:r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 txBox="1"/>
          <p:nvPr/>
        </p:nvSpPr>
        <p:spPr>
          <a:xfrm>
            <a:off x="162560" y="1474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 b="1">
                <a:solidFill>
                  <a:srgbClr val="1B2B50"/>
                </a:solidFill>
                <a:latin typeface="Segoe UI"/>
              </a:defRPr>
            </a:pPr>
            <a:r>
              <a:t>CLOUD-M7: Tier-Adaptive Forensic Provenance</a:t>
            </a:r>
          </a:p>
        </p:txBody>
      </p:sp>
      <p:sp>
        <p:nvSpPr>
          <p:cNvPr id="164" name="Google Shape;164;p3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Dharshini  [PES1UG24CS...]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800" b="1">
                <a:solidFill>
                  <a:srgbClr val="1B2B50"/>
                </a:solidFill>
                <a:latin typeface="Segoe UI"/>
              </a:defRPr>
            </a:pPr>
            <a:r>
              <a:t>Thank You!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CLOUD-M7: Tier-Adaptive Forensic Provenance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Candidate: Dharshini  |  Department of Computer Science &amp; Engineering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PES University, Bangalore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Open for Evaluator Questions &amp; Live Demo (run_demo.bat)</a:t>
            </a:r>
          </a:p>
        </p:txBody>
      </p:sp>
      <p:pic>
        <p:nvPicPr>
          <p:cNvPr id="170" name="Google Shape;170;p31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273</Words>
  <Application>Microsoft Office PowerPoint</Application>
  <PresentationFormat>Widescreen</PresentationFormat>
  <Paragraphs>72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</dc:creator>
  <cp:lastModifiedBy>DINESH KUMAR C</cp:lastModifiedBy>
  <cp:revision>8</cp:revision>
  <dcterms:created xsi:type="dcterms:W3CDTF">2020-06-03T14:19:11Z</dcterms:created>
  <dcterms:modified xsi:type="dcterms:W3CDTF">2026-09-30T13:43:58Z</dcterms:modified>
</cp:coreProperties>
</file>