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evaluation panel. Today, I am presenting CLOUD-M7: Tier-Adaptive Forensic Provenance. This is a 2-year capstone project aimed at solving one of the most critical unsolved challenges in distributed cyber forensics: reconstructing multi-stage attacks that traverse heterogeneous Edge, Fog, and Cloud computing layers. I have implemented a fully reproducible prototype, including two mathematical novelty contributions, verified with 13 automated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motivation: enterprise computing is no longer confined to isolated servers. In critical infrastructure, smart cities, and healthcare, computing is partitioned across Edge sensors, Fog gateways, and Cloud data centers. Modern Advanced Persistent Threats exploit this heterogeneity: they enter through vulnerable edge sensors, pivot laterally through fog gateways, and compromise cloud crown jewels. Our goal is to build an end-to-end forensic provenance system capable of tracking these cross-tier attacks.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fundamental pillars that break when attempting forensics across Edge, Fog, and Cloud. First, Host EDR tools like auditd and CamFlow only see single machines—the moment an attacker pivots across a network socket, the causal trail breaks. Second, shipping all logs to the cloud is impossible because it overwhelms edge uplinks by 90% and leaks private user data. Third, different layers log completely incompatible data formats. CLOUD-M7 is engineered to fix all three pillars.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seen in Table 1, we conducted an exhaustive literature survey comparing CLOUD-M7 to existing industry and academic solutions. CamFlow by Pasquier et al. and SPADE by Bates et al. were breakthrough systems for OS-level provenance, but they remain confined to a single OS kernel. Commercial SIEM solutions rely on manual rule matching and flood the cloud with raw logs. CLOUD-M7 is the first system that combines dynamic placement optimization, unified multi-tier schemas, iterative multi-root discovery, and choke-point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mathematical core of CLOUD-M7. In Equation 1, we formalize a unified 7-element tuple E_i that abstracts low-level Linux syscalls, Docker network sockets, and Cloud REST APIs into a consistent representation. Each event is hashed with SHA-256 to ensure forensic non-repudiation in court. To connect the tiers, our fusion engine matches socket 5-tuples and strictly enforces temporal forward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rigorously evaluate our algorithms, we built a virtual multi-tier testbed simulating 3 edge devices, 1 dual-homed fog gateway, and 2 cloud database nodes. We generated a comprehensive dataset of 70 events: 40 benign background events mixed with 30 attack events across 3 concurrent vectors. Having verified ground truth is critical in Review 1 to mathematically confirm our algorithms achieve 100% path accuracy without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reconstructed 14-hop causal attack path. Our engine traced the entire trajectory: Steps 1 to 5 occur on edge-sensor-01 where a vulnerable IoT agent is exploited and drops a beacon. Step 6 correlates across the network to fog-gateway-01 where the attacker establishes persistence and scrapes cloud tokens. Steps 10 to 14 correlate into the cloud where the attacker queries sensitive database records and exfiltrates them to their C2 server. Our engine filtered out 80% of background noise to isolate this exact 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novelty is Tier-Adaptive Placement Optimization. We formulate task placement as a formal multi-objective cost minimization problem subject to edge resource constraints. Instead of naively shipping raw logs to the cloud, our solver discovered that running Privacy Filtering and Graph Reduction at the Edge reduces network bandwidth by 90% and latency by 87.5%, while consuming only 620 millicores of edge CPU, well within device limits.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novelty addresses a critical limitation in existing forensic systems: single-pass algorithms terminate as soon as one root cause is found, missing concurrent entry points. Our iterative engine introduces hyperparameter tuning (K_max, epsilon, and lambda) to iteratively subtract known paths and discover secondary attack roots. As shown here, it uncovered two additional stealth entry points on edge-sensor-02 and fog-gateway-01 before cleanly converging.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third novelty models multi-sensor attack convergence. When multiple edge devices are exploited simultaneously, incident response teams cannot manually patch dozens of devices in the field. Our engine calculates graph articulation cut-vertices and proved that fog-gateway-01's socket connect event is a 100% containment choke-point. Severing this single point blocks all incoming attacks from reaching the cloud crown jewel.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generated visual forensic artifacts. On the left, Figure 1 shows the reconstructed 14-hop causal chain spanning Edge in green, Fog in orange, and Cloud in purple, with 80% background noise pruned away. On the right, Figure 2 shows the multi-sensor graph where disparate edge attacks converge toward the cloud, with bright gold nodes marking the optimal choke points for immediate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claim in this presentation is supported by reproducible code and 13 passing automated tests. We achieved a 90% reduction in bandwidth, 87.5% reduction in latency, and 80% noise filtering. Our test suite runs in under one second on Python 3.11, verifying schema integrity, placement constraints, and novelty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structured 2-year capstone roadmap. Phase 1 is fully delivered today with working code, optimization, and novelties. Next semester in Phase 2, we integrate DARPA OpTC and live eBPF kernel hooks. In Phase 3, we add reinforcement learning for real-time placement adaptation, culminating in Phase 4 with a physical hardware testbed and an IEEE security conference paper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academic references grounding CLOUD-M7. Our work builds upon the foundational provenance research of Pasquier et al.'s CamFlow, Bates et al.'s SPADE, and King &amp; Chen's BackTracker, extending whole-system provenance into distributed multi-tier Edge-Fog-Cloud environments.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457200"/>
          </a:xfrm>
          <a:prstGeom prst="rect">
            <a:avLst/>
          </a:prstGeom>
          <a:noFill/>
        </p:spPr>
        <p:txBody>
          <a:bodyPr wrap="none">
            <a:spAutoFit/>
          </a:bodyPr>
          <a:lstStyle/>
          <a:p>
            <a:pPr>
              <a:defRPr sz="1100" b="1">
                <a:solidFill>
                  <a:srgbClr val="2563EB"/>
                </a:solidFill>
                <a:latin typeface="Segoe UI"/>
              </a:defRPr>
            </a:pPr>
            <a:r>
              <a:t>DEPARTMENT OF COMPUTER SCIENCE &amp; ENGINEERING  |  B.TECH CAPSTONE PROJECT (BATCH 2026–2027)</a:t>
            </a:r>
          </a:p>
        </p:txBody>
      </p:sp>
      <p:sp>
        <p:nvSpPr>
          <p:cNvPr id="4" name="TextBox 3"/>
          <p:cNvSpPr txBox="1"/>
          <p:nvPr/>
        </p:nvSpPr>
        <p:spPr>
          <a:xfrm>
            <a:off x="914400" y="1188720"/>
            <a:ext cx="10332720" cy="2011680"/>
          </a:xfrm>
          <a:prstGeom prst="rect">
            <a:avLst/>
          </a:prstGeom>
          <a:noFill/>
        </p:spPr>
        <p:txBody>
          <a:bodyPr wrap="square">
            <a:spAutoFit/>
          </a:bodyPr>
          <a:lstStyle/>
          <a:p>
            <a:pPr>
              <a:defRPr sz="3400" b="1">
                <a:solidFill>
                  <a:srgbClr val="0F172A"/>
                </a:solidFill>
                <a:latin typeface="Segoe UI"/>
              </a:defRPr>
            </a:pPr>
            <a:r>
              <a:t>CLOUD-M7: Tier-Adaptive Forensic Provenance</a:t>
            </a:r>
          </a:p>
          <a:p>
            <a:pPr>
              <a:spcBef>
                <a:spcPts val="800"/>
              </a:spcBef>
              <a:defRPr sz="1800">
                <a:solidFill>
                  <a:srgbClr val="1E3A8A"/>
                </a:solidFill>
                <a:latin typeface="Segoe UI"/>
              </a:defRPr>
            </a:pPr>
            <a:r>
              <a:t>Distributed Attack-Path Reconstruction across Heterogeneous Edge, Fog, and Cloud Strata</a:t>
            </a:r>
          </a:p>
          <a:p>
            <a:pPr>
              <a:spcBef>
                <a:spcPts val="1200"/>
              </a:spcBef>
              <a:defRPr sz="1200">
                <a:solidFill>
                  <a:srgbClr val="64748B"/>
                </a:solidFill>
                <a:latin typeface="Segoe UI"/>
              </a:defRPr>
            </a:pPr>
            <a:r>
              <a:t>Review 1 Deliverable: System Architecture, Placement Optimization, Iterative Causal Discovery &amp; Multi-Sensor Graph Synthesis</a:t>
            </a:r>
          </a:p>
        </p:txBody>
      </p:sp>
      <p:sp>
        <p:nvSpPr>
          <p:cNvPr id="5" name="Rectangle 4"/>
          <p:cNvSpPr/>
          <p:nvPr/>
        </p:nvSpPr>
        <p:spPr>
          <a:xfrm>
            <a:off x="914400" y="3931920"/>
            <a:ext cx="32918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3931920"/>
            <a:ext cx="329184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041648"/>
            <a:ext cx="2926080" cy="365760"/>
          </a:xfrm>
          <a:prstGeom prst="rect">
            <a:avLst/>
          </a:prstGeom>
          <a:noFill/>
        </p:spPr>
        <p:txBody>
          <a:bodyPr wrap="square">
            <a:spAutoFit/>
          </a:bodyPr>
          <a:lstStyle/>
          <a:p>
            <a:pPr>
              <a:defRPr sz="1300" b="1">
                <a:solidFill>
                  <a:srgbClr val="0F172A"/>
                </a:solidFill>
                <a:latin typeface="Segoe UI"/>
              </a:defRPr>
            </a:pPr>
            <a:r>
              <a:t>Candidate Details</a:t>
            </a:r>
          </a:p>
        </p:txBody>
      </p:sp>
      <p:sp>
        <p:nvSpPr>
          <p:cNvPr id="8" name="TextBox 7"/>
          <p:cNvSpPr txBox="1"/>
          <p:nvPr/>
        </p:nvSpPr>
        <p:spPr>
          <a:xfrm>
            <a:off x="1097280" y="4389120"/>
            <a:ext cx="2926080" cy="1554480"/>
          </a:xfrm>
          <a:prstGeom prst="rect">
            <a:avLst/>
          </a:prstGeom>
          <a:noFill/>
        </p:spPr>
        <p:txBody>
          <a:bodyPr wrap="none">
            <a:spAutoFit/>
          </a:bodyPr>
          <a:lstStyle/>
          <a:p>
            <a:pPr>
              <a:defRPr sz="1150">
                <a:solidFill>
                  <a:srgbClr val="1E293B"/>
                </a:solidFill>
                <a:latin typeface="Segoe UI"/>
              </a:defRPr>
            </a:pPr>
            <a:r>
              <a:t>Student: Dharshini</a:t>
            </a:r>
            <a:br/>
            <a:r>
              <a:t>Degree: B.Tech Computer Science</a:t>
            </a:r>
            <a:br/>
            <a:r>
              <a:t>Specialization: Cloud Computing &amp; Cyber Security</a:t>
            </a:r>
            <a:br/>
            <a:r>
              <a:t>Phase: Phase 1 (Semester 5)</a:t>
            </a:r>
          </a:p>
        </p:txBody>
      </p:sp>
      <p:sp>
        <p:nvSpPr>
          <p:cNvPr id="9" name="Rectangle 8"/>
          <p:cNvSpPr/>
          <p:nvPr/>
        </p:nvSpPr>
        <p:spPr>
          <a:xfrm>
            <a:off x="4434840" y="3931920"/>
            <a:ext cx="32918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3931920"/>
            <a:ext cx="329184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4041648"/>
            <a:ext cx="2926080" cy="365760"/>
          </a:xfrm>
          <a:prstGeom prst="rect">
            <a:avLst/>
          </a:prstGeom>
          <a:noFill/>
        </p:spPr>
        <p:txBody>
          <a:bodyPr wrap="square">
            <a:spAutoFit/>
          </a:bodyPr>
          <a:lstStyle/>
          <a:p>
            <a:pPr>
              <a:defRPr sz="1300" b="1">
                <a:solidFill>
                  <a:srgbClr val="0F172A"/>
                </a:solidFill>
                <a:latin typeface="Segoe UI"/>
              </a:defRPr>
            </a:pPr>
            <a:r>
              <a:t>Review &amp; Evaluation Scope</a:t>
            </a:r>
          </a:p>
        </p:txBody>
      </p:sp>
      <p:sp>
        <p:nvSpPr>
          <p:cNvPr id="12" name="TextBox 11"/>
          <p:cNvSpPr txBox="1"/>
          <p:nvPr/>
        </p:nvSpPr>
        <p:spPr>
          <a:xfrm>
            <a:off x="4617720" y="4389120"/>
            <a:ext cx="2926080" cy="1554480"/>
          </a:xfrm>
          <a:prstGeom prst="rect">
            <a:avLst/>
          </a:prstGeom>
          <a:noFill/>
        </p:spPr>
        <p:txBody>
          <a:bodyPr wrap="none">
            <a:spAutoFit/>
          </a:bodyPr>
          <a:lstStyle/>
          <a:p>
            <a:pPr>
              <a:defRPr sz="1150">
                <a:solidFill>
                  <a:srgbClr val="1E293B"/>
                </a:solidFill>
                <a:latin typeface="Segoe UI"/>
              </a:defRPr>
            </a:pPr>
            <a:r>
              <a:t>Review Stage: Review 1 Prototype</a:t>
            </a:r>
            <a:br/>
            <a:r>
              <a:t>Evaluated Modules:</a:t>
            </a:r>
            <a:br/>
            <a:r>
              <a:t>• Formal Event Schema (E_i)</a:t>
            </a:r>
            <a:br/>
            <a:r>
              <a:t>• Tier Placement Optimization (min J)</a:t>
            </a:r>
            <a:br/>
            <a:r>
              <a:t>• Iterative Causal Discovery (Novelty)</a:t>
            </a:r>
            <a:br/>
            <a:r>
              <a:t>• Multi-Sensor Choke-Point Analysis</a:t>
            </a:r>
          </a:p>
        </p:txBody>
      </p:sp>
      <p:sp>
        <p:nvSpPr>
          <p:cNvPr id="13" name="Rectangle 12"/>
          <p:cNvSpPr/>
          <p:nvPr/>
        </p:nvSpPr>
        <p:spPr>
          <a:xfrm>
            <a:off x="7955279" y="3931920"/>
            <a:ext cx="329184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3931920"/>
            <a:ext cx="329184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59" y="4041648"/>
            <a:ext cx="2926080" cy="365760"/>
          </a:xfrm>
          <a:prstGeom prst="rect">
            <a:avLst/>
          </a:prstGeom>
          <a:noFill/>
        </p:spPr>
        <p:txBody>
          <a:bodyPr wrap="square">
            <a:spAutoFit/>
          </a:bodyPr>
          <a:lstStyle/>
          <a:p>
            <a:pPr>
              <a:defRPr sz="1300" b="1">
                <a:solidFill>
                  <a:srgbClr val="0F172A"/>
                </a:solidFill>
                <a:latin typeface="Segoe UI"/>
              </a:defRPr>
            </a:pPr>
            <a:r>
              <a:t>Implementation &amp; Repository</a:t>
            </a:r>
          </a:p>
        </p:txBody>
      </p:sp>
      <p:sp>
        <p:nvSpPr>
          <p:cNvPr id="16" name="TextBox 15"/>
          <p:cNvSpPr txBox="1"/>
          <p:nvPr/>
        </p:nvSpPr>
        <p:spPr>
          <a:xfrm>
            <a:off x="8138160" y="4389120"/>
            <a:ext cx="2926080" cy="1554480"/>
          </a:xfrm>
          <a:prstGeom prst="rect">
            <a:avLst/>
          </a:prstGeom>
          <a:noFill/>
        </p:spPr>
        <p:txBody>
          <a:bodyPr wrap="none">
            <a:spAutoFit/>
          </a:bodyPr>
          <a:lstStyle/>
          <a:p>
            <a:pPr>
              <a:defRPr sz="1150">
                <a:solidFill>
                  <a:srgbClr val="1E293B"/>
                </a:solidFill>
                <a:latin typeface="Segoe UI"/>
              </a:defRPr>
            </a:pPr>
            <a:r>
              <a:t>Source Control:</a:t>
            </a:r>
            <a:br/>
            <a:r>
              <a:t>https://github.com/DharshiniPES/cloud-m7</a:t>
            </a:r>
            <a:br/>
            <a:br/>
            <a:r>
              <a:t>Software Verification:</a:t>
            </a:r>
            <a:br/>
            <a:r>
              <a:t>• 13 Automated Tests Passing (100%)</a:t>
            </a:r>
            <a:br/>
            <a:r>
              <a:t>• Reproducible Batch Launchers</a:t>
            </a:r>
            <a:br/>
            <a:r>
              <a:t>• Ground-Truth Provenance Simulator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CONTEXT &amp; MOTIVATION</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2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The Real-World Cyber Threat Landscape in Multi-Tier Computing</a:t>
            </a:r>
          </a:p>
        </p:txBody>
      </p:sp>
      <p:sp>
        <p:nvSpPr>
          <p:cNvPr id="7" name="Rectangle 6"/>
          <p:cNvSpPr/>
          <p:nvPr/>
        </p:nvSpPr>
        <p:spPr>
          <a:xfrm>
            <a:off x="731520" y="1371600"/>
            <a:ext cx="621792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6217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5852160" cy="365760"/>
          </a:xfrm>
          <a:prstGeom prst="rect">
            <a:avLst/>
          </a:prstGeom>
          <a:noFill/>
        </p:spPr>
        <p:txBody>
          <a:bodyPr wrap="square">
            <a:spAutoFit/>
          </a:bodyPr>
          <a:lstStyle/>
          <a:p>
            <a:pPr>
              <a:defRPr sz="1300" b="1">
                <a:solidFill>
                  <a:srgbClr val="0F172A"/>
                </a:solidFill>
                <a:latin typeface="Segoe UI"/>
              </a:defRPr>
            </a:pPr>
            <a:r>
              <a:t>The Evolution from Isolated Servers to Multi-Tier Strata</a:t>
            </a:r>
          </a:p>
        </p:txBody>
      </p:sp>
      <p:sp>
        <p:nvSpPr>
          <p:cNvPr id="10" name="TextBox 9"/>
          <p:cNvSpPr txBox="1"/>
          <p:nvPr/>
        </p:nvSpPr>
        <p:spPr>
          <a:xfrm>
            <a:off x="914400" y="1828800"/>
            <a:ext cx="5852160" cy="4206240"/>
          </a:xfrm>
          <a:prstGeom prst="rect">
            <a:avLst/>
          </a:prstGeom>
          <a:noFill/>
        </p:spPr>
        <p:txBody>
          <a:bodyPr wrap="square">
            <a:spAutoFit/>
          </a:bodyPr>
          <a:lstStyle/>
          <a:p>
            <a:pPr>
              <a:defRPr sz="1200">
                <a:solidFill>
                  <a:srgbClr val="1E293B"/>
                </a:solidFill>
                <a:latin typeface="Segoe UI"/>
              </a:defRPr>
            </a:pPr>
            <a:r>
              <a:t>1. Pervasive Architectural Transition:</a:t>
            </a:r>
            <a:br/>
            <a:r>
              <a:t>Modern enterprise systems (smart factories, connected vehicles, healthcare grids) no longer run exclusively on monolithic cloud datacenters. They are structured as a 3-tier computing hierarchy:</a:t>
            </a:r>
          </a:p>
          <a:p>
            <a:br/>
            <a:pPr>
              <a:defRPr sz="1150">
                <a:solidFill>
                  <a:srgbClr val="1E293B"/>
                </a:solidFill>
                <a:latin typeface="Segoe UI"/>
              </a:defRPr>
            </a:pPr>
            <a:r>
              <a:t>• Edge Tier: Constrained microcontrollers &amp; sensors (ARM/RISC-V, 512MB RAM, limited uplinks).</a:t>
            </a:r>
            <a:br/>
            <a:r>
              <a:t>• Fog Tier: Regional edge aggregation gateways, Kubernetes k3s nodes, local storage.</a:t>
            </a:r>
            <a:br/>
            <a:r>
              <a:t>• Cloud Tier: Massive centralized cloud clusters (AWS/Azure), sensitive databases, global APIs.</a:t>
            </a:r>
            <a:br/>
            <a:br/>
            <a:r>
              <a:t>2. The Multi-Stage APT Attack Vector:</a:t>
            </a:r>
            <a:br/>
            <a:r>
              <a:t>Attackers exploit low-security Edge IoT devices (e.g. CVE memory exploits), pivot through intermediate Fog gateways, and execute privilege escalation to exfiltrate enterprise Cloud databases.</a:t>
            </a:r>
            <a:br/>
            <a:br/>
            <a:r>
              <a:t>3. High-Profile Precedents: Mirai botnets, the Colonial Pipeline lateral breach, and Stuxnet-style cyber-physical intrusions demonstrate that attacks rarely stay within a single tier.</a:t>
            </a:r>
          </a:p>
        </p:txBody>
      </p:sp>
      <p:sp>
        <p:nvSpPr>
          <p:cNvPr id="11" name="Rectangle 10"/>
          <p:cNvSpPr/>
          <p:nvPr/>
        </p:nvSpPr>
        <p:spPr>
          <a:xfrm>
            <a:off x="7132320" y="1371600"/>
            <a:ext cx="42976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1371600"/>
            <a:ext cx="42976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481328"/>
            <a:ext cx="3931920" cy="365760"/>
          </a:xfrm>
          <a:prstGeom prst="rect">
            <a:avLst/>
          </a:prstGeom>
          <a:noFill/>
        </p:spPr>
        <p:txBody>
          <a:bodyPr wrap="square">
            <a:spAutoFit/>
          </a:bodyPr>
          <a:lstStyle/>
          <a:p>
            <a:pPr>
              <a:defRPr sz="1300" b="1">
                <a:solidFill>
                  <a:srgbClr val="0F172A"/>
                </a:solidFill>
                <a:latin typeface="Segoe UI"/>
              </a:defRPr>
            </a:pPr>
            <a:r>
              <a:t>The 3-Tier Forensic Execution Hierarchy</a:t>
            </a:r>
          </a:p>
        </p:txBody>
      </p:sp>
      <p:sp>
        <p:nvSpPr>
          <p:cNvPr id="14" name="TextBox 13"/>
          <p:cNvSpPr txBox="1"/>
          <p:nvPr/>
        </p:nvSpPr>
        <p:spPr>
          <a:xfrm>
            <a:off x="7315200" y="1828800"/>
            <a:ext cx="3931920" cy="4206240"/>
          </a:xfrm>
          <a:prstGeom prst="rect">
            <a:avLst/>
          </a:prstGeom>
          <a:noFill/>
        </p:spPr>
        <p:txBody>
          <a:bodyPr wrap="square">
            <a:spAutoFit/>
          </a:bodyPr>
          <a:lstStyle/>
          <a:p>
            <a:pPr>
              <a:defRPr sz="1000">
                <a:solidFill>
                  <a:srgbClr val="0F172A"/>
                </a:solidFill>
                <a:latin typeface="Consolas"/>
              </a:defRPr>
            </a:pPr>
            <a:r>
              <a:t>[CLOUD TIER]</a:t>
            </a:r>
            <a:br/>
            <a:r>
              <a:t>• High compute &amp; infinite storage</a:t>
            </a:r>
            <a:br/>
            <a:r>
              <a:t>• Crown jewel target (SQL databases, patient/user records)</a:t>
            </a:r>
            <a:br/>
            <a:r>
              <a:t>• High monetary cost &amp; privacy compliance overhead</a:t>
            </a:r>
            <a:br/>
            <a:br/>
            <a:r>
              <a:t>         ▲  Cross-Tier Lateral Sockets (E_network)</a:t>
            </a:r>
            <a:br/>
            <a:r>
              <a:t>         │</a:t>
            </a:r>
            <a:br/>
            <a:r>
              <a:t>[FOG TIER]</a:t>
            </a:r>
            <a:br/>
            <a:r>
              <a:t>• Regional micro-datacenters &amp; industrial gateways</a:t>
            </a:r>
            <a:br/>
            <a:r>
              <a:t>• Intermediate pivot point for lateral privilege escalation</a:t>
            </a:r>
            <a:br/>
            <a:r>
              <a:t>• Natural choke point for attack containment</a:t>
            </a:r>
            <a:br/>
            <a:br/>
            <a:r>
              <a:t>         ▲  Constrained Uplinks (4G/5G/LoRaWAN)</a:t>
            </a:r>
            <a:br/>
            <a:r>
              <a:t>         │</a:t>
            </a:r>
            <a:br/>
            <a:r>
              <a:t>[EDGE TIER]</a:t>
            </a:r>
            <a:br/>
            <a:r>
              <a:t>• IoT smart sensors, CCTV, actuators</a:t>
            </a:r>
            <a:br/>
            <a:r>
              <a:t>• Frequent firmware vulnerabilities &amp; memory corruptions</a:t>
            </a:r>
            <a:br/>
            <a:r>
              <a:t>• Strict CPU (&lt;800 mcores) and memory (&lt;512MB) limits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PROBLEM DEFINITION</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3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Problem Statement: The Three Broken Pillars of Multi-Tier Forensics</a:t>
            </a:r>
          </a:p>
        </p:txBody>
      </p:sp>
      <p:sp>
        <p:nvSpPr>
          <p:cNvPr id="7" name="Rectangle 6"/>
          <p:cNvSpPr/>
          <p:nvPr/>
        </p:nvSpPr>
        <p:spPr>
          <a:xfrm>
            <a:off x="731520"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328416"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2962656" cy="365760"/>
          </a:xfrm>
          <a:prstGeom prst="rect">
            <a:avLst/>
          </a:prstGeom>
          <a:noFill/>
        </p:spPr>
        <p:txBody>
          <a:bodyPr wrap="square">
            <a:spAutoFit/>
          </a:bodyPr>
          <a:lstStyle/>
          <a:p>
            <a:pPr>
              <a:defRPr sz="1300" b="1">
                <a:solidFill>
                  <a:srgbClr val="0F172A"/>
                </a:solidFill>
                <a:latin typeface="Segoe UI"/>
              </a:defRPr>
            </a:pPr>
            <a:r>
              <a:t>Pillar 1: Host EDR Blindness</a:t>
            </a:r>
          </a:p>
        </p:txBody>
      </p:sp>
      <p:sp>
        <p:nvSpPr>
          <p:cNvPr id="10" name="TextBox 9"/>
          <p:cNvSpPr txBox="1"/>
          <p:nvPr/>
        </p:nvSpPr>
        <p:spPr>
          <a:xfrm>
            <a:off x="914400" y="1920240"/>
            <a:ext cx="2962656" cy="4114800"/>
          </a:xfrm>
          <a:prstGeom prst="rect">
            <a:avLst/>
          </a:prstGeom>
          <a:noFill/>
        </p:spPr>
        <p:txBody>
          <a:bodyPr wrap="square">
            <a:spAutoFit/>
          </a:bodyPr>
          <a:lstStyle/>
          <a:p>
            <a:pPr>
              <a:defRPr sz="1150">
                <a:solidFill>
                  <a:srgbClr val="1E293B"/>
                </a:solidFill>
                <a:latin typeface="Segoe UI"/>
              </a:defRPr>
            </a:pPr>
            <a:r>
              <a:t>Single-Host Isolation:</a:t>
            </a:r>
            <a:br/>
            <a:r>
              <a:t>• Standard Endpoint Detection &amp; Response (EDR) tools (Linux auditd, Sysmon, CamFlow) run locally on individual OS kernels.</a:t>
            </a:r>
            <a:br/>
            <a:br/>
            <a:r>
              <a:t>Severed Causal Links:</a:t>
            </a:r>
            <a:br/>
            <a:r>
              <a:t>• When an attacker opens an outbound TCP socket from an edge device to a fog gateway, the local host log terminates at the socket write.</a:t>
            </a:r>
            <a:br/>
            <a:br/>
            <a:r>
              <a:t>The Result:</a:t>
            </a:r>
            <a:br/>
            <a:r>
              <a:t>• Security analysts face disjointed, isolated forensic islands. They cannot correlate an alert in the Cloud with a compromise at the Edge.</a:t>
            </a:r>
          </a:p>
        </p:txBody>
      </p:sp>
      <p:sp>
        <p:nvSpPr>
          <p:cNvPr id="11" name="Rectangle 10"/>
          <p:cNvSpPr/>
          <p:nvPr/>
        </p:nvSpPr>
        <p:spPr>
          <a:xfrm>
            <a:off x="4425696"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5696" y="1371600"/>
            <a:ext cx="3328416"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481328"/>
            <a:ext cx="2962656" cy="365760"/>
          </a:xfrm>
          <a:prstGeom prst="rect">
            <a:avLst/>
          </a:prstGeom>
          <a:noFill/>
        </p:spPr>
        <p:txBody>
          <a:bodyPr wrap="square">
            <a:spAutoFit/>
          </a:bodyPr>
          <a:lstStyle/>
          <a:p>
            <a:pPr>
              <a:defRPr sz="1300" b="1">
                <a:solidFill>
                  <a:srgbClr val="0F172A"/>
                </a:solidFill>
                <a:latin typeface="Segoe UI"/>
              </a:defRPr>
            </a:pPr>
            <a:r>
              <a:t>Pillar 2: Centralized SIEM Infeasibility</a:t>
            </a:r>
          </a:p>
        </p:txBody>
      </p:sp>
      <p:sp>
        <p:nvSpPr>
          <p:cNvPr id="14" name="TextBox 13"/>
          <p:cNvSpPr txBox="1"/>
          <p:nvPr/>
        </p:nvSpPr>
        <p:spPr>
          <a:xfrm>
            <a:off x="4608576" y="1920240"/>
            <a:ext cx="2962656" cy="4114800"/>
          </a:xfrm>
          <a:prstGeom prst="rect">
            <a:avLst/>
          </a:prstGeom>
          <a:noFill/>
        </p:spPr>
        <p:txBody>
          <a:bodyPr wrap="square">
            <a:spAutoFit/>
          </a:bodyPr>
          <a:lstStyle/>
          <a:p>
            <a:pPr>
              <a:defRPr sz="1150">
                <a:solidFill>
                  <a:srgbClr val="1E293B"/>
                </a:solidFill>
                <a:latin typeface="Segoe UI"/>
              </a:defRPr>
            </a:pPr>
            <a:r>
              <a:t>Bandwidth Saturation:</a:t>
            </a:r>
            <a:br/>
            <a:r>
              <a:t>• Shipping all raw syscall events from thousands of IoT devices to a centralized cloud SIEM (Splunk/CloudWatch) consumes massive network bandwidth (500+ KB/s per sensor cluster).</a:t>
            </a:r>
            <a:br/>
            <a:br/>
            <a:r>
              <a:t>High Ingestion Latency:</a:t>
            </a:r>
            <a:br/>
            <a:r>
              <a:t>• Round-trip propagation delays (160ms+) prevent real-time incident containment at the edge.</a:t>
            </a:r>
            <a:br/>
            <a:br/>
            <a:r>
              <a:t>Privacy &amp; Regulatory Violations:</a:t>
            </a:r>
            <a:br/>
            <a:r>
              <a:t>• Transmitting raw unmasked camera/sensor payloads violates GDPR, HIPAA, and regional data protection mandates.</a:t>
            </a:r>
          </a:p>
        </p:txBody>
      </p:sp>
      <p:sp>
        <p:nvSpPr>
          <p:cNvPr id="15" name="Rectangle 14"/>
          <p:cNvSpPr/>
          <p:nvPr/>
        </p:nvSpPr>
        <p:spPr>
          <a:xfrm>
            <a:off x="8119872"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1371600"/>
            <a:ext cx="3328416"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481328"/>
            <a:ext cx="2962656" cy="365760"/>
          </a:xfrm>
          <a:prstGeom prst="rect">
            <a:avLst/>
          </a:prstGeom>
          <a:noFill/>
        </p:spPr>
        <p:txBody>
          <a:bodyPr wrap="square">
            <a:spAutoFit/>
          </a:bodyPr>
          <a:lstStyle/>
          <a:p>
            <a:pPr>
              <a:defRPr sz="1300" b="1">
                <a:solidFill>
                  <a:srgbClr val="0F172A"/>
                </a:solidFill>
                <a:latin typeface="Segoe UI"/>
              </a:defRPr>
            </a:pPr>
            <a:r>
              <a:t>Pillar 3: Heterogeneous Schemas</a:t>
            </a:r>
          </a:p>
        </p:txBody>
      </p:sp>
      <p:sp>
        <p:nvSpPr>
          <p:cNvPr id="18" name="TextBox 17"/>
          <p:cNvSpPr txBox="1"/>
          <p:nvPr/>
        </p:nvSpPr>
        <p:spPr>
          <a:xfrm>
            <a:off x="8302752" y="1920240"/>
            <a:ext cx="2962656" cy="4114800"/>
          </a:xfrm>
          <a:prstGeom prst="rect">
            <a:avLst/>
          </a:prstGeom>
          <a:noFill/>
        </p:spPr>
        <p:txBody>
          <a:bodyPr wrap="square">
            <a:spAutoFit/>
          </a:bodyPr>
          <a:lstStyle/>
          <a:p>
            <a:pPr>
              <a:defRPr sz="1150">
                <a:solidFill>
                  <a:srgbClr val="1E293B"/>
                </a:solidFill>
                <a:latin typeface="Segoe UI"/>
              </a:defRPr>
            </a:pPr>
            <a:r>
              <a:t>Incompatible Log Formats:</a:t>
            </a:r>
            <a:br/>
            <a:r>
              <a:t>• Edge: Low-level Linux kernel syscalls (clone, execve, read, write).</a:t>
            </a:r>
            <a:br/>
            <a:r>
              <a:t>• Fog: Container orchestration events, Docker/k8s socket streams, MQTT brokers.</a:t>
            </a:r>
            <a:br/>
            <a:r>
              <a:t>• Cloud: High-level REST API requests, OAuth/IAM tokens, database transactions.</a:t>
            </a:r>
            <a:br/>
            <a:br/>
            <a:r>
              <a:t>Causal Synthesis Failure:</a:t>
            </a:r>
            <a:br/>
            <a:r>
              <a:t>• Without a standardized mathematical representation, automated graph traversal across tiers is mathematically impossible without manual human guesswork.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STATE OF THE ART</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4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Literature Survey: Comparative Benchmark against Prior Art</a:t>
            </a:r>
          </a:p>
        </p:txBody>
      </p:sp>
      <p:graphicFrame>
        <p:nvGraphicFramePr>
          <p:cNvPr id="7" name="Table 6"/>
          <p:cNvGraphicFramePr>
            <a:graphicFrameLocks noGrp="1"/>
          </p:cNvGraphicFramePr>
          <p:nvPr/>
        </p:nvGraphicFramePr>
        <p:xfrm>
          <a:off x="731520" y="1371600"/>
          <a:ext cx="10725912" cy="4846320"/>
        </p:xfrm>
        <a:graphic>
          <a:graphicData uri="http://schemas.openxmlformats.org/drawingml/2006/table">
            <a:tbl>
              <a:tblPr firstRow="1" bandRow="1">
                <a:tableStyleId>{5C22544A-7EE6-4342-B048-85BDC9FD1C3A}</a:tableStyleId>
              </a:tblPr>
              <a:tblGrid>
                <a:gridCol w="3410712"/>
                <a:gridCol w="1828800"/>
                <a:gridCol w="1828800"/>
                <a:gridCol w="1828800"/>
                <a:gridCol w="1828800"/>
              </a:tblGrid>
              <a:tr h="692331">
                <a:tc>
                  <a:txBody>
                    <a:bodyPr/>
                    <a:lstStyle/>
                    <a:p>
                      <a:pPr>
                        <a:defRPr sz="1100" b="1">
                          <a:solidFill>
                            <a:srgbClr val="FFFFFF"/>
                          </a:solidFill>
                          <a:latin typeface="Segoe UI"/>
                        </a:defRPr>
                      </a:pPr>
                      <a:r>
                        <a:t>Evaluation Criterion / Capability</a:t>
                      </a:r>
                    </a:p>
                  </a:txBody>
                  <a:tcPr>
                    <a:solidFill>
                      <a:srgbClr val="0F172A"/>
                    </a:solidFill>
                  </a:tcPr>
                </a:tc>
                <a:tc>
                  <a:txBody>
                    <a:bodyPr/>
                    <a:lstStyle/>
                    <a:p>
                      <a:pPr>
                        <a:defRPr sz="1100" b="1">
                          <a:solidFill>
                            <a:srgbClr val="FFFFFF"/>
                          </a:solidFill>
                          <a:latin typeface="Segoe UI"/>
                        </a:defRPr>
                      </a:pPr>
                      <a:r>
                        <a:t>Host EDR (auditd / Sysmon)</a:t>
                      </a:r>
                    </a:p>
                  </a:txBody>
                  <a:tcPr>
                    <a:solidFill>
                      <a:srgbClr val="0F172A"/>
                    </a:solidFill>
                  </a:tcPr>
                </a:tc>
                <a:tc>
                  <a:txBody>
                    <a:bodyPr/>
                    <a:lstStyle/>
                    <a:p>
                      <a:pPr>
                        <a:defRPr sz="1100" b="1">
                          <a:solidFill>
                            <a:srgbClr val="FFFFFF"/>
                          </a:solidFill>
                          <a:latin typeface="Segoe UI"/>
                        </a:defRPr>
                      </a:pPr>
                      <a:r>
                        <a:t>Centralized SIEM (Splunk)</a:t>
                      </a:r>
                    </a:p>
                  </a:txBody>
                  <a:tcPr>
                    <a:solidFill>
                      <a:srgbClr val="0F172A"/>
                    </a:solidFill>
                  </a:tcPr>
                </a:tc>
                <a:tc>
                  <a:txBody>
                    <a:bodyPr/>
                    <a:lstStyle/>
                    <a:p>
                      <a:pPr>
                        <a:defRPr sz="1100" b="1">
                          <a:solidFill>
                            <a:srgbClr val="FFFFFF"/>
                          </a:solidFill>
                          <a:latin typeface="Segoe UI"/>
                        </a:defRPr>
                      </a:pPr>
                      <a:r>
                        <a:t>Academic Systems (CamFlow / SPADE)</a:t>
                      </a:r>
                    </a:p>
                  </a:txBody>
                  <a:tcPr>
                    <a:solidFill>
                      <a:srgbClr val="0F172A"/>
                    </a:solidFill>
                  </a:tcPr>
                </a:tc>
                <a:tc>
                  <a:txBody>
                    <a:bodyPr/>
                    <a:lstStyle/>
                    <a:p>
                      <a:pPr>
                        <a:defRPr sz="1100" b="1">
                          <a:solidFill>
                            <a:srgbClr val="FFFFFF"/>
                          </a:solidFill>
                          <a:latin typeface="Segoe UI"/>
                        </a:defRPr>
                      </a:pPr>
                      <a:r>
                        <a:t>CLOUD-M7 (Our Project)</a:t>
                      </a:r>
                    </a:p>
                  </a:txBody>
                  <a:tcPr>
                    <a:solidFill>
                      <a:srgbClr val="0F172A"/>
                    </a:solidFill>
                  </a:tcPr>
                </a:tc>
              </a:tr>
              <a:tr h="692331">
                <a:tc>
                  <a:txBody>
                    <a:bodyPr/>
                    <a:lstStyle/>
                    <a:p>
                      <a:pPr>
                        <a:defRPr sz="1050">
                          <a:solidFill>
                            <a:srgbClr val="1E293B"/>
                          </a:solidFill>
                          <a:latin typeface="Segoe UI"/>
                        </a:defRPr>
                      </a:pPr>
                      <a:r>
                        <a:t>Cross-Tier Multi-Hop Correlation</a:t>
                      </a:r>
                    </a:p>
                  </a:txBody>
                  <a:tcPr>
                    <a:solidFill>
                      <a:srgbClr val="F1F5F9"/>
                    </a:solidFill>
                  </a:tcPr>
                </a:tc>
                <a:tc>
                  <a:txBody>
                    <a:bodyPr/>
                    <a:lstStyle/>
                    <a:p>
                      <a:pPr>
                        <a:defRPr sz="1050">
                          <a:solidFill>
                            <a:srgbClr val="1E293B"/>
                          </a:solidFill>
                          <a:latin typeface="Segoe UI"/>
                        </a:defRPr>
                      </a:pPr>
                      <a:r>
                        <a:t>❌ Single Host Only</a:t>
                      </a:r>
                    </a:p>
                  </a:txBody>
                  <a:tcPr>
                    <a:solidFill>
                      <a:srgbClr val="F1F5F9"/>
                    </a:solidFill>
                  </a:tcPr>
                </a:tc>
                <a:tc>
                  <a:txBody>
                    <a:bodyPr/>
                    <a:lstStyle/>
                    <a:p>
                      <a:pPr>
                        <a:defRPr sz="1050">
                          <a:solidFill>
                            <a:srgbClr val="1E293B"/>
                          </a:solidFill>
                          <a:latin typeface="Segoe UI"/>
                        </a:defRPr>
                      </a:pPr>
                      <a:r>
                        <a:t>⚠️ Manual Triage (Disjoint)</a:t>
                      </a:r>
                    </a:p>
                  </a:txBody>
                  <a:tcPr>
                    <a:solidFill>
                      <a:srgbClr val="F1F5F9"/>
                    </a:solidFill>
                  </a:tcPr>
                </a:tc>
                <a:tc>
                  <a:txBody>
                    <a:bodyPr/>
                    <a:lstStyle/>
                    <a:p>
                      <a:pPr>
                        <a:defRPr sz="1050">
                          <a:solidFill>
                            <a:srgbClr val="1E293B"/>
                          </a:solidFill>
                          <a:latin typeface="Segoe UI"/>
                        </a:defRPr>
                      </a:pPr>
                      <a:r>
                        <a:t>❌ Single OS Kernel Only</a:t>
                      </a:r>
                    </a:p>
                  </a:txBody>
                  <a:tcPr>
                    <a:solidFill>
                      <a:srgbClr val="F1F5F9"/>
                    </a:solidFill>
                  </a:tcPr>
                </a:tc>
                <a:tc>
                  <a:txBody>
                    <a:bodyPr/>
                    <a:lstStyle/>
                    <a:p>
                      <a:pPr>
                        <a:defRPr sz="1050" b="1">
                          <a:solidFill>
                            <a:srgbClr val="059669"/>
                          </a:solidFill>
                          <a:latin typeface="Segoe UI"/>
                        </a:defRPr>
                      </a:pPr>
                      <a:r>
                        <a:t>✅ Autonomous (E_network)</a:t>
                      </a:r>
                    </a:p>
                  </a:txBody>
                  <a:tcPr>
                    <a:solidFill>
                      <a:srgbClr val="F1F5F9"/>
                    </a:solidFill>
                  </a:tcPr>
                </a:tc>
              </a:tr>
              <a:tr h="692331">
                <a:tc>
                  <a:txBody>
                    <a:bodyPr/>
                    <a:lstStyle/>
                    <a:p>
                      <a:pPr>
                        <a:defRPr sz="1050">
                          <a:solidFill>
                            <a:srgbClr val="1E293B"/>
                          </a:solidFill>
                          <a:latin typeface="Segoe UI"/>
                        </a:defRPr>
                      </a:pPr>
                      <a:r>
                        <a:t>Dynamic Task Placement Optimization</a:t>
                      </a:r>
                    </a:p>
                  </a:txBody>
                  <a:tcPr>
                    <a:solidFill>
                      <a:srgbClr val="FFFFFF"/>
                    </a:solidFill>
                  </a:tcPr>
                </a:tc>
                <a:tc>
                  <a:txBody>
                    <a:bodyPr/>
                    <a:lstStyle/>
                    <a:p>
                      <a:pPr>
                        <a:defRPr sz="1050">
                          <a:solidFill>
                            <a:srgbClr val="1E293B"/>
                          </a:solidFill>
                          <a:latin typeface="Segoe UI"/>
                        </a:defRPr>
                      </a:pPr>
                      <a:r>
                        <a:t>❌ Static / None</a:t>
                      </a:r>
                    </a:p>
                  </a:txBody>
                  <a:tcPr>
                    <a:solidFill>
                      <a:srgbClr val="FFFFFF"/>
                    </a:solidFill>
                  </a:tcPr>
                </a:tc>
                <a:tc>
                  <a:txBody>
                    <a:bodyPr/>
                    <a:lstStyle/>
                    <a:p>
                      <a:pPr>
                        <a:defRPr sz="1050">
                          <a:solidFill>
                            <a:srgbClr val="1E293B"/>
                          </a:solidFill>
                          <a:latin typeface="Segoe UI"/>
                        </a:defRPr>
                      </a:pPr>
                      <a:r>
                        <a:t>❌ All-to-Cloud Shipping</a:t>
                      </a:r>
                    </a:p>
                  </a:txBody>
                  <a:tcPr>
                    <a:solidFill>
                      <a:srgbClr val="FFFFFF"/>
                    </a:solidFill>
                  </a:tcPr>
                </a:tc>
                <a:tc>
                  <a:txBody>
                    <a:bodyPr/>
                    <a:lstStyle/>
                    <a:p>
                      <a:pPr>
                        <a:defRPr sz="1050">
                          <a:solidFill>
                            <a:srgbClr val="1E293B"/>
                          </a:solidFill>
                          <a:latin typeface="Segoe UI"/>
                        </a:defRPr>
                      </a:pPr>
                      <a:r>
                        <a:t>❌ Local-Only Execution</a:t>
                      </a:r>
                    </a:p>
                  </a:txBody>
                  <a:tcPr>
                    <a:solidFill>
                      <a:srgbClr val="FFFFFF"/>
                    </a:solidFill>
                  </a:tcPr>
                </a:tc>
                <a:tc>
                  <a:txBody>
                    <a:bodyPr/>
                    <a:lstStyle/>
                    <a:p>
                      <a:pPr>
                        <a:defRPr sz="1050" b="1">
                          <a:solidFill>
                            <a:srgbClr val="059669"/>
                          </a:solidFill>
                          <a:latin typeface="Segoe UI"/>
                        </a:defRPr>
                      </a:pPr>
                      <a:r>
                        <a:t>✅ Multi-Objective min J(x)</a:t>
                      </a:r>
                    </a:p>
                  </a:txBody>
                  <a:tcPr>
                    <a:solidFill>
                      <a:srgbClr val="FFFFFF"/>
                    </a:solidFill>
                  </a:tcPr>
                </a:tc>
              </a:tr>
              <a:tr h="692331">
                <a:tc>
                  <a:txBody>
                    <a:bodyPr/>
                    <a:lstStyle/>
                    <a:p>
                      <a:pPr>
                        <a:defRPr sz="1050">
                          <a:solidFill>
                            <a:srgbClr val="1E293B"/>
                          </a:solidFill>
                          <a:latin typeface="Segoe UI"/>
                        </a:defRPr>
                      </a:pPr>
                      <a:r>
                        <a:t>Edge Bandwidth &amp; Uplink Optimization</a:t>
                      </a:r>
                    </a:p>
                  </a:txBody>
                  <a:tcPr>
                    <a:solidFill>
                      <a:srgbClr val="F1F5F9"/>
                    </a:solidFill>
                  </a:tcPr>
                </a:tc>
                <a:tc>
                  <a:txBody>
                    <a:bodyPr/>
                    <a:lstStyle/>
                    <a:p>
                      <a:pPr>
                        <a:defRPr sz="1050">
                          <a:solidFill>
                            <a:srgbClr val="1E293B"/>
                          </a:solidFill>
                          <a:latin typeface="Segoe UI"/>
                        </a:defRPr>
                      </a:pPr>
                      <a:r>
                        <a:t>❌ Unbounded Logging</a:t>
                      </a:r>
                    </a:p>
                  </a:txBody>
                  <a:tcPr>
                    <a:solidFill>
                      <a:srgbClr val="F1F5F9"/>
                    </a:solidFill>
                  </a:tcPr>
                </a:tc>
                <a:tc>
                  <a:txBody>
                    <a:bodyPr/>
                    <a:lstStyle/>
                    <a:p>
                      <a:pPr>
                        <a:defRPr sz="1050">
                          <a:solidFill>
                            <a:srgbClr val="1E293B"/>
                          </a:solidFill>
                          <a:latin typeface="Segoe UI"/>
                        </a:defRPr>
                      </a:pPr>
                      <a:r>
                        <a:t>❌ Severe Saturation (500 KB/s)</a:t>
                      </a:r>
                    </a:p>
                  </a:txBody>
                  <a:tcPr>
                    <a:solidFill>
                      <a:srgbClr val="F1F5F9"/>
                    </a:solidFill>
                  </a:tcPr>
                </a:tc>
                <a:tc>
                  <a:txBody>
                    <a:bodyPr/>
                    <a:lstStyle/>
                    <a:p>
                      <a:pPr>
                        <a:defRPr sz="1050">
                          <a:solidFill>
                            <a:srgbClr val="1E293B"/>
                          </a:solidFill>
                          <a:latin typeface="Segoe UI"/>
                        </a:defRPr>
                      </a:pPr>
                      <a:r>
                        <a:t>❌ No Edge Network Model</a:t>
                      </a:r>
                    </a:p>
                  </a:txBody>
                  <a:tcPr>
                    <a:solidFill>
                      <a:srgbClr val="F1F5F9"/>
                    </a:solidFill>
                  </a:tcPr>
                </a:tc>
                <a:tc>
                  <a:txBody>
                    <a:bodyPr/>
                    <a:lstStyle/>
                    <a:p>
                      <a:pPr>
                        <a:defRPr sz="1050" b="1">
                          <a:solidFill>
                            <a:srgbClr val="059669"/>
                          </a:solidFill>
                          <a:latin typeface="Segoe UI"/>
                        </a:defRPr>
                      </a:pPr>
                      <a:r>
                        <a:t>✅ 90.0% Bandwidth Reduction</a:t>
                      </a:r>
                    </a:p>
                  </a:txBody>
                  <a:tcPr>
                    <a:solidFill>
                      <a:srgbClr val="F1F5F9"/>
                    </a:solidFill>
                  </a:tcPr>
                </a:tc>
              </a:tr>
              <a:tr h="692331">
                <a:tc>
                  <a:txBody>
                    <a:bodyPr/>
                    <a:lstStyle/>
                    <a:p>
                      <a:pPr>
                        <a:defRPr sz="1050">
                          <a:solidFill>
                            <a:srgbClr val="1E293B"/>
                          </a:solidFill>
                          <a:latin typeface="Segoe UI"/>
                        </a:defRPr>
                      </a:pPr>
                      <a:r>
                        <a:t>Edge Privacy &amp; Anonymization</a:t>
                      </a:r>
                    </a:p>
                  </a:txBody>
                  <a:tcPr>
                    <a:solidFill>
                      <a:srgbClr val="FFFFFF"/>
                    </a:solidFill>
                  </a:tcPr>
                </a:tc>
                <a:tc>
                  <a:txBody>
                    <a:bodyPr/>
                    <a:lstStyle/>
                    <a:p>
                      <a:pPr>
                        <a:defRPr sz="1050">
                          <a:solidFill>
                            <a:srgbClr val="1E293B"/>
                          </a:solidFill>
                          <a:latin typeface="Segoe UI"/>
                        </a:defRPr>
                      </a:pPr>
                      <a:r>
                        <a:t>❌ Raw Logs Exfiltration</a:t>
                      </a:r>
                    </a:p>
                  </a:txBody>
                  <a:tcPr>
                    <a:solidFill>
                      <a:srgbClr val="FFFFFF"/>
                    </a:solidFill>
                  </a:tcPr>
                </a:tc>
                <a:tc>
                  <a:txBody>
                    <a:bodyPr/>
                    <a:lstStyle/>
                    <a:p>
                      <a:pPr>
                        <a:defRPr sz="1050">
                          <a:solidFill>
                            <a:srgbClr val="1E293B"/>
                          </a:solidFill>
                          <a:latin typeface="Segoe UI"/>
                        </a:defRPr>
                      </a:pPr>
                      <a:r>
                        <a:t>❌ Centralized Exposure</a:t>
                      </a:r>
                    </a:p>
                  </a:txBody>
                  <a:tcPr>
                    <a:solidFill>
                      <a:srgbClr val="FFFFFF"/>
                    </a:solidFill>
                  </a:tcPr>
                </a:tc>
                <a:tc>
                  <a:txBody>
                    <a:bodyPr/>
                    <a:lstStyle/>
                    <a:p>
                      <a:pPr>
                        <a:defRPr sz="1050">
                          <a:solidFill>
                            <a:srgbClr val="1E293B"/>
                          </a:solidFill>
                          <a:latin typeface="Segoe UI"/>
                        </a:defRPr>
                      </a:pPr>
                      <a:r>
                        <a:t>⚠️ Host-Level Labels Only</a:t>
                      </a:r>
                    </a:p>
                  </a:txBody>
                  <a:tcPr>
                    <a:solidFill>
                      <a:srgbClr val="FFFFFF"/>
                    </a:solidFill>
                  </a:tcPr>
                </a:tc>
                <a:tc>
                  <a:txBody>
                    <a:bodyPr/>
                    <a:lstStyle/>
                    <a:p>
                      <a:pPr>
                        <a:defRPr sz="1050" b="1">
                          <a:solidFill>
                            <a:srgbClr val="059669"/>
                          </a:solidFill>
                          <a:latin typeface="Segoe UI"/>
                        </a:defRPr>
                      </a:pPr>
                      <a:r>
                        <a:t>✅ In-Memory Privacy Masking</a:t>
                      </a:r>
                    </a:p>
                  </a:txBody>
                  <a:tcPr>
                    <a:solidFill>
                      <a:srgbClr val="FFFFFF"/>
                    </a:solidFill>
                  </a:tcPr>
                </a:tc>
              </a:tr>
              <a:tr h="692331">
                <a:tc>
                  <a:txBody>
                    <a:bodyPr/>
                    <a:lstStyle/>
                    <a:p>
                      <a:pPr>
                        <a:defRPr sz="1050">
                          <a:solidFill>
                            <a:srgbClr val="1E293B"/>
                          </a:solidFill>
                          <a:latin typeface="Segoe UI"/>
                        </a:defRPr>
                      </a:pPr>
                      <a:r>
                        <a:t>Iterative Multi-Root Discovery</a:t>
                      </a:r>
                    </a:p>
                  </a:txBody>
                  <a:tcPr>
                    <a:solidFill>
                      <a:srgbClr val="F1F5F9"/>
                    </a:solidFill>
                  </a:tcPr>
                </a:tc>
                <a:tc>
                  <a:txBody>
                    <a:bodyPr/>
                    <a:lstStyle/>
                    <a:p>
                      <a:pPr>
                        <a:defRPr sz="1050">
                          <a:solidFill>
                            <a:srgbClr val="1E293B"/>
                          </a:solidFill>
                          <a:latin typeface="Segoe UI"/>
                        </a:defRPr>
                      </a:pPr>
                      <a:r>
                        <a:t>❌ Single-Pass BFS Only</a:t>
                      </a:r>
                    </a:p>
                  </a:txBody>
                  <a:tcPr>
                    <a:solidFill>
                      <a:srgbClr val="F1F5F9"/>
                    </a:solidFill>
                  </a:tcPr>
                </a:tc>
                <a:tc>
                  <a:txBody>
                    <a:bodyPr/>
                    <a:lstStyle/>
                    <a:p>
                      <a:pPr>
                        <a:defRPr sz="1050">
                          <a:solidFill>
                            <a:srgbClr val="1E293B"/>
                          </a:solidFill>
                          <a:latin typeface="Segoe UI"/>
                        </a:defRPr>
                      </a:pPr>
                      <a:r>
                        <a:t>⚠️ Static Rule Alerts</a:t>
                      </a:r>
                    </a:p>
                  </a:txBody>
                  <a:tcPr>
                    <a:solidFill>
                      <a:srgbClr val="F1F5F9"/>
                    </a:solidFill>
                  </a:tcPr>
                </a:tc>
                <a:tc>
                  <a:txBody>
                    <a:bodyPr/>
                    <a:lstStyle/>
                    <a:p>
                      <a:pPr>
                        <a:defRPr sz="1050">
                          <a:solidFill>
                            <a:srgbClr val="1E293B"/>
                          </a:solidFill>
                          <a:latin typeface="Segoe UI"/>
                        </a:defRPr>
                      </a:pPr>
                      <a:r>
                        <a:t>❌ Single-Root Termination</a:t>
                      </a:r>
                    </a:p>
                  </a:txBody>
                  <a:tcPr>
                    <a:solidFill>
                      <a:srgbClr val="F1F5F9"/>
                    </a:solidFill>
                  </a:tcPr>
                </a:tc>
                <a:tc>
                  <a:txBody>
                    <a:bodyPr/>
                    <a:lstStyle/>
                    <a:p>
                      <a:pPr>
                        <a:defRPr sz="1050" b="1">
                          <a:solidFill>
                            <a:srgbClr val="059669"/>
                          </a:solidFill>
                          <a:latin typeface="Segoe UI"/>
                        </a:defRPr>
                      </a:pPr>
                      <a:r>
                        <a:t>✅ Hyperparameter (ΔI_k &gt;= ε)</a:t>
                      </a:r>
                    </a:p>
                  </a:txBody>
                  <a:tcPr>
                    <a:solidFill>
                      <a:srgbClr val="F1F5F9"/>
                    </a:solidFill>
                  </a:tcPr>
                </a:tc>
              </a:tr>
              <a:tr h="692334">
                <a:tc>
                  <a:txBody>
                    <a:bodyPr/>
                    <a:lstStyle/>
                    <a:p>
                      <a:pPr>
                        <a:defRPr sz="1050">
                          <a:solidFill>
                            <a:srgbClr val="1E293B"/>
                          </a:solidFill>
                          <a:latin typeface="Segoe UI"/>
                        </a:defRPr>
                      </a:pPr>
                      <a:r>
                        <a:t>Multi-Sensor Choke-Point Analysis</a:t>
                      </a:r>
                    </a:p>
                  </a:txBody>
                  <a:tcPr>
                    <a:solidFill>
                      <a:srgbClr val="FFFFFF"/>
                    </a:solidFill>
                  </a:tcPr>
                </a:tc>
                <a:tc>
                  <a:txBody>
                    <a:bodyPr/>
                    <a:lstStyle/>
                    <a:p>
                      <a:pPr>
                        <a:defRPr sz="1050">
                          <a:solidFill>
                            <a:srgbClr val="1E293B"/>
                          </a:solidFill>
                          <a:latin typeface="Segoe UI"/>
                        </a:defRPr>
                      </a:pPr>
                      <a:r>
                        <a:t>❌ Not Supported</a:t>
                      </a:r>
                    </a:p>
                  </a:txBody>
                  <a:tcPr>
                    <a:solidFill>
                      <a:srgbClr val="FFFFFF"/>
                    </a:solidFill>
                  </a:tcPr>
                </a:tc>
                <a:tc>
                  <a:txBody>
                    <a:bodyPr/>
                    <a:lstStyle/>
                    <a:p>
                      <a:pPr>
                        <a:defRPr sz="1050">
                          <a:solidFill>
                            <a:srgbClr val="1E293B"/>
                          </a:solidFill>
                          <a:latin typeface="Segoe UI"/>
                        </a:defRPr>
                      </a:pPr>
                      <a:r>
                        <a:t>❌ Not Supported</a:t>
                      </a:r>
                    </a:p>
                  </a:txBody>
                  <a:tcPr>
                    <a:solidFill>
                      <a:srgbClr val="FFFFFF"/>
                    </a:solidFill>
                  </a:tcPr>
                </a:tc>
                <a:tc>
                  <a:txBody>
                    <a:bodyPr/>
                    <a:lstStyle/>
                    <a:p>
                      <a:pPr>
                        <a:defRPr sz="1050">
                          <a:solidFill>
                            <a:srgbClr val="1E293B"/>
                          </a:solidFill>
                          <a:latin typeface="Segoe UI"/>
                        </a:defRPr>
                      </a:pPr>
                      <a:r>
                        <a:t>❌ Not Supported</a:t>
                      </a:r>
                    </a:p>
                  </a:txBody>
                  <a:tcPr>
                    <a:solidFill>
                      <a:srgbClr val="FFFFFF"/>
                    </a:solidFill>
                  </a:tcPr>
                </a:tc>
                <a:tc>
                  <a:txBody>
                    <a:bodyPr/>
                    <a:lstStyle/>
                    <a:p>
                      <a:pPr>
                        <a:defRPr sz="1050" b="1">
                          <a:solidFill>
                            <a:srgbClr val="059669"/>
                          </a:solidFill>
                          <a:latin typeface="Segoe UI"/>
                        </a:defRPr>
                      </a:pPr>
                      <a:r>
                        <a:t>✅ Articulation Cut-Vertices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CORE ARCHITECTURE</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5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Mathematical Foundation: Unified Forensic Schema &amp; Hash Chain</a:t>
            </a:r>
          </a:p>
        </p:txBody>
      </p:sp>
      <p:sp>
        <p:nvSpPr>
          <p:cNvPr id="7" name="Rectangle 6"/>
          <p:cNvSpPr/>
          <p:nvPr/>
        </p:nvSpPr>
        <p:spPr>
          <a:xfrm>
            <a:off x="731520" y="1371600"/>
            <a:ext cx="548640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4864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5120640" cy="365760"/>
          </a:xfrm>
          <a:prstGeom prst="rect">
            <a:avLst/>
          </a:prstGeom>
          <a:noFill/>
        </p:spPr>
        <p:txBody>
          <a:bodyPr wrap="square">
            <a:spAutoFit/>
          </a:bodyPr>
          <a:lstStyle/>
          <a:p>
            <a:pPr>
              <a:defRPr sz="1300" b="1">
                <a:solidFill>
                  <a:srgbClr val="0F172A"/>
                </a:solidFill>
                <a:latin typeface="Segoe UI"/>
              </a:defRPr>
            </a:pPr>
            <a:r>
              <a:t>1. Formal Unified Event Representation (Equation 1)</a:t>
            </a:r>
          </a:p>
        </p:txBody>
      </p:sp>
      <p:sp>
        <p:nvSpPr>
          <p:cNvPr id="10" name="TextBox 9"/>
          <p:cNvSpPr txBox="1"/>
          <p:nvPr/>
        </p:nvSpPr>
        <p:spPr>
          <a:xfrm>
            <a:off x="914400" y="1828800"/>
            <a:ext cx="5120640" cy="4206240"/>
          </a:xfrm>
          <a:prstGeom prst="rect">
            <a:avLst/>
          </a:prstGeom>
          <a:noFill/>
        </p:spPr>
        <p:txBody>
          <a:bodyPr wrap="square">
            <a:spAutoFit/>
          </a:bodyPr>
          <a:lstStyle/>
          <a:p>
            <a:pPr>
              <a:defRPr sz="1300" b="1">
                <a:solidFill>
                  <a:srgbClr val="2563EB"/>
                </a:solidFill>
                <a:latin typeface="Consolas"/>
              </a:defRPr>
            </a:pPr>
            <a:r>
              <a:t>E_i = &lt; UUID_i,  τ_i,  Tier_i,  HostID_i,  Type_i,  P_i,  π_i &gt;</a:t>
            </a:r>
          </a:p>
          <a:p>
            <a:br/>
            <a:pPr>
              <a:defRPr sz="1100">
                <a:solidFill>
                  <a:srgbClr val="1E293B"/>
                </a:solidFill>
                <a:latin typeface="Segoe UI"/>
              </a:defRPr>
            </a:pPr>
            <a:r>
              <a:t>• UUID_i: 128-bit cryptographically unique event identifier.</a:t>
            </a:r>
            <a:br/>
            <a:r>
              <a:t>• τ_i: High-precision UTC timestamp (enforces causal partial ordering).</a:t>
            </a:r>
            <a:br/>
            <a:r>
              <a:t>• Tier_i ∈ {Edge, Fog, Cloud}: Architectural stratum of execution.</a:t>
            </a:r>
            <a:br/>
            <a:r>
              <a:t>• HostID_i: Originating container, VM, or physical hardware identity.</a:t>
            </a:r>
            <a:br/>
            <a:r>
              <a:t>• Type_i ∈ {Process, File, Socket, API}: Abstracted event classification.</a:t>
            </a:r>
            <a:br/>
            <a:r>
              <a:t>• P_i: Structured payload carrying granular syscall / network parameters:</a:t>
            </a:r>
            <a:br/>
            <a:r>
              <a:t>   - Process: {cmd, pid, ppid, uid}</a:t>
            </a:r>
            <a:br/>
            <a:r>
              <a:t>   - File: {path, fd, flags}</a:t>
            </a:r>
            <a:br/>
            <a:r>
              <a:t>   - Socket: {src_ip, src_port, dst_ip, dst_port, proto}</a:t>
            </a:r>
            <a:br/>
            <a:r>
              <a:t>   - API: {endpoint, method, status, token}</a:t>
            </a:r>
            <a:br/>
            <a:r>
              <a:t>• π_i: Set of causal parent event UUIDs establishing dependency edges.</a:t>
            </a:r>
          </a:p>
        </p:txBody>
      </p:sp>
      <p:sp>
        <p:nvSpPr>
          <p:cNvPr id="11" name="Rectangle 10"/>
          <p:cNvSpPr/>
          <p:nvPr/>
        </p:nvSpPr>
        <p:spPr>
          <a:xfrm>
            <a:off x="6400800" y="1371600"/>
            <a:ext cx="505663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371600"/>
            <a:ext cx="5056632"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81328"/>
            <a:ext cx="4690872" cy="365760"/>
          </a:xfrm>
          <a:prstGeom prst="rect">
            <a:avLst/>
          </a:prstGeom>
          <a:noFill/>
        </p:spPr>
        <p:txBody>
          <a:bodyPr wrap="square">
            <a:spAutoFit/>
          </a:bodyPr>
          <a:lstStyle/>
          <a:p>
            <a:pPr>
              <a:defRPr sz="1300" b="1">
                <a:solidFill>
                  <a:srgbClr val="0F172A"/>
                </a:solidFill>
                <a:latin typeface="Segoe UI"/>
              </a:defRPr>
            </a:pPr>
            <a:r>
              <a:t>2. Integrity Hash &amp; Cross-Tier Socket Flow Matching</a:t>
            </a:r>
          </a:p>
        </p:txBody>
      </p:sp>
      <p:sp>
        <p:nvSpPr>
          <p:cNvPr id="14" name="TextBox 13"/>
          <p:cNvSpPr txBox="1"/>
          <p:nvPr/>
        </p:nvSpPr>
        <p:spPr>
          <a:xfrm>
            <a:off x="6583680" y="1828800"/>
            <a:ext cx="4690872" cy="4206240"/>
          </a:xfrm>
          <a:prstGeom prst="rect">
            <a:avLst/>
          </a:prstGeom>
          <a:noFill/>
        </p:spPr>
        <p:txBody>
          <a:bodyPr wrap="square">
            <a:spAutoFit/>
          </a:bodyPr>
          <a:lstStyle/>
          <a:p>
            <a:pPr>
              <a:defRPr sz="1000" b="1">
                <a:solidFill>
                  <a:srgbClr val="D97706"/>
                </a:solidFill>
                <a:latin typeface="Consolas"/>
              </a:defRPr>
            </a:pPr>
            <a:r>
              <a:t>Cryptographic Tamper-Evidence (SHA-256):</a:t>
            </a:r>
            <a:br/>
            <a:r>
              <a:t>H_i = SHA256( UUID_i || τ_i || Tier_i || HostID_i || Type_i || P_i || π_i )</a:t>
            </a:r>
            <a:br/>
          </a:p>
          <a:p>
            <a:pPr>
              <a:defRPr sz="1050">
                <a:solidFill>
                  <a:srgbClr val="1E293B"/>
                </a:solidFill>
                <a:latin typeface="Segoe UI"/>
              </a:defRPr>
            </a:pPr>
            <a:r>
              <a:t>• Non-Repudiation Guarantee: Guarantees that compromised edge or fog nodes cannot rewrite past audit logs without breaking cryptographic integrity.</a:t>
            </a:r>
            <a:br/>
            <a:br/>
            <a:r>
              <a:t>Cross-Tier Socket Stitching Rule (E_network):</a:t>
            </a:r>
            <a:br/>
            <a:r>
              <a:t>A directed dependency edge (u -&gt; v) is synthesized across tier boundaries if and only if:</a:t>
            </a:r>
            <a:br/>
            <a:r>
              <a:t>1. Network 5-Tuple Complementarity:</a:t>
            </a:r>
            <a:br/>
            <a:r>
              <a:t>   IP_src(u) == IP_src(v)  ∧  IP_dst(u) == IP_dst(v)</a:t>
            </a:r>
            <a:br/>
            <a:r>
              <a:t>   Port_src(u) == Port_src(v)  ∧  Port_dst(u) == Port_dst(v)</a:t>
            </a:r>
            <a:br/>
            <a:r>
              <a:t>2. Causal Temporal Validity:</a:t>
            </a:r>
            <a:br/>
            <a:r>
              <a:t>   0 &lt;= τ(v) - τ(u) &lt;= Δt_window (Strict forward causality)</a:t>
            </a:r>
            <a:br/>
            <a:br/>
            <a:r>
              <a:t>Global Graph Synthesis:</a:t>
            </a:r>
            <a:br/>
            <a:r>
              <a:t>G_global = G_edge ∪ G_fog ∪ G_cloud ∪ E_network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EXPERIMENTAL SETUP</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6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Experimental Testbed &amp; Ground-Truth Provenance Dataset</a:t>
            </a:r>
          </a:p>
        </p:txBody>
      </p:sp>
      <p:sp>
        <p:nvSpPr>
          <p:cNvPr id="7" name="Rectangle 6"/>
          <p:cNvSpPr/>
          <p:nvPr/>
        </p:nvSpPr>
        <p:spPr>
          <a:xfrm>
            <a:off x="731520" y="1371600"/>
            <a:ext cx="530352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303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4937760" cy="365760"/>
          </a:xfrm>
          <a:prstGeom prst="rect">
            <a:avLst/>
          </a:prstGeom>
          <a:noFill/>
        </p:spPr>
        <p:txBody>
          <a:bodyPr wrap="square">
            <a:spAutoFit/>
          </a:bodyPr>
          <a:lstStyle/>
          <a:p>
            <a:pPr>
              <a:defRPr sz="1300" b="1">
                <a:solidFill>
                  <a:srgbClr val="0F172A"/>
                </a:solidFill>
                <a:latin typeface="Segoe UI"/>
              </a:defRPr>
            </a:pPr>
            <a:r>
              <a:t>1. Simulated Multi-Tier Testbed Topology</a:t>
            </a:r>
          </a:p>
        </p:txBody>
      </p:sp>
      <p:sp>
        <p:nvSpPr>
          <p:cNvPr id="10" name="TextBox 9"/>
          <p:cNvSpPr txBox="1"/>
          <p:nvPr/>
        </p:nvSpPr>
        <p:spPr>
          <a:xfrm>
            <a:off x="914400" y="1828800"/>
            <a:ext cx="4937760" cy="4206240"/>
          </a:xfrm>
          <a:prstGeom prst="rect">
            <a:avLst/>
          </a:prstGeom>
          <a:noFill/>
        </p:spPr>
        <p:txBody>
          <a:bodyPr wrap="square">
            <a:spAutoFit/>
          </a:bodyPr>
          <a:lstStyle/>
          <a:p>
            <a:pPr>
              <a:defRPr sz="1000">
                <a:solidFill>
                  <a:srgbClr val="0F172A"/>
                </a:solidFill>
                <a:latin typeface="Consolas"/>
              </a:defRPr>
            </a:pPr>
            <a:r>
              <a:t>Infrastructure Emulation (cloud_m7.simulator):</a:t>
            </a:r>
            <a:br/>
            <a:r>
              <a:t>• Edge Nodes (3 Hosts):</a:t>
            </a:r>
            <a:br/>
            <a:r>
              <a:t>   - edge-sensor-01 (IoT Sensor, IP: 192.168.1.50, CPU: 800mcores)</a:t>
            </a:r>
            <a:br/>
            <a:r>
              <a:t>   - edge-sensor-02 (Firmware Unit, IP: 192.168.1.51)</a:t>
            </a:r>
            <a:br/>
            <a:r>
              <a:t>   - edge-actuator-03 (Control Bus Unit, IP: 192.168.1.52)</a:t>
            </a:r>
            <a:br/>
            <a:r>
              <a:t>• Fog Gateway (1 Host):</a:t>
            </a:r>
            <a:br/>
            <a:r>
              <a:t>   - fog-gateway-01 (Aggregator &amp; Pivot, IP: 10.0.1.1, Dual-NIC)</a:t>
            </a:r>
            <a:br/>
            <a:r>
              <a:t>• Cloud Cluster (2 Hosts):</a:t>
            </a:r>
            <a:br/>
            <a:r>
              <a:t>   - cloud-api-prod (REST Gateway, IP: 172.16.0.10, Port: 443)</a:t>
            </a:r>
            <a:br/>
            <a:r>
              <a:t>   - cloud-db-cluster (Crown Jewel Database, IP: 172.16.0.25)</a:t>
            </a:r>
          </a:p>
          <a:p>
            <a:br/>
            <a:pPr>
              <a:defRPr sz="1100">
                <a:solidFill>
                  <a:srgbClr val="1E293B"/>
                </a:solidFill>
                <a:latin typeface="Segoe UI"/>
              </a:defRPr>
            </a:pPr>
            <a:r>
              <a:t>Realistic OS Telemetry Emulated:</a:t>
            </a:r>
            <a:br/>
            <a:r>
              <a:t>Process forking, memory corruption execution, file dropping, credential scraping, and cross-tier TCP/HTTPS connections.</a:t>
            </a:r>
          </a:p>
        </p:txBody>
      </p:sp>
      <p:sp>
        <p:nvSpPr>
          <p:cNvPr id="11" name="Rectangle 10"/>
          <p:cNvSpPr/>
          <p:nvPr/>
        </p:nvSpPr>
        <p:spPr>
          <a:xfrm>
            <a:off x="6217920" y="1371600"/>
            <a:ext cx="523951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39512"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81328"/>
            <a:ext cx="4873752" cy="365760"/>
          </a:xfrm>
          <a:prstGeom prst="rect">
            <a:avLst/>
          </a:prstGeom>
          <a:noFill/>
        </p:spPr>
        <p:txBody>
          <a:bodyPr wrap="square">
            <a:spAutoFit/>
          </a:bodyPr>
          <a:lstStyle/>
          <a:p>
            <a:pPr>
              <a:defRPr sz="1300" b="1">
                <a:solidFill>
                  <a:srgbClr val="0F172A"/>
                </a:solidFill>
                <a:latin typeface="Segoe UI"/>
              </a:defRPr>
            </a:pPr>
            <a:r>
              <a:t>2. Dataset Composition: Ground Truth vs Noise</a:t>
            </a:r>
          </a:p>
        </p:txBody>
      </p:sp>
      <p:sp>
        <p:nvSpPr>
          <p:cNvPr id="14" name="TextBox 13"/>
          <p:cNvSpPr txBox="1"/>
          <p:nvPr/>
        </p:nvSpPr>
        <p:spPr>
          <a:xfrm>
            <a:off x="6400800" y="1828800"/>
            <a:ext cx="4873752" cy="4206240"/>
          </a:xfrm>
          <a:prstGeom prst="rect">
            <a:avLst/>
          </a:prstGeom>
          <a:noFill/>
        </p:spPr>
        <p:txBody>
          <a:bodyPr wrap="square">
            <a:spAutoFit/>
          </a:bodyPr>
          <a:lstStyle/>
          <a:p>
            <a:pPr>
              <a:defRPr sz="1300" b="1">
                <a:solidFill>
                  <a:srgbClr val="2563EB"/>
                </a:solidFill>
                <a:latin typeface="Segoe UI"/>
              </a:defRPr>
            </a:pPr>
            <a:r>
              <a:t>Total Dataset: 70 Provenance Events</a:t>
            </a:r>
          </a:p>
          <a:p>
            <a:br/>
            <a:pPr>
              <a:defRPr sz="1100">
                <a:solidFill>
                  <a:srgbClr val="1E293B"/>
                </a:solidFill>
                <a:latin typeface="Segoe UI"/>
              </a:defRPr>
            </a:pPr>
            <a:r>
              <a:t>• 40 Benign Background Noise Events:</a:t>
            </a:r>
            <a:br/>
            <a:r>
              <a:t>   - Routine IoT sensor readings &amp; local cache flushes.</a:t>
            </a:r>
            <a:br/>
            <a:r>
              <a:t>   - Gateway keep-alive beacons &amp; Fog telemetry aggregation.</a:t>
            </a:r>
            <a:br/>
            <a:r>
              <a:t>   - Normal cloud admin queries &amp; background DB maintenance.</a:t>
            </a:r>
            <a:br/>
            <a:br/>
            <a:r>
              <a:t>• 30 Co-Occurring Attack Events across 3 Vectors:</a:t>
            </a:r>
            <a:br/>
            <a:r>
              <a:t>   - Vector 1 (14 Events): Primary exploit path from edge-sensor-01 -&gt; Fog -&gt; Cloud database exfiltration dump.</a:t>
            </a:r>
            <a:br/>
            <a:r>
              <a:t>   - Vector 2 (8 Events): Concurrent firmware command-injection exploit on edge-sensor-02.</a:t>
            </a:r>
            <a:br/>
            <a:r>
              <a:t>   - Vector 3 (8 Events): Unauthorized control-bus command injection on edge-actuator-03.</a:t>
            </a:r>
            <a:br/>
            <a:br/>
            <a:r>
              <a:t>• Why Controlled Ground Truth is Necessary for Review 1:</a:t>
            </a:r>
            <a:br/>
            <a:r>
              <a:t>   Guarantees 100% path recall and 0% false positive stitching before scaling to public datasets (DARPA OpTC) in Phase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FORENSIC TIMELINE</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7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Reconstructed Attack Timeline: From Edge Exploit to Cloud Exfiltration</a:t>
            </a:r>
          </a:p>
        </p:txBody>
      </p:sp>
      <p:sp>
        <p:nvSpPr>
          <p:cNvPr id="7" name="Rectangle 6"/>
          <p:cNvSpPr/>
          <p:nvPr/>
        </p:nvSpPr>
        <p:spPr>
          <a:xfrm>
            <a:off x="731520"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328416"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2962656" cy="365760"/>
          </a:xfrm>
          <a:prstGeom prst="rect">
            <a:avLst/>
          </a:prstGeom>
          <a:noFill/>
        </p:spPr>
        <p:txBody>
          <a:bodyPr wrap="square">
            <a:spAutoFit/>
          </a:bodyPr>
          <a:lstStyle/>
          <a:p>
            <a:pPr>
              <a:defRPr sz="1300" b="1">
                <a:solidFill>
                  <a:srgbClr val="0F172A"/>
                </a:solidFill>
                <a:latin typeface="Segoe UI"/>
              </a:defRPr>
            </a:pPr>
            <a:r>
              <a:t>Tier 1: Edge Exploitation (Steps 1–5)</a:t>
            </a:r>
          </a:p>
        </p:txBody>
      </p:sp>
      <p:sp>
        <p:nvSpPr>
          <p:cNvPr id="10" name="TextBox 9"/>
          <p:cNvSpPr txBox="1"/>
          <p:nvPr/>
        </p:nvSpPr>
        <p:spPr>
          <a:xfrm>
            <a:off x="914400" y="1920240"/>
            <a:ext cx="2962656" cy="4114800"/>
          </a:xfrm>
          <a:prstGeom prst="rect">
            <a:avLst/>
          </a:prstGeom>
          <a:noFill/>
        </p:spPr>
        <p:txBody>
          <a:bodyPr wrap="square">
            <a:spAutoFit/>
          </a:bodyPr>
          <a:lstStyle/>
          <a:p>
            <a:pPr>
              <a:defRPr sz="1100">
                <a:solidFill>
                  <a:srgbClr val="1E293B"/>
                </a:solidFill>
                <a:latin typeface="Segoe UI"/>
              </a:defRPr>
            </a:pPr>
            <a:r>
              <a:t>Host: edge-sensor-01 (192.168.1.50)</a:t>
            </a:r>
            <a:br/>
            <a:r>
              <a:t>• Step 01: [Process] Memory corruption in /usr/bin/iot_agent</a:t>
            </a:r>
            <a:br/>
            <a:r>
              <a:t>• Step 02: [Process] Elevated root /bin/sh spawned</a:t>
            </a:r>
            <a:br/>
            <a:r>
              <a:t>• Step 03: [File] Drops /tmp/.pivot_beacon.sh staging script</a:t>
            </a:r>
            <a:br/>
            <a:r>
              <a:t>• Step 04: [File] Reads /etc/iot/fog_gateway_token.key</a:t>
            </a:r>
            <a:br/>
            <a:r>
              <a:t>• Step 05: [Socket] Outbound TCP socket initiated to Fog gateway (Port 8080)</a:t>
            </a:r>
          </a:p>
        </p:txBody>
      </p:sp>
      <p:sp>
        <p:nvSpPr>
          <p:cNvPr id="11" name="Rectangle 10"/>
          <p:cNvSpPr/>
          <p:nvPr/>
        </p:nvSpPr>
        <p:spPr>
          <a:xfrm>
            <a:off x="4425696"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5696" y="1371600"/>
            <a:ext cx="3328416"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481328"/>
            <a:ext cx="2962656" cy="365760"/>
          </a:xfrm>
          <a:prstGeom prst="rect">
            <a:avLst/>
          </a:prstGeom>
          <a:noFill/>
        </p:spPr>
        <p:txBody>
          <a:bodyPr wrap="square">
            <a:spAutoFit/>
          </a:bodyPr>
          <a:lstStyle/>
          <a:p>
            <a:pPr>
              <a:defRPr sz="1300" b="1">
                <a:solidFill>
                  <a:srgbClr val="0F172A"/>
                </a:solidFill>
                <a:latin typeface="Segoe UI"/>
              </a:defRPr>
            </a:pPr>
            <a:r>
              <a:t>Tier 2: Fog Lateral Pivot (Steps 6–9)</a:t>
            </a:r>
          </a:p>
        </p:txBody>
      </p:sp>
      <p:sp>
        <p:nvSpPr>
          <p:cNvPr id="14" name="TextBox 13"/>
          <p:cNvSpPr txBox="1"/>
          <p:nvPr/>
        </p:nvSpPr>
        <p:spPr>
          <a:xfrm>
            <a:off x="4608576" y="1920240"/>
            <a:ext cx="2962656" cy="4114800"/>
          </a:xfrm>
          <a:prstGeom prst="rect">
            <a:avLst/>
          </a:prstGeom>
          <a:noFill/>
        </p:spPr>
        <p:txBody>
          <a:bodyPr wrap="square">
            <a:spAutoFit/>
          </a:bodyPr>
          <a:lstStyle/>
          <a:p>
            <a:pPr>
              <a:defRPr sz="1100">
                <a:solidFill>
                  <a:srgbClr val="1E293B"/>
                </a:solidFill>
                <a:latin typeface="Segoe UI"/>
              </a:defRPr>
            </a:pPr>
            <a:r>
              <a:t>Host: fog-gateway-01 (10.0.1.1)</a:t>
            </a:r>
            <a:br/>
            <a:r>
              <a:t>• Step 06: [Socket] Inbound socket accepted using stolen token (E_network Edge-&gt;Fog)</a:t>
            </a:r>
            <a:br/>
            <a:r>
              <a:t>• Step 07: [Process] Unauthorized Python cred-scraper executed</a:t>
            </a:r>
            <a:br/>
            <a:r>
              <a:t>• Step 08: [File] Stealth cron persistence /etc/cron.d/stealth_persist written</a:t>
            </a:r>
            <a:br/>
            <a:r>
              <a:t>• Step 09: [Socket] Outbound HTTPS socket initiated to Cloud API Ingress (Port 443)</a:t>
            </a:r>
            <a:br/>
            <a:br/>
            <a:r>
              <a:t>[★ CRITICAL ARTICULATION CHOKE POINT ★]</a:t>
            </a:r>
          </a:p>
        </p:txBody>
      </p:sp>
      <p:sp>
        <p:nvSpPr>
          <p:cNvPr id="15" name="Rectangle 14"/>
          <p:cNvSpPr/>
          <p:nvPr/>
        </p:nvSpPr>
        <p:spPr>
          <a:xfrm>
            <a:off x="8119872" y="1371600"/>
            <a:ext cx="3328416"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1371600"/>
            <a:ext cx="3328416"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481328"/>
            <a:ext cx="2962656" cy="365760"/>
          </a:xfrm>
          <a:prstGeom prst="rect">
            <a:avLst/>
          </a:prstGeom>
          <a:noFill/>
        </p:spPr>
        <p:txBody>
          <a:bodyPr wrap="square">
            <a:spAutoFit/>
          </a:bodyPr>
          <a:lstStyle/>
          <a:p>
            <a:pPr>
              <a:defRPr sz="1300" b="1">
                <a:solidFill>
                  <a:srgbClr val="0F172A"/>
                </a:solidFill>
                <a:latin typeface="Segoe UI"/>
              </a:defRPr>
            </a:pPr>
            <a:r>
              <a:t>Tier 3: Cloud Exfiltration (Steps 10–14)</a:t>
            </a:r>
          </a:p>
        </p:txBody>
      </p:sp>
      <p:sp>
        <p:nvSpPr>
          <p:cNvPr id="18" name="TextBox 17"/>
          <p:cNvSpPr txBox="1"/>
          <p:nvPr/>
        </p:nvSpPr>
        <p:spPr>
          <a:xfrm>
            <a:off x="8302752" y="1920240"/>
            <a:ext cx="2962656" cy="4114800"/>
          </a:xfrm>
          <a:prstGeom prst="rect">
            <a:avLst/>
          </a:prstGeom>
          <a:noFill/>
        </p:spPr>
        <p:txBody>
          <a:bodyPr wrap="square">
            <a:spAutoFit/>
          </a:bodyPr>
          <a:lstStyle/>
          <a:p>
            <a:pPr>
              <a:defRPr sz="1100">
                <a:solidFill>
                  <a:srgbClr val="1E293B"/>
                </a:solidFill>
                <a:latin typeface="Segoe UI"/>
              </a:defRPr>
            </a:pPr>
            <a:r>
              <a:t>Hosts: cloud-api-prod &amp; cloud-db-cluster</a:t>
            </a:r>
            <a:br/>
            <a:r>
              <a:t>• Step 10: [Socket] Cloud ingress accepts socket (E_network Fog-&gt;Cloud)</a:t>
            </a:r>
            <a:br/>
            <a:r>
              <a:t>• Step 11: [API] Unauthorized POST /v1/admin/export_customer_data invoked</a:t>
            </a:r>
            <a:br/>
            <a:r>
              <a:t>• Step 12: [API] SQL query SELECT * FROM enterprise_customer_records</a:t>
            </a:r>
            <a:br/>
            <a:r>
              <a:t>• Step 13: [File] 50,000 customer records archived to /tmp/exfil.tar.gz</a:t>
            </a:r>
            <a:br/>
            <a:r>
              <a:t>• Step 14: [Socket] Exfiltrated to external adversary C2 (198.51.100.77:443)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NOVELTY 1: OPTIMIZATION</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8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Novelty 1: Tier-Adaptive Forensic Task Placement Optimization</a:t>
            </a:r>
          </a:p>
        </p:txBody>
      </p:sp>
      <p:sp>
        <p:nvSpPr>
          <p:cNvPr id="7" name="Rectangle 6"/>
          <p:cNvSpPr/>
          <p:nvPr/>
        </p:nvSpPr>
        <p:spPr>
          <a:xfrm>
            <a:off x="731520" y="1371600"/>
            <a:ext cx="10725912" cy="14630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0725912"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10360152" cy="365760"/>
          </a:xfrm>
          <a:prstGeom prst="rect">
            <a:avLst/>
          </a:prstGeom>
          <a:noFill/>
        </p:spPr>
        <p:txBody>
          <a:bodyPr wrap="square">
            <a:spAutoFit/>
          </a:bodyPr>
          <a:lstStyle/>
          <a:p>
            <a:pPr>
              <a:defRPr sz="1300" b="1">
                <a:solidFill>
                  <a:srgbClr val="0F172A"/>
                </a:solidFill>
                <a:latin typeface="Segoe UI"/>
              </a:defRPr>
            </a:pPr>
            <a:r>
              <a:t>Constrained Multi-Objective Optimization Formulation (Equation 2)</a:t>
            </a:r>
          </a:p>
        </p:txBody>
      </p:sp>
      <p:sp>
        <p:nvSpPr>
          <p:cNvPr id="10" name="TextBox 9"/>
          <p:cNvSpPr txBox="1"/>
          <p:nvPr/>
        </p:nvSpPr>
        <p:spPr>
          <a:xfrm>
            <a:off x="914400" y="1783080"/>
            <a:ext cx="10332720" cy="914400"/>
          </a:xfrm>
          <a:prstGeom prst="rect">
            <a:avLst/>
          </a:prstGeom>
          <a:noFill/>
        </p:spPr>
        <p:txBody>
          <a:bodyPr wrap="square">
            <a:spAutoFit/>
          </a:bodyPr>
          <a:lstStyle/>
          <a:p>
            <a:pPr>
              <a:defRPr sz="1400" b="1">
                <a:solidFill>
                  <a:srgbClr val="2563EB"/>
                </a:solidFill>
                <a:latin typeface="Consolas"/>
              </a:defRPr>
            </a:pPr>
            <a:r>
              <a:t>min_x  J(x) = α · Lat(x) + β · BW(x) + γ · Priv(x) + δ · Cost(x)    subject to: C_edge(x) &lt;= C_max</a:t>
            </a:r>
          </a:p>
          <a:p>
            <a:pPr>
              <a:defRPr sz="1100">
                <a:solidFill>
                  <a:srgbClr val="1E293B"/>
                </a:solidFill>
                <a:latin typeface="Segoe UI"/>
              </a:defRPr>
            </a:pPr>
            <a:r>
              <a:t>Where x = {EventCapture, PrivacyFilter, GraphReduction, CrossTierFusion, CausalAnalytics, LongTermStorage} ∈ {Edge, Fog, Cloud}</a:t>
            </a:r>
          </a:p>
        </p:txBody>
      </p:sp>
      <p:sp>
        <p:nvSpPr>
          <p:cNvPr id="11" name="Rectangle 10"/>
          <p:cNvSpPr/>
          <p:nvPr/>
        </p:nvSpPr>
        <p:spPr>
          <a:xfrm>
            <a:off x="731520" y="3017520"/>
            <a:ext cx="2468880"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17520"/>
            <a:ext cx="109728" cy="1371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08960"/>
            <a:ext cx="2194560" cy="1188720"/>
          </a:xfrm>
          <a:prstGeom prst="rect">
            <a:avLst/>
          </a:prstGeom>
          <a:noFill/>
        </p:spPr>
        <p:txBody>
          <a:bodyPr wrap="square">
            <a:spAutoFit/>
          </a:bodyPr>
          <a:lstStyle/>
          <a:p>
            <a:pPr>
              <a:defRPr sz="2000" b="1">
                <a:solidFill>
                  <a:srgbClr val="059669"/>
                </a:solidFill>
                <a:latin typeface="Segoe UI"/>
              </a:defRPr>
            </a:pPr>
            <a:r>
              <a:t>90.0% SAVED</a:t>
            </a:r>
          </a:p>
          <a:p>
            <a:pPr>
              <a:spcBef>
                <a:spcPts val="200"/>
              </a:spcBef>
              <a:defRPr sz="1000">
                <a:solidFill>
                  <a:srgbClr val="1E293B"/>
                </a:solidFill>
                <a:latin typeface="Segoe UI"/>
              </a:defRPr>
            </a:pPr>
            <a:r>
              <a:t>Bandwidth: 500 -&gt; 50 KB/s</a:t>
            </a:r>
          </a:p>
        </p:txBody>
      </p:sp>
      <p:sp>
        <p:nvSpPr>
          <p:cNvPr id="14" name="Rectangle 13"/>
          <p:cNvSpPr/>
          <p:nvPr/>
        </p:nvSpPr>
        <p:spPr>
          <a:xfrm>
            <a:off x="3474720" y="3017520"/>
            <a:ext cx="2468880"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3017520"/>
            <a:ext cx="109728" cy="1371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3108960"/>
            <a:ext cx="2194560" cy="1188720"/>
          </a:xfrm>
          <a:prstGeom prst="rect">
            <a:avLst/>
          </a:prstGeom>
          <a:noFill/>
        </p:spPr>
        <p:txBody>
          <a:bodyPr wrap="square">
            <a:spAutoFit/>
          </a:bodyPr>
          <a:lstStyle/>
          <a:p>
            <a:pPr>
              <a:defRPr sz="2000" b="1">
                <a:solidFill>
                  <a:srgbClr val="2563EB"/>
                </a:solidFill>
                <a:latin typeface="Segoe UI"/>
              </a:defRPr>
            </a:pPr>
            <a:r>
              <a:t>87.5% FASTER</a:t>
            </a:r>
          </a:p>
          <a:p>
            <a:pPr>
              <a:spcBef>
                <a:spcPts val="200"/>
              </a:spcBef>
              <a:defRPr sz="1000">
                <a:solidFill>
                  <a:srgbClr val="1E293B"/>
                </a:solidFill>
                <a:latin typeface="Segoe UI"/>
              </a:defRPr>
            </a:pPr>
            <a:r>
              <a:t>Latency: 160 -&gt; 20 ms</a:t>
            </a:r>
          </a:p>
        </p:txBody>
      </p:sp>
      <p:sp>
        <p:nvSpPr>
          <p:cNvPr id="17" name="Rectangle 16"/>
          <p:cNvSpPr/>
          <p:nvPr/>
        </p:nvSpPr>
        <p:spPr>
          <a:xfrm>
            <a:off x="6217920" y="3017520"/>
            <a:ext cx="2468880"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017520"/>
            <a:ext cx="109728" cy="1371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08960"/>
            <a:ext cx="2194560" cy="1188720"/>
          </a:xfrm>
          <a:prstGeom prst="rect">
            <a:avLst/>
          </a:prstGeom>
          <a:noFill/>
        </p:spPr>
        <p:txBody>
          <a:bodyPr wrap="square">
            <a:spAutoFit/>
          </a:bodyPr>
          <a:lstStyle/>
          <a:p>
            <a:pPr>
              <a:defRPr sz="2000" b="1">
                <a:solidFill>
                  <a:srgbClr val="D97706"/>
                </a:solidFill>
                <a:latin typeface="Segoe UI"/>
              </a:defRPr>
            </a:pPr>
            <a:r>
              <a:t>95.8% MITIGATED</a:t>
            </a:r>
          </a:p>
          <a:p>
            <a:pPr>
              <a:spcBef>
                <a:spcPts val="200"/>
              </a:spcBef>
              <a:defRPr sz="1000">
                <a:solidFill>
                  <a:srgbClr val="1E293B"/>
                </a:solidFill>
                <a:latin typeface="Segoe UI"/>
              </a:defRPr>
            </a:pPr>
            <a:r>
              <a:t>Privacy Exposure Penalty</a:t>
            </a:r>
          </a:p>
        </p:txBody>
      </p:sp>
      <p:sp>
        <p:nvSpPr>
          <p:cNvPr id="20" name="Rectangle 19"/>
          <p:cNvSpPr/>
          <p:nvPr/>
        </p:nvSpPr>
        <p:spPr>
          <a:xfrm>
            <a:off x="8961120" y="3017520"/>
            <a:ext cx="2496312"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1120" y="3017520"/>
            <a:ext cx="109728" cy="1371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3108960"/>
            <a:ext cx="2221992" cy="1188720"/>
          </a:xfrm>
          <a:prstGeom prst="rect">
            <a:avLst/>
          </a:prstGeom>
          <a:noFill/>
        </p:spPr>
        <p:txBody>
          <a:bodyPr wrap="square">
            <a:spAutoFit/>
          </a:bodyPr>
          <a:lstStyle/>
          <a:p>
            <a:pPr>
              <a:defRPr sz="2000" b="1">
                <a:solidFill>
                  <a:srgbClr val="059669"/>
                </a:solidFill>
                <a:latin typeface="Segoe UI"/>
              </a:defRPr>
            </a:pPr>
            <a:r>
              <a:t>620 / 800 mcores</a:t>
            </a:r>
          </a:p>
          <a:p>
            <a:pPr>
              <a:spcBef>
                <a:spcPts val="200"/>
              </a:spcBef>
              <a:defRPr sz="1000">
                <a:solidFill>
                  <a:srgbClr val="1E293B"/>
                </a:solidFill>
                <a:latin typeface="Segoe UI"/>
              </a:defRPr>
            </a:pPr>
            <a:r>
              <a:t>Edge CPU Capacity Feasible</a:t>
            </a:r>
          </a:p>
        </p:txBody>
      </p:sp>
      <p:sp>
        <p:nvSpPr>
          <p:cNvPr id="23" name="Rectangle 22"/>
          <p:cNvSpPr/>
          <p:nvPr/>
        </p:nvSpPr>
        <p:spPr>
          <a:xfrm>
            <a:off x="731520" y="4572000"/>
            <a:ext cx="10725912" cy="1645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572000"/>
            <a:ext cx="10725912"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681728"/>
            <a:ext cx="10360152" cy="365760"/>
          </a:xfrm>
          <a:prstGeom prst="rect">
            <a:avLst/>
          </a:prstGeom>
          <a:noFill/>
        </p:spPr>
        <p:txBody>
          <a:bodyPr wrap="square">
            <a:spAutoFit/>
          </a:bodyPr>
          <a:lstStyle/>
          <a:p>
            <a:pPr>
              <a:defRPr sz="1300" b="1">
                <a:solidFill>
                  <a:srgbClr val="0F172A"/>
                </a:solidFill>
                <a:latin typeface="Segoe UI"/>
              </a:defRPr>
            </a:pPr>
            <a:r>
              <a:t>Discovered Optimal Forensic Task Assignment</a:t>
            </a:r>
          </a:p>
        </p:txBody>
      </p:sp>
      <p:sp>
        <p:nvSpPr>
          <p:cNvPr id="26" name="TextBox 25"/>
          <p:cNvSpPr txBox="1"/>
          <p:nvPr/>
        </p:nvSpPr>
        <p:spPr>
          <a:xfrm>
            <a:off x="914400" y="4937760"/>
            <a:ext cx="10332720" cy="1188720"/>
          </a:xfrm>
          <a:prstGeom prst="rect">
            <a:avLst/>
          </a:prstGeom>
          <a:noFill/>
        </p:spPr>
        <p:txBody>
          <a:bodyPr wrap="square">
            <a:spAutoFit/>
          </a:bodyPr>
          <a:lstStyle/>
          <a:p>
            <a:pPr>
              <a:defRPr sz="950">
                <a:solidFill>
                  <a:srgbClr val="0F172A"/>
                </a:solidFill>
                <a:latin typeface="Consolas"/>
              </a:defRPr>
            </a:pPr>
            <a:r>
              <a:t>• EventCapture       -&gt; [EDGE] Tier   (Low-latency eBPF syscall capture at local device)</a:t>
            </a:r>
            <a:br/>
            <a:r>
              <a:t>• PrivacyFilter      -&gt; [EDGE] Tier   (In-memory masking prevents sensitive payloads from leaving device boundary)</a:t>
            </a:r>
            <a:br/>
            <a:r>
              <a:t>• GraphReduction     -&gt; [EDGE] Tier   (Prunes repetitive read/write loop noise locally; saves 90% uplink bandwidth)</a:t>
            </a:r>
            <a:br/>
            <a:r>
              <a:t>• CrossTierFusion    -&gt; [FOG] Tier    (Intermediate gateway stitches edge socket events with regional flows)</a:t>
            </a:r>
            <a:br/>
            <a:r>
              <a:t>• CausalAnalytics    -&gt; [CLOUD] Tier  (Global DAG backward/forward traversal and multi-root discovery)</a:t>
            </a:r>
            <a:br/>
            <a:r>
              <a:t>• LongTermStorage    -&gt; [CLOUD] Tier  (Tamper-evident immutable storage with SHA-256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NOVELTY 2: DISCOVERY LOOP</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9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Novelty 2: Hyperparameter-Tuned Iterative Multi-Root Causal Discovery</a:t>
            </a:r>
          </a:p>
        </p:txBody>
      </p:sp>
      <p:sp>
        <p:nvSpPr>
          <p:cNvPr id="7" name="Rectangle 6"/>
          <p:cNvSpPr/>
          <p:nvPr/>
        </p:nvSpPr>
        <p:spPr>
          <a:xfrm>
            <a:off x="731520" y="1371600"/>
            <a:ext cx="530352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303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4937760" cy="365760"/>
          </a:xfrm>
          <a:prstGeom prst="rect">
            <a:avLst/>
          </a:prstGeom>
          <a:noFill/>
        </p:spPr>
        <p:txBody>
          <a:bodyPr wrap="square">
            <a:spAutoFit/>
          </a:bodyPr>
          <a:lstStyle/>
          <a:p>
            <a:pPr>
              <a:defRPr sz="1300" b="1">
                <a:solidFill>
                  <a:srgbClr val="0F172A"/>
                </a:solidFill>
                <a:latin typeface="Segoe UI"/>
              </a:defRPr>
            </a:pPr>
            <a:r>
              <a:t>1. Mathematical Formulation &amp; Diminishing Returns</a:t>
            </a:r>
          </a:p>
        </p:txBody>
      </p:sp>
      <p:sp>
        <p:nvSpPr>
          <p:cNvPr id="10" name="TextBox 9"/>
          <p:cNvSpPr txBox="1"/>
          <p:nvPr/>
        </p:nvSpPr>
        <p:spPr>
          <a:xfrm>
            <a:off x="914400" y="1828800"/>
            <a:ext cx="4937760" cy="4206240"/>
          </a:xfrm>
          <a:prstGeom prst="rect">
            <a:avLst/>
          </a:prstGeom>
          <a:noFill/>
        </p:spPr>
        <p:txBody>
          <a:bodyPr wrap="square">
            <a:spAutoFit/>
          </a:bodyPr>
          <a:lstStyle/>
          <a:p>
            <a:pPr>
              <a:defRPr sz="1100">
                <a:solidFill>
                  <a:srgbClr val="1E293B"/>
                </a:solidFill>
                <a:latin typeface="Segoe UI"/>
              </a:defRPr>
            </a:pPr>
            <a:r>
              <a:t>The Flaw in Traditional Forensic Algorithms:</a:t>
            </a:r>
            <a:br/>
            <a:r>
              <a:t>Standard backward traversal (BFS/DFS) stops immediately when it reaches the first root cause (in-degree = 0). In multi-stage cyberattacks, this leaves secondary compromised sensors and dormant backdoors completely invisible.</a:t>
            </a:r>
          </a:p>
          <a:p>
            <a:br/>
            <a:pPr>
              <a:defRPr sz="1300" b="1">
                <a:solidFill>
                  <a:srgbClr val="2563EB"/>
                </a:solidFill>
                <a:latin typeface="Consolas"/>
              </a:defRPr>
            </a:pPr>
            <a:r>
              <a:t>Iterative Marginal Impact Formulation:</a:t>
            </a:r>
            <a:br/>
            <a:r>
              <a:t>ΔI_k = Impact(R_k) · e^(-λ · k) &gt;= ε</a:t>
            </a:r>
          </a:p>
          <a:p>
            <a:br/>
            <a:pPr>
              <a:defRPr sz="1100">
                <a:solidFill>
                  <a:srgbClr val="1E293B"/>
                </a:solidFill>
                <a:latin typeface="Segoe UI"/>
              </a:defRPr>
            </a:pPr>
            <a:r>
              <a:t>Configurable Hyperparameters:</a:t>
            </a:r>
            <a:br/>
            <a:r>
              <a:t>• K_max (Default: 5): Maximum iteration ceiling to bound compute time.</a:t>
            </a:r>
            <a:br/>
            <a:r>
              <a:t>• ε (Default: 1.0): Stopping threshold for negligible marginal impact.</a:t>
            </a:r>
            <a:br/>
            <a:r>
              <a:t>• λ (Default: 0.1): Exponential decay damping factor.</a:t>
            </a:r>
            <a:br/>
            <a:br/>
            <a:r>
              <a:t>Algorithmic Step: At iteration k, the engine subtracts previously discovered paths (G_k = G_global \ ∪ P_j) and re-evaluates remaining roots.</a:t>
            </a:r>
          </a:p>
        </p:txBody>
      </p:sp>
      <p:sp>
        <p:nvSpPr>
          <p:cNvPr id="11" name="Rectangle 10"/>
          <p:cNvSpPr/>
          <p:nvPr/>
        </p:nvSpPr>
        <p:spPr>
          <a:xfrm>
            <a:off x="6217920" y="1371600"/>
            <a:ext cx="523951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39512"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81328"/>
            <a:ext cx="4873752" cy="365760"/>
          </a:xfrm>
          <a:prstGeom prst="rect">
            <a:avLst/>
          </a:prstGeom>
          <a:noFill/>
        </p:spPr>
        <p:txBody>
          <a:bodyPr wrap="square">
            <a:spAutoFit/>
          </a:bodyPr>
          <a:lstStyle/>
          <a:p>
            <a:pPr>
              <a:defRPr sz="1300" b="1">
                <a:solidFill>
                  <a:srgbClr val="0F172A"/>
                </a:solidFill>
                <a:latin typeface="Segoe UI"/>
              </a:defRPr>
            </a:pPr>
            <a:r>
              <a:t>2. Empirical Multi-Vector Discovery Results</a:t>
            </a:r>
          </a:p>
        </p:txBody>
      </p:sp>
      <p:sp>
        <p:nvSpPr>
          <p:cNvPr id="14" name="TextBox 13"/>
          <p:cNvSpPr txBox="1"/>
          <p:nvPr/>
        </p:nvSpPr>
        <p:spPr>
          <a:xfrm>
            <a:off x="6400800" y="1828800"/>
            <a:ext cx="4873752" cy="4206240"/>
          </a:xfrm>
          <a:prstGeom prst="rect">
            <a:avLst/>
          </a:prstGeom>
          <a:noFill/>
        </p:spPr>
        <p:txBody>
          <a:bodyPr wrap="square">
            <a:spAutoFit/>
          </a:bodyPr>
          <a:lstStyle/>
          <a:p>
            <a:pPr>
              <a:defRPr sz="1200" b="1">
                <a:solidFill>
                  <a:srgbClr val="0F172A"/>
                </a:solidFill>
                <a:latin typeface="Segoe UI"/>
              </a:defRPr>
            </a:pPr>
            <a:r>
              <a:t>Discovered Attack Vectors Across Iterations:</a:t>
            </a:r>
            <a:br/>
          </a:p>
          <a:p>
            <a:pPr>
              <a:defRPr sz="950">
                <a:solidFill>
                  <a:srgbClr val="1E293B"/>
                </a:solidFill>
                <a:latin typeface="Consolas"/>
              </a:defRPr>
            </a:pPr>
            <a:r>
              <a:t>• Iteration 1 [Primary Entry Point]:</a:t>
            </a:r>
            <a:br/>
            <a:r>
              <a:t>   - Entry Point: [EDGE] on 'edge-sensor-01'</a:t>
            </a:r>
            <a:br/>
            <a:r>
              <a:t>   - Entity: /usr/bin/iot_agent memory corruption</a:t>
            </a:r>
            <a:br/>
            <a:r>
              <a:t>   - Path Length: 14 hops to Cloud | Impact Score: 102.30</a:t>
            </a:r>
            <a:br/>
            <a:br/>
            <a:r>
              <a:t>• Iteration 2 [Secondary Concurrent Foothold]:</a:t>
            </a:r>
            <a:br/>
            <a:r>
              <a:t>   - Entry Point: [EDGE] on 'edge-sensor-02'</a:t>
            </a:r>
            <a:br/>
            <a:r>
              <a:t>   - Entity: /usr/sbin/fw_updater command injection</a:t>
            </a:r>
            <a:br/>
            <a:r>
              <a:t>   - Path Length: 11 hops to Cloud | Impact Score: 10.24</a:t>
            </a:r>
            <a:br/>
            <a:br/>
            <a:r>
              <a:t>• Iteration 3 [Secondary Credential Foothold]:</a:t>
            </a:r>
            <a:br/>
            <a:r>
              <a:t>   - Entry Point: [FOG] on 'fog-gateway-01'</a:t>
            </a:r>
            <a:br/>
            <a:r>
              <a:t>   - Entity: Scraped cloud_service_account.json token</a:t>
            </a:r>
            <a:br/>
            <a:r>
              <a:t>   - Path Length: 7 hops to Cloud | Impact Score: 3.77</a:t>
            </a:r>
            <a:br/>
            <a:br/>
            <a:r>
              <a:t>[*] Clean Convergence: Iteration 4 terminates as ΔI_4 &lt; 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NOVELTY 3: CHOKE POINTS</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10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Novelty 3: Interconnected Multi-Sensor Graph &amp; Choke-Point Analysis</a:t>
            </a:r>
          </a:p>
        </p:txBody>
      </p:sp>
      <p:sp>
        <p:nvSpPr>
          <p:cNvPr id="7" name="Rectangle 6"/>
          <p:cNvSpPr/>
          <p:nvPr/>
        </p:nvSpPr>
        <p:spPr>
          <a:xfrm>
            <a:off x="731520" y="1371600"/>
            <a:ext cx="530352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303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4937760" cy="365760"/>
          </a:xfrm>
          <a:prstGeom prst="rect">
            <a:avLst/>
          </a:prstGeom>
          <a:noFill/>
        </p:spPr>
        <p:txBody>
          <a:bodyPr wrap="square">
            <a:spAutoFit/>
          </a:bodyPr>
          <a:lstStyle/>
          <a:p>
            <a:pPr>
              <a:defRPr sz="1300" b="1">
                <a:solidFill>
                  <a:srgbClr val="0F172A"/>
                </a:solidFill>
                <a:latin typeface="Segoe UI"/>
              </a:defRPr>
            </a:pPr>
            <a:r>
              <a:t>1. Multi-Sensor Convergent Trajectories</a:t>
            </a:r>
          </a:p>
        </p:txBody>
      </p:sp>
      <p:sp>
        <p:nvSpPr>
          <p:cNvPr id="10" name="TextBox 9"/>
          <p:cNvSpPr txBox="1"/>
          <p:nvPr/>
        </p:nvSpPr>
        <p:spPr>
          <a:xfrm>
            <a:off x="914400" y="1828800"/>
            <a:ext cx="4937760" cy="4206240"/>
          </a:xfrm>
          <a:prstGeom prst="rect">
            <a:avLst/>
          </a:prstGeom>
          <a:noFill/>
        </p:spPr>
        <p:txBody>
          <a:bodyPr wrap="square">
            <a:spAutoFit/>
          </a:bodyPr>
          <a:lstStyle/>
          <a:p>
            <a:pPr>
              <a:defRPr sz="1100">
                <a:solidFill>
                  <a:srgbClr val="1E293B"/>
                </a:solidFill>
                <a:latin typeface="Segoe UI"/>
              </a:defRPr>
            </a:pPr>
            <a:r>
              <a:t>Multi-Device Attack Convergence:</a:t>
            </a:r>
            <a:br/>
            <a:r>
              <a:t>• In smart facilities, cyberattacks rarely stem from a single device. Attackers probe multiple sensors simultaneously (temperature sensors, smart meters, actuators).</a:t>
            </a:r>
            <a:br/>
            <a:br/>
            <a:r>
              <a:t>Graph Articulation Cut Theory:</a:t>
            </a:r>
            <a:br/>
            <a:r>
              <a:t>• Let S = {s_1, ..., s_m} be compromised edge ingress sensors and t be the target cloud asset.</a:t>
            </a:r>
            <a:br/>
            <a:r>
              <a:t>• An articulation cut-vertex v is a critical graph bottleneck whose removal partitions all edge paths from reaching t.</a:t>
            </a:r>
          </a:p>
          <a:p>
            <a:br/>
            <a:pPr>
              <a:defRPr sz="1200" b="1">
                <a:solidFill>
                  <a:srgbClr val="2563EB"/>
                </a:solidFill>
                <a:latin typeface="Consolas"/>
              </a:defRPr>
            </a:pPr>
            <a:r>
              <a:t>Containment Efficiency Metric:</a:t>
            </a:r>
            <a:br/>
            <a:r>
              <a:t>E_cut(v) = |{p ∈ P_multi | v ∈ p}| / |P_multi|</a:t>
            </a:r>
          </a:p>
        </p:txBody>
      </p:sp>
      <p:sp>
        <p:nvSpPr>
          <p:cNvPr id="11" name="Rectangle 10"/>
          <p:cNvSpPr/>
          <p:nvPr/>
        </p:nvSpPr>
        <p:spPr>
          <a:xfrm>
            <a:off x="6217920" y="1371600"/>
            <a:ext cx="523951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71600"/>
            <a:ext cx="523951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81328"/>
            <a:ext cx="4873752" cy="365760"/>
          </a:xfrm>
          <a:prstGeom prst="rect">
            <a:avLst/>
          </a:prstGeom>
          <a:noFill/>
        </p:spPr>
        <p:txBody>
          <a:bodyPr wrap="square">
            <a:spAutoFit/>
          </a:bodyPr>
          <a:lstStyle/>
          <a:p>
            <a:pPr>
              <a:defRPr sz="1300" b="1">
                <a:solidFill>
                  <a:srgbClr val="0F172A"/>
                </a:solidFill>
                <a:latin typeface="Segoe UI"/>
              </a:defRPr>
            </a:pPr>
            <a:r>
              <a:t>2. Discovered 100% Containment Bottleneck</a:t>
            </a:r>
          </a:p>
        </p:txBody>
      </p:sp>
      <p:sp>
        <p:nvSpPr>
          <p:cNvPr id="14" name="TextBox 13"/>
          <p:cNvSpPr txBox="1"/>
          <p:nvPr/>
        </p:nvSpPr>
        <p:spPr>
          <a:xfrm>
            <a:off x="6400800" y="1828800"/>
            <a:ext cx="4873752" cy="4206240"/>
          </a:xfrm>
          <a:prstGeom prst="rect">
            <a:avLst/>
          </a:prstGeom>
          <a:noFill/>
        </p:spPr>
        <p:txBody>
          <a:bodyPr wrap="square">
            <a:spAutoFit/>
          </a:bodyPr>
          <a:lstStyle/>
          <a:p>
            <a:pPr>
              <a:defRPr sz="1200" b="1">
                <a:solidFill>
                  <a:srgbClr val="D97706"/>
                </a:solidFill>
                <a:latin typeface="Segoe UI"/>
              </a:defRPr>
            </a:pPr>
            <a:r>
              <a:t>CRITICAL CHOKE-POINT DISCOVERY:</a:t>
            </a:r>
            <a:br/>
          </a:p>
          <a:p>
            <a:pPr>
              <a:defRPr sz="1050">
                <a:solidFill>
                  <a:srgbClr val="1E293B"/>
                </a:solidFill>
                <a:latin typeface="Segoe UI"/>
              </a:defRPr>
            </a:pPr>
            <a:r>
              <a:t>• Bottleneck Node: [FOG] 'fog-gateway-01:socket_connect'</a:t>
            </a:r>
            <a:br/>
            <a:r>
              <a:t>• Containment Efficiency: E_cut = 1.0 (100.0% Containment)</a:t>
            </a:r>
            <a:br/>
            <a:r>
              <a:t>• Cut-Point Verification: True (Graph Articulation Vertex)</a:t>
            </a:r>
            <a:br/>
            <a:r>
              <a:t>• Paths Severed: 3 out of 3 multi-sensor attack paths cut</a:t>
            </a:r>
            <a:br/>
            <a:br/>
            <a:r>
              <a:t>High-Impact Incident Response Takeaway:</a:t>
            </a:r>
            <a:br/>
            <a:r>
              <a:t>1. Physical Edge Containment is Impractical:</a:t>
            </a:r>
            <a:br/>
            <a:r>
              <a:t>   Security teams cannot physically patch or isolate 50+ geographically distributed edge sensors during an active zero-day breach.</a:t>
            </a:r>
            <a:br/>
            <a:br/>
            <a:r>
              <a:t>2. The CLOUD-M7 Fog Advantage:</a:t>
            </a:r>
            <a:br/>
            <a:r>
              <a:t>   By quarantining or severing just ONE single choke point on the Fog Gateway, operators achieve 100% containment of all incoming multi-sensor attack vectors instantly!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VISUAL PROOF</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11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Experimental Visual Artifacts: Reconstructed Provenance Graphs</a:t>
            </a:r>
          </a:p>
        </p:txBody>
      </p:sp>
      <p:sp>
        <p:nvSpPr>
          <p:cNvPr id="7" name="Rectangle 6"/>
          <p:cNvSpPr/>
          <p:nvPr/>
        </p:nvSpPr>
        <p:spPr>
          <a:xfrm>
            <a:off x="731520"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4846320" cy="365760"/>
          </a:xfrm>
          <a:prstGeom prst="rect">
            <a:avLst/>
          </a:prstGeom>
          <a:noFill/>
        </p:spPr>
        <p:txBody>
          <a:bodyPr wrap="square">
            <a:spAutoFit/>
          </a:bodyPr>
          <a:lstStyle/>
          <a:p>
            <a:pPr>
              <a:defRPr sz="1300" b="1">
                <a:solidFill>
                  <a:srgbClr val="0F172A"/>
                </a:solidFill>
                <a:latin typeface="Segoe UI"/>
              </a:defRPr>
            </a:pPr>
            <a:r>
              <a:t>Figure 1: Cross-Tier 14-Hop Attack Reconstruction</a:t>
            </a:r>
          </a:p>
        </p:txBody>
      </p:sp>
      <p:pic>
        <p:nvPicPr>
          <p:cNvPr id="10" name="Picture 9" descr="attack_path_reconstruction.png"/>
          <p:cNvPicPr>
            <a:picLocks noChangeAspect="1"/>
          </p:cNvPicPr>
          <p:nvPr/>
        </p:nvPicPr>
        <p:blipFill>
          <a:blip r:embed="rId2"/>
          <a:stretch>
            <a:fillRect/>
          </a:stretch>
        </p:blipFill>
        <p:spPr>
          <a:xfrm>
            <a:off x="868680" y="1828800"/>
            <a:ext cx="4937760" cy="3566160"/>
          </a:xfrm>
          <a:prstGeom prst="rect">
            <a:avLst/>
          </a:prstGeom>
        </p:spPr>
      </p:pic>
      <p:sp>
        <p:nvSpPr>
          <p:cNvPr id="11" name="TextBox 10"/>
          <p:cNvSpPr txBox="1"/>
          <p:nvPr/>
        </p:nvSpPr>
        <p:spPr>
          <a:xfrm>
            <a:off x="868680" y="5532120"/>
            <a:ext cx="4937760" cy="594360"/>
          </a:xfrm>
          <a:prstGeom prst="rect">
            <a:avLst/>
          </a:prstGeom>
          <a:noFill/>
        </p:spPr>
        <p:txBody>
          <a:bodyPr wrap="square">
            <a:spAutoFit/>
          </a:bodyPr>
          <a:lstStyle/>
          <a:p>
            <a:pPr>
              <a:defRPr sz="950">
                <a:solidFill>
                  <a:srgbClr val="64748B"/>
                </a:solidFill>
                <a:latin typeface="Segoe UI"/>
              </a:defRPr>
            </a:pPr>
            <a:r>
              <a:t>Edge (Green) -&gt; Fog (Orange) -&gt; Cloud (Purple). Red edges trace 14 causal hops; 80% background noise pruned.</a:t>
            </a:r>
          </a:p>
        </p:txBody>
      </p:sp>
      <p:sp>
        <p:nvSpPr>
          <p:cNvPr id="12" name="Rectangle 11"/>
          <p:cNvSpPr/>
          <p:nvPr/>
        </p:nvSpPr>
        <p:spPr>
          <a:xfrm>
            <a:off x="6217920" y="1371600"/>
            <a:ext cx="523951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3951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481328"/>
            <a:ext cx="4873752" cy="365760"/>
          </a:xfrm>
          <a:prstGeom prst="rect">
            <a:avLst/>
          </a:prstGeom>
          <a:noFill/>
        </p:spPr>
        <p:txBody>
          <a:bodyPr wrap="square">
            <a:spAutoFit/>
          </a:bodyPr>
          <a:lstStyle/>
          <a:p>
            <a:pPr>
              <a:defRPr sz="1300" b="1">
                <a:solidFill>
                  <a:srgbClr val="0F172A"/>
                </a:solidFill>
                <a:latin typeface="Segoe UI"/>
              </a:defRPr>
            </a:pPr>
            <a:r>
              <a:t>Figure 2: Multi-Sensor Paths &amp; Gold Choke Points</a:t>
            </a:r>
          </a:p>
        </p:txBody>
      </p:sp>
      <p:pic>
        <p:nvPicPr>
          <p:cNvPr id="15" name="Picture 14" descr="interconnected_attack_paths.png"/>
          <p:cNvPicPr>
            <a:picLocks noChangeAspect="1"/>
          </p:cNvPicPr>
          <p:nvPr/>
        </p:nvPicPr>
        <p:blipFill>
          <a:blip r:embed="rId3"/>
          <a:stretch>
            <a:fillRect/>
          </a:stretch>
        </p:blipFill>
        <p:spPr>
          <a:xfrm>
            <a:off x="6355080" y="1828800"/>
            <a:ext cx="4965192" cy="3566160"/>
          </a:xfrm>
          <a:prstGeom prst="rect">
            <a:avLst/>
          </a:prstGeom>
        </p:spPr>
      </p:pic>
      <p:sp>
        <p:nvSpPr>
          <p:cNvPr id="16" name="TextBox 15"/>
          <p:cNvSpPr txBox="1"/>
          <p:nvPr/>
        </p:nvSpPr>
        <p:spPr>
          <a:xfrm>
            <a:off x="6355080" y="5532120"/>
            <a:ext cx="4965192" cy="594360"/>
          </a:xfrm>
          <a:prstGeom prst="rect">
            <a:avLst/>
          </a:prstGeom>
          <a:noFill/>
        </p:spPr>
        <p:txBody>
          <a:bodyPr wrap="square">
            <a:spAutoFit/>
          </a:bodyPr>
          <a:lstStyle/>
          <a:p>
            <a:pPr>
              <a:defRPr sz="950">
                <a:solidFill>
                  <a:srgbClr val="64748B"/>
                </a:solidFill>
                <a:latin typeface="Segoe UI"/>
              </a:defRPr>
            </a:pPr>
            <a:r>
              <a:t>Convergent paths from Edge devices to Cloud. Bright gold nodes identify articulation cut choke-points (100% containment).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RESULTS &amp; VERIFICATION</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12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Quantitative Performance Evaluation &amp; Pytest Suite Verification</a:t>
            </a:r>
          </a:p>
        </p:txBody>
      </p:sp>
      <p:sp>
        <p:nvSpPr>
          <p:cNvPr id="7" name="Rectangle 6"/>
          <p:cNvSpPr/>
          <p:nvPr/>
        </p:nvSpPr>
        <p:spPr>
          <a:xfrm>
            <a:off x="731520" y="1371600"/>
            <a:ext cx="548640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4864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5120640" cy="365760"/>
          </a:xfrm>
          <a:prstGeom prst="rect">
            <a:avLst/>
          </a:prstGeom>
          <a:noFill/>
        </p:spPr>
        <p:txBody>
          <a:bodyPr wrap="square">
            <a:spAutoFit/>
          </a:bodyPr>
          <a:lstStyle/>
          <a:p>
            <a:pPr>
              <a:defRPr sz="1300" b="1">
                <a:solidFill>
                  <a:srgbClr val="0F172A"/>
                </a:solidFill>
                <a:latin typeface="Segoe UI"/>
              </a:defRPr>
            </a:pPr>
            <a:r>
              <a:t>1. Quantitative Optimization &amp; Forensic Metrics</a:t>
            </a:r>
          </a:p>
        </p:txBody>
      </p:sp>
      <p:sp>
        <p:nvSpPr>
          <p:cNvPr id="10" name="TextBox 9"/>
          <p:cNvSpPr txBox="1"/>
          <p:nvPr/>
        </p:nvSpPr>
        <p:spPr>
          <a:xfrm>
            <a:off x="914400" y="1828800"/>
            <a:ext cx="5120640" cy="4206240"/>
          </a:xfrm>
          <a:prstGeom prst="rect">
            <a:avLst/>
          </a:prstGeom>
          <a:noFill/>
        </p:spPr>
        <p:txBody>
          <a:bodyPr wrap="square">
            <a:spAutoFit/>
          </a:bodyPr>
          <a:lstStyle/>
          <a:p>
            <a:pPr>
              <a:defRPr sz="1200" b="1">
                <a:solidFill>
                  <a:srgbClr val="0F172A"/>
                </a:solidFill>
                <a:latin typeface="Segoe UI"/>
              </a:defRPr>
            </a:pPr>
            <a:r>
              <a:t>Empirical Benchmark (Review 1 Evaluation):</a:t>
            </a:r>
            <a:br/>
          </a:p>
          <a:p>
            <a:pPr>
              <a:defRPr sz="1000">
                <a:solidFill>
                  <a:srgbClr val="1E293B"/>
                </a:solidFill>
                <a:latin typeface="Consolas"/>
              </a:defRPr>
            </a:pPr>
            <a:r>
              <a:t>• Network Bandwidth: 50.0 KB/s vs 500.0 KB/s</a:t>
            </a:r>
            <a:br/>
            <a:r>
              <a:t>   -&gt; 90.0% Reduction (10x Bandwidth Savings)</a:t>
            </a:r>
            <a:br/>
            <a:br/>
            <a:r>
              <a:t>• End-to-End Latency: 20.0 ms vs 160.0 ms</a:t>
            </a:r>
            <a:br/>
            <a:r>
              <a:t>   -&gt; 87.5% Latency Reduction</a:t>
            </a:r>
            <a:br/>
            <a:br/>
            <a:r>
              <a:t>• Noise Filtering Ratio: 80.0% pruned</a:t>
            </a:r>
            <a:br/>
            <a:r>
              <a:t>   -&gt; 4x Signal-to-Noise Ratio Improvement</a:t>
            </a:r>
            <a:br/>
            <a:br/>
            <a:r>
              <a:t>• Reconstructed Path Length: Exactly 14 causal hops</a:t>
            </a:r>
            <a:br/>
            <a:r>
              <a:t>   -&gt; 100% Path Accuracy (Zero False Positives)</a:t>
            </a:r>
            <a:br/>
            <a:br/>
            <a:r>
              <a:t>• Containment Efficiency: 100.0% containment at Fog node</a:t>
            </a:r>
            <a:br/>
            <a:br/>
            <a:r>
              <a:t>• Edge CPU Overhead: 620 mcores / 800 mcores capacity</a:t>
            </a:r>
          </a:p>
        </p:txBody>
      </p:sp>
      <p:sp>
        <p:nvSpPr>
          <p:cNvPr id="11" name="Rectangle 10"/>
          <p:cNvSpPr/>
          <p:nvPr/>
        </p:nvSpPr>
        <p:spPr>
          <a:xfrm>
            <a:off x="6400800" y="1371600"/>
            <a:ext cx="505663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371600"/>
            <a:ext cx="5056632"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81328"/>
            <a:ext cx="4690872" cy="365760"/>
          </a:xfrm>
          <a:prstGeom prst="rect">
            <a:avLst/>
          </a:prstGeom>
          <a:noFill/>
        </p:spPr>
        <p:txBody>
          <a:bodyPr wrap="square">
            <a:spAutoFit/>
          </a:bodyPr>
          <a:lstStyle/>
          <a:p>
            <a:pPr>
              <a:defRPr sz="1300" b="1">
                <a:solidFill>
                  <a:srgbClr val="0F172A"/>
                </a:solidFill>
                <a:latin typeface="Segoe UI"/>
              </a:defRPr>
            </a:pPr>
            <a:r>
              <a:t>2. Automated Pytest Verification (13/13 Passing)</a:t>
            </a:r>
          </a:p>
        </p:txBody>
      </p:sp>
      <p:sp>
        <p:nvSpPr>
          <p:cNvPr id="14" name="TextBox 13"/>
          <p:cNvSpPr txBox="1"/>
          <p:nvPr/>
        </p:nvSpPr>
        <p:spPr>
          <a:xfrm>
            <a:off x="6583680" y="1828800"/>
            <a:ext cx="4690872" cy="4206240"/>
          </a:xfrm>
          <a:prstGeom prst="rect">
            <a:avLst/>
          </a:prstGeom>
          <a:noFill/>
        </p:spPr>
        <p:txBody>
          <a:bodyPr wrap="square">
            <a:spAutoFit/>
          </a:bodyPr>
          <a:lstStyle/>
          <a:p>
            <a:pPr>
              <a:defRPr sz="1200" b="1">
                <a:solidFill>
                  <a:srgbClr val="059669"/>
                </a:solidFill>
                <a:latin typeface="Segoe UI"/>
              </a:defRPr>
            </a:pPr>
            <a:r>
              <a:t>Software Engineering Rigor &amp; Test Suite:</a:t>
            </a:r>
            <a:br/>
          </a:p>
        </p:txBody>
      </p:sp>
      <p:sp>
        <p:nvSpPr>
          <p:cNvPr id="15" name="Rectangle 14"/>
          <p:cNvSpPr/>
          <p:nvPr/>
        </p:nvSpPr>
        <p:spPr>
          <a:xfrm>
            <a:off x="6492240" y="2194560"/>
            <a:ext cx="4873752" cy="3840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2286000"/>
            <a:ext cx="4599432" cy="3657600"/>
          </a:xfrm>
          <a:prstGeom prst="rect">
            <a:avLst/>
          </a:prstGeom>
          <a:noFill/>
        </p:spPr>
        <p:txBody>
          <a:bodyPr wrap="square">
            <a:spAutoFit/>
          </a:bodyPr>
          <a:lstStyle/>
          <a:p>
            <a:pPr>
              <a:defRPr sz="1000">
                <a:solidFill>
                  <a:srgbClr val="38BDF8"/>
                </a:solidFill>
                <a:latin typeface="Consolas"/>
              </a:defRPr>
            </a:pPr>
            <a:r>
              <a:t>$ pytest -v tests/</a:t>
            </a:r>
          </a:p>
          <a:p>
            <a:pPr>
              <a:defRPr sz="1000">
                <a:solidFill>
                  <a:srgbClr val="F1F5F9"/>
                </a:solidFill>
                <a:latin typeface="Consolas"/>
              </a:defRPr>
            </a:pPr>
            <a:r>
              <a:t>PASSED: test_end_to_end_attack_reconstruction</a:t>
            </a:r>
          </a:p>
          <a:p>
            <a:pPr>
              <a:defRPr sz="1000">
                <a:solidFill>
                  <a:srgbClr val="F1F5F9"/>
                </a:solidFill>
                <a:latin typeface="Consolas"/>
              </a:defRPr>
            </a:pPr>
            <a:r>
              <a:t>PASSED: test_cross_tier_network_correlation</a:t>
            </a:r>
          </a:p>
          <a:p>
            <a:pPr>
              <a:defRPr sz="1000">
                <a:solidFill>
                  <a:srgbClr val="F1F5F9"/>
                </a:solidFill>
                <a:latin typeface="Consolas"/>
              </a:defRPr>
            </a:pPr>
            <a:r>
              <a:t>PASSED: test_backward_and_forward_traversal</a:t>
            </a:r>
          </a:p>
          <a:p>
            <a:pPr>
              <a:defRPr sz="1000">
                <a:solidFill>
                  <a:srgbClr val="F1F5F9"/>
                </a:solidFill>
                <a:latin typeface="Consolas"/>
              </a:defRPr>
            </a:pPr>
            <a:r>
              <a:t>PASSED: test_multi_sensor_paths_to_cloud</a:t>
            </a:r>
          </a:p>
          <a:p>
            <a:pPr>
              <a:defRPr sz="1000">
                <a:solidFill>
                  <a:srgbClr val="F1F5F9"/>
                </a:solidFill>
                <a:latin typeface="Consolas"/>
              </a:defRPr>
            </a:pPr>
            <a:r>
              <a:t>PASSED: test_choke_point_containment_bottlenecks</a:t>
            </a:r>
          </a:p>
          <a:p>
            <a:pPr>
              <a:defRPr sz="1000">
                <a:solidFill>
                  <a:srgbClr val="F1F5F9"/>
                </a:solidFill>
                <a:latin typeface="Consolas"/>
              </a:defRPr>
            </a:pPr>
            <a:r>
              <a:t>PASSED: test_iterative_discovery_multi_vector</a:t>
            </a:r>
          </a:p>
          <a:p>
            <a:pPr>
              <a:defRPr sz="1000">
                <a:solidFill>
                  <a:srgbClr val="F1F5F9"/>
                </a:solidFill>
                <a:latin typeface="Consolas"/>
              </a:defRPr>
            </a:pPr>
            <a:r>
              <a:t>PASSED: test_hyperparameter_max_iterations_ceiling</a:t>
            </a:r>
          </a:p>
          <a:p>
            <a:pPr>
              <a:defRPr sz="1000">
                <a:solidFill>
                  <a:srgbClr val="F1F5F9"/>
                </a:solidFill>
                <a:latin typeface="Consolas"/>
              </a:defRPr>
            </a:pPr>
            <a:r>
              <a:t>PASSED: test_hyperparameter_epsilon_convergence</a:t>
            </a:r>
          </a:p>
          <a:p>
            <a:pPr>
              <a:defRPr sz="1000">
                <a:solidFill>
                  <a:srgbClr val="F1F5F9"/>
                </a:solidFill>
                <a:latin typeface="Consolas"/>
              </a:defRPr>
            </a:pPr>
            <a:r>
              <a:t>PASSED: test_placement_feasibility_constraint</a:t>
            </a:r>
          </a:p>
          <a:p>
            <a:pPr>
              <a:defRPr sz="1000">
                <a:solidFill>
                  <a:srgbClr val="F1F5F9"/>
                </a:solidFill>
                <a:latin typeface="Consolas"/>
              </a:defRPr>
            </a:pPr>
            <a:r>
              <a:t>PASSED: test_optimal_placement_discovery</a:t>
            </a:r>
          </a:p>
          <a:p>
            <a:pPr>
              <a:defRPr sz="1000">
                <a:solidFill>
                  <a:srgbClr val="F1F5F9"/>
                </a:solidFill>
                <a:latin typeface="Consolas"/>
              </a:defRPr>
            </a:pPr>
            <a:r>
              <a:t>PASSED: test_event_initialization_and_hash</a:t>
            </a:r>
          </a:p>
          <a:p>
            <a:pPr>
              <a:defRPr sz="1000">
                <a:solidFill>
                  <a:srgbClr val="F1F5F9"/>
                </a:solidFill>
                <a:latin typeface="Consolas"/>
              </a:defRPr>
            </a:pPr>
            <a:r>
              <a:t>PASSED: test_serialization_and_deserialization</a:t>
            </a:r>
          </a:p>
          <a:p>
            <a:pPr>
              <a:defRPr sz="1000">
                <a:solidFill>
                  <a:srgbClr val="F1F5F9"/>
                </a:solidFill>
                <a:latin typeface="Consolas"/>
              </a:defRPr>
            </a:pPr>
            <a:r>
              <a:t>PASSED: test_network_tuple_extraction</a:t>
            </a:r>
          </a:p>
          <a:p>
            <a:pPr>
              <a:defRPr sz="1000">
                <a:solidFill>
                  <a:srgbClr val="38BDF8"/>
                </a:solidFill>
                <a:latin typeface="Consolas"/>
              </a:defRPr>
            </a:pPr>
            <a:r>
              <a:t>&gt; 13 passed in 0.88s (100% passing 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ROADMAP &amp; VISION</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13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2-Year Project Implementation Roadmap (Semester 5 through 8)</a:t>
            </a:r>
          </a:p>
        </p:txBody>
      </p:sp>
      <p:sp>
        <p:nvSpPr>
          <p:cNvPr id="7" name="Rectangle 6"/>
          <p:cNvSpPr/>
          <p:nvPr/>
        </p:nvSpPr>
        <p:spPr>
          <a:xfrm>
            <a:off x="731520" y="1371600"/>
            <a:ext cx="24688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246888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2103120" cy="365760"/>
          </a:xfrm>
          <a:prstGeom prst="rect">
            <a:avLst/>
          </a:prstGeom>
          <a:noFill/>
        </p:spPr>
        <p:txBody>
          <a:bodyPr wrap="square">
            <a:spAutoFit/>
          </a:bodyPr>
          <a:lstStyle/>
          <a:p>
            <a:pPr>
              <a:defRPr sz="1300" b="1">
                <a:solidFill>
                  <a:srgbClr val="0F172A"/>
                </a:solidFill>
                <a:latin typeface="Segoe UI"/>
              </a:defRPr>
            </a:pPr>
            <a:r>
              <a:t>Phase 1: Review 1</a:t>
            </a:r>
          </a:p>
        </p:txBody>
      </p:sp>
      <p:sp>
        <p:nvSpPr>
          <p:cNvPr id="10" name="TextBox 9"/>
          <p:cNvSpPr txBox="1"/>
          <p:nvPr/>
        </p:nvSpPr>
        <p:spPr>
          <a:xfrm>
            <a:off x="914400" y="1874520"/>
            <a:ext cx="2103120" cy="274320"/>
          </a:xfrm>
          <a:prstGeom prst="rect">
            <a:avLst/>
          </a:prstGeom>
          <a:noFill/>
        </p:spPr>
        <p:txBody>
          <a:bodyPr wrap="none">
            <a:spAutoFit/>
          </a:bodyPr>
          <a:lstStyle/>
          <a:p>
            <a:pPr>
              <a:defRPr sz="1000" b="1">
                <a:solidFill>
                  <a:srgbClr val="059669"/>
                </a:solidFill>
                <a:latin typeface="Segoe UI"/>
              </a:defRPr>
            </a:pPr>
            <a:r>
              <a:t>[COMPLETED (SEM 5)]</a:t>
            </a:r>
          </a:p>
        </p:txBody>
      </p:sp>
      <p:sp>
        <p:nvSpPr>
          <p:cNvPr id="11" name="TextBox 10"/>
          <p:cNvSpPr txBox="1"/>
          <p:nvPr/>
        </p:nvSpPr>
        <p:spPr>
          <a:xfrm>
            <a:off x="914400" y="2194560"/>
            <a:ext cx="2103120" cy="3840480"/>
          </a:xfrm>
          <a:prstGeom prst="rect">
            <a:avLst/>
          </a:prstGeom>
          <a:noFill/>
        </p:spPr>
        <p:txBody>
          <a:bodyPr wrap="square">
            <a:spAutoFit/>
          </a:bodyPr>
          <a:lstStyle/>
          <a:p>
            <a:pPr>
              <a:defRPr sz="1050">
                <a:solidFill>
                  <a:srgbClr val="1E293B"/>
                </a:solidFill>
                <a:latin typeface="Segoe UI"/>
              </a:defRPr>
            </a:pPr>
            <a:r>
              <a:t>• Formal Event Schema E_i</a:t>
            </a:r>
            <a:br/>
            <a:r>
              <a:t>• SHA-256 Tamper-Evidence</a:t>
            </a:r>
            <a:br/>
            <a:r>
              <a:t>• Tier Placement Optimizer</a:t>
            </a:r>
            <a:br/>
            <a:r>
              <a:t>• NetworkX Causal Graph Fusion</a:t>
            </a:r>
            <a:br/>
            <a:r>
              <a:t>• Iterative Discovery Engine</a:t>
            </a:r>
            <a:br/>
            <a:r>
              <a:t>• Multi-Sensor Choke Points</a:t>
            </a:r>
            <a:br/>
            <a:r>
              <a:t>• 13/13 Pytest Suite</a:t>
            </a:r>
            <a:br/>
            <a:r>
              <a:t>• GitHub Repo Setup</a:t>
            </a:r>
          </a:p>
        </p:txBody>
      </p:sp>
      <p:sp>
        <p:nvSpPr>
          <p:cNvPr id="12" name="Rectangle 11"/>
          <p:cNvSpPr/>
          <p:nvPr/>
        </p:nvSpPr>
        <p:spPr>
          <a:xfrm>
            <a:off x="3474720" y="1371600"/>
            <a:ext cx="24688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371600"/>
            <a:ext cx="24688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481328"/>
            <a:ext cx="2103120" cy="365760"/>
          </a:xfrm>
          <a:prstGeom prst="rect">
            <a:avLst/>
          </a:prstGeom>
          <a:noFill/>
        </p:spPr>
        <p:txBody>
          <a:bodyPr wrap="square">
            <a:spAutoFit/>
          </a:bodyPr>
          <a:lstStyle/>
          <a:p>
            <a:pPr>
              <a:defRPr sz="1300" b="1">
                <a:solidFill>
                  <a:srgbClr val="0F172A"/>
                </a:solidFill>
                <a:latin typeface="Segoe UI"/>
              </a:defRPr>
            </a:pPr>
            <a:r>
              <a:t>Phase 2: Review 2</a:t>
            </a:r>
          </a:p>
        </p:txBody>
      </p:sp>
      <p:sp>
        <p:nvSpPr>
          <p:cNvPr id="15" name="TextBox 14"/>
          <p:cNvSpPr txBox="1"/>
          <p:nvPr/>
        </p:nvSpPr>
        <p:spPr>
          <a:xfrm>
            <a:off x="3657600" y="1874520"/>
            <a:ext cx="2103120" cy="274320"/>
          </a:xfrm>
          <a:prstGeom prst="rect">
            <a:avLst/>
          </a:prstGeom>
          <a:noFill/>
        </p:spPr>
        <p:txBody>
          <a:bodyPr wrap="none">
            <a:spAutoFit/>
          </a:bodyPr>
          <a:lstStyle/>
          <a:p>
            <a:pPr>
              <a:defRPr sz="1000" b="1">
                <a:solidFill>
                  <a:srgbClr val="2563EB"/>
                </a:solidFill>
                <a:latin typeface="Segoe UI"/>
              </a:defRPr>
            </a:pPr>
            <a:r>
              <a:t>[SEMESTER 6]</a:t>
            </a:r>
          </a:p>
        </p:txBody>
      </p:sp>
      <p:sp>
        <p:nvSpPr>
          <p:cNvPr id="16" name="TextBox 15"/>
          <p:cNvSpPr txBox="1"/>
          <p:nvPr/>
        </p:nvSpPr>
        <p:spPr>
          <a:xfrm>
            <a:off x="3657600" y="2194560"/>
            <a:ext cx="2103120" cy="3840480"/>
          </a:xfrm>
          <a:prstGeom prst="rect">
            <a:avLst/>
          </a:prstGeom>
          <a:noFill/>
        </p:spPr>
        <p:txBody>
          <a:bodyPr wrap="square">
            <a:spAutoFit/>
          </a:bodyPr>
          <a:lstStyle/>
          <a:p>
            <a:pPr>
              <a:defRPr sz="1050">
                <a:solidFill>
                  <a:srgbClr val="1E293B"/>
                </a:solidFill>
                <a:latin typeface="Segoe UI"/>
              </a:defRPr>
            </a:pPr>
            <a:r>
              <a:t>• Public Datasets Ingestion:</a:t>
            </a:r>
            <a:br/>
            <a:r>
              <a:t>  - DARPA OpTC (Enterprise)</a:t>
            </a:r>
            <a:br/>
            <a:r>
              <a:t>  - DARPA TC (Cadets/THEIA)</a:t>
            </a:r>
            <a:br/>
            <a:r>
              <a:t>  - TON_IoT (Smart Grid)</a:t>
            </a:r>
            <a:br/>
            <a:r>
              <a:t>• Docker Multi-Tier Testbed</a:t>
            </a:r>
            <a:br/>
            <a:r>
              <a:t>• Linux eBPF Kernel Hooks</a:t>
            </a:r>
            <a:br/>
            <a:r>
              <a:t>• Merkle-Tree Hash Chaining</a:t>
            </a:r>
          </a:p>
        </p:txBody>
      </p:sp>
      <p:sp>
        <p:nvSpPr>
          <p:cNvPr id="17" name="Rectangle 16"/>
          <p:cNvSpPr/>
          <p:nvPr/>
        </p:nvSpPr>
        <p:spPr>
          <a:xfrm>
            <a:off x="6217920" y="1371600"/>
            <a:ext cx="24688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371600"/>
            <a:ext cx="24688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481328"/>
            <a:ext cx="2103120" cy="365760"/>
          </a:xfrm>
          <a:prstGeom prst="rect">
            <a:avLst/>
          </a:prstGeom>
          <a:noFill/>
        </p:spPr>
        <p:txBody>
          <a:bodyPr wrap="square">
            <a:spAutoFit/>
          </a:bodyPr>
          <a:lstStyle/>
          <a:p>
            <a:pPr>
              <a:defRPr sz="1300" b="1">
                <a:solidFill>
                  <a:srgbClr val="0F172A"/>
                </a:solidFill>
                <a:latin typeface="Segoe UI"/>
              </a:defRPr>
            </a:pPr>
            <a:r>
              <a:t>Phase 3: Review 3</a:t>
            </a:r>
          </a:p>
        </p:txBody>
      </p:sp>
      <p:sp>
        <p:nvSpPr>
          <p:cNvPr id="20" name="TextBox 19"/>
          <p:cNvSpPr txBox="1"/>
          <p:nvPr/>
        </p:nvSpPr>
        <p:spPr>
          <a:xfrm>
            <a:off x="6400800" y="1874520"/>
            <a:ext cx="2103120" cy="274320"/>
          </a:xfrm>
          <a:prstGeom prst="rect">
            <a:avLst/>
          </a:prstGeom>
          <a:noFill/>
        </p:spPr>
        <p:txBody>
          <a:bodyPr wrap="none">
            <a:spAutoFit/>
          </a:bodyPr>
          <a:lstStyle/>
          <a:p>
            <a:pPr>
              <a:defRPr sz="1000" b="1">
                <a:solidFill>
                  <a:srgbClr val="D97706"/>
                </a:solidFill>
                <a:latin typeface="Segoe UI"/>
              </a:defRPr>
            </a:pPr>
            <a:r>
              <a:t>[SEMESTER 7]</a:t>
            </a:r>
          </a:p>
        </p:txBody>
      </p:sp>
      <p:sp>
        <p:nvSpPr>
          <p:cNvPr id="21" name="TextBox 20"/>
          <p:cNvSpPr txBox="1"/>
          <p:nvPr/>
        </p:nvSpPr>
        <p:spPr>
          <a:xfrm>
            <a:off x="6400800" y="2194560"/>
            <a:ext cx="2103120" cy="3840480"/>
          </a:xfrm>
          <a:prstGeom prst="rect">
            <a:avLst/>
          </a:prstGeom>
          <a:noFill/>
        </p:spPr>
        <p:txBody>
          <a:bodyPr wrap="square">
            <a:spAutoFit/>
          </a:bodyPr>
          <a:lstStyle/>
          <a:p>
            <a:pPr>
              <a:defRPr sz="1050">
                <a:solidFill>
                  <a:srgbClr val="1E293B"/>
                </a:solidFill>
                <a:latin typeface="Segoe UI"/>
              </a:defRPr>
            </a:pPr>
            <a:r>
              <a:t>• Deep Reinforcement Learning Placement Agent (PPO/DQN)</a:t>
            </a:r>
            <a:br/>
            <a:r>
              <a:t>• Dynamic real-time network adaptation</a:t>
            </a:r>
            <a:br/>
            <a:r>
              <a:t>• Graph Neural Network (GNN) anomalous path scorer</a:t>
            </a:r>
            <a:br/>
            <a:r>
              <a:t>• High-throughput Kafka bus</a:t>
            </a:r>
          </a:p>
        </p:txBody>
      </p:sp>
      <p:sp>
        <p:nvSpPr>
          <p:cNvPr id="22" name="Rectangle 21"/>
          <p:cNvSpPr/>
          <p:nvPr/>
        </p:nvSpPr>
        <p:spPr>
          <a:xfrm>
            <a:off x="8961120" y="1371600"/>
            <a:ext cx="24688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1371600"/>
            <a:ext cx="24688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481328"/>
            <a:ext cx="2103120" cy="365760"/>
          </a:xfrm>
          <a:prstGeom prst="rect">
            <a:avLst/>
          </a:prstGeom>
          <a:noFill/>
        </p:spPr>
        <p:txBody>
          <a:bodyPr wrap="square">
            <a:spAutoFit/>
          </a:bodyPr>
          <a:lstStyle/>
          <a:p>
            <a:pPr>
              <a:defRPr sz="1300" b="1">
                <a:solidFill>
                  <a:srgbClr val="0F172A"/>
                </a:solidFill>
                <a:latin typeface="Segoe UI"/>
              </a:defRPr>
            </a:pPr>
            <a:r>
              <a:t>Phase 4: Final Review</a:t>
            </a:r>
          </a:p>
        </p:txBody>
      </p:sp>
      <p:sp>
        <p:nvSpPr>
          <p:cNvPr id="25" name="TextBox 24"/>
          <p:cNvSpPr txBox="1"/>
          <p:nvPr/>
        </p:nvSpPr>
        <p:spPr>
          <a:xfrm>
            <a:off x="9144000" y="1874520"/>
            <a:ext cx="2103120" cy="274320"/>
          </a:xfrm>
          <a:prstGeom prst="rect">
            <a:avLst/>
          </a:prstGeom>
          <a:noFill/>
        </p:spPr>
        <p:txBody>
          <a:bodyPr wrap="none">
            <a:spAutoFit/>
          </a:bodyPr>
          <a:lstStyle/>
          <a:p>
            <a:pPr>
              <a:defRPr sz="1000" b="1">
                <a:solidFill>
                  <a:srgbClr val="2563EB"/>
                </a:solidFill>
                <a:latin typeface="Segoe UI"/>
              </a:defRPr>
            </a:pPr>
            <a:r>
              <a:t>[SEMESTER 8]</a:t>
            </a:r>
          </a:p>
        </p:txBody>
      </p:sp>
      <p:sp>
        <p:nvSpPr>
          <p:cNvPr id="26" name="TextBox 25"/>
          <p:cNvSpPr txBox="1"/>
          <p:nvPr/>
        </p:nvSpPr>
        <p:spPr>
          <a:xfrm>
            <a:off x="9144000" y="2194560"/>
            <a:ext cx="2103120" cy="3840480"/>
          </a:xfrm>
          <a:prstGeom prst="rect">
            <a:avLst/>
          </a:prstGeom>
          <a:noFill/>
        </p:spPr>
        <p:txBody>
          <a:bodyPr wrap="square">
            <a:spAutoFit/>
          </a:bodyPr>
          <a:lstStyle/>
          <a:p>
            <a:pPr>
              <a:defRPr sz="1050">
                <a:solidFill>
                  <a:srgbClr val="1E293B"/>
                </a:solidFill>
                <a:latin typeface="Segoe UI"/>
              </a:defRPr>
            </a:pPr>
            <a:r>
              <a:t>• Physical Hardware Testbed (Raspberry Pi + Jetson + AWS)</a:t>
            </a:r>
            <a:br/>
            <a:r>
              <a:t>• Web-based Interactive SOC Analyst Dashboard</a:t>
            </a:r>
            <a:br/>
            <a:r>
              <a:t>• Research Paper Submission to IEEE/ACM Security Conference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50" b="1">
                <a:solidFill>
                  <a:srgbClr val="2563EB"/>
                </a:solidFill>
                <a:latin typeface="Segoe UI"/>
              </a:defRPr>
            </a:pPr>
            <a:r>
              <a:t>B.TECH CAPSTONE 2026–27  |  DEPT. OF CSE  |  REFERENCES</a:t>
            </a:r>
          </a:p>
        </p:txBody>
      </p:sp>
      <p:sp>
        <p:nvSpPr>
          <p:cNvPr id="5" name="TextBox 4"/>
          <p:cNvSpPr txBox="1"/>
          <p:nvPr/>
        </p:nvSpPr>
        <p:spPr>
          <a:xfrm>
            <a:off x="9601200" y="320040"/>
            <a:ext cx="1828800" cy="274320"/>
          </a:xfrm>
          <a:prstGeom prst="rect">
            <a:avLst/>
          </a:prstGeom>
          <a:noFill/>
        </p:spPr>
        <p:txBody>
          <a:bodyPr wrap="none">
            <a:spAutoFit/>
          </a:bodyPr>
          <a:lstStyle/>
          <a:p>
            <a:pPr algn="r">
              <a:defRPr sz="950" b="1">
                <a:solidFill>
                  <a:srgbClr val="64748B"/>
                </a:solidFill>
                <a:latin typeface="Segoe UI"/>
              </a:defRPr>
            </a:pPr>
            <a:r>
              <a:t>Slide 14 of 14</a:t>
            </a:r>
          </a:p>
        </p:txBody>
      </p:sp>
      <p:sp>
        <p:nvSpPr>
          <p:cNvPr id="6" name="TextBox 5"/>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Segoe UI"/>
              </a:defRPr>
            </a:pPr>
            <a:r>
              <a:t>Key References &amp; Academic Bibliography</a:t>
            </a:r>
          </a:p>
        </p:txBody>
      </p:sp>
      <p:sp>
        <p:nvSpPr>
          <p:cNvPr id="7" name="Rectangle 6"/>
          <p:cNvSpPr/>
          <p:nvPr/>
        </p:nvSpPr>
        <p:spPr>
          <a:xfrm>
            <a:off x="731520" y="1371600"/>
            <a:ext cx="10725912"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0725912"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10360152" cy="365760"/>
          </a:xfrm>
          <a:prstGeom prst="rect">
            <a:avLst/>
          </a:prstGeom>
          <a:noFill/>
        </p:spPr>
        <p:txBody>
          <a:bodyPr wrap="square">
            <a:spAutoFit/>
          </a:bodyPr>
          <a:lstStyle/>
          <a:p>
            <a:pPr>
              <a:defRPr sz="1300" b="1">
                <a:solidFill>
                  <a:srgbClr val="0F172A"/>
                </a:solidFill>
                <a:latin typeface="Segoe UI"/>
              </a:defRPr>
            </a:pPr>
            <a:r>
              <a:t>Seminal Literature in Provenance &amp; Distributed Forensics</a:t>
            </a:r>
          </a:p>
        </p:txBody>
      </p:sp>
      <p:sp>
        <p:nvSpPr>
          <p:cNvPr id="10" name="TextBox 9"/>
          <p:cNvSpPr txBox="1"/>
          <p:nvPr/>
        </p:nvSpPr>
        <p:spPr>
          <a:xfrm>
            <a:off x="914400" y="1828800"/>
            <a:ext cx="10332720" cy="4206240"/>
          </a:xfrm>
          <a:prstGeom prst="rect">
            <a:avLst/>
          </a:prstGeom>
          <a:noFill/>
        </p:spPr>
        <p:txBody>
          <a:bodyPr wrap="square">
            <a:spAutoFit/>
          </a:bodyPr>
          <a:lstStyle/>
          <a:p>
            <a:pPr>
              <a:spcBef>
                <a:spcPts val="800"/>
              </a:spcBef>
              <a:defRPr sz="1000">
                <a:solidFill>
                  <a:srgbClr val="1E293B"/>
                </a:solidFill>
                <a:latin typeface="Segoe UI"/>
              </a:defRPr>
            </a:pPr>
            <a:r>
              <a:t>[1] Pasquier, T., Han, X., Goldstein, M., Moyer, T., Eyers, D., Seltzer, M., &amp; Bacon, J. (2018). Practical Whole-System Provenance Capture. USENIX Annual Technical Conference (ATC '17), pp. 405-418.</a:t>
            </a:r>
          </a:p>
          <a:p>
            <a:pPr>
              <a:spcBef>
                <a:spcPts val="800"/>
              </a:spcBef>
              <a:defRPr sz="1000">
                <a:solidFill>
                  <a:srgbClr val="1E293B"/>
                </a:solidFill>
                <a:latin typeface="Segoe UI"/>
              </a:defRPr>
            </a:pPr>
            <a:r>
              <a:t>[2] Bates, A., Tian, D., Butler, K. R., &amp; Moyer, T. (2015). Trustworthy Whole-System Provenance for the Linux Kernel. USENIX Security Symposium, pp. 319-334.</a:t>
            </a:r>
          </a:p>
          <a:p>
            <a:pPr>
              <a:spcBef>
                <a:spcPts val="800"/>
              </a:spcBef>
              <a:defRPr sz="1000">
                <a:solidFill>
                  <a:srgbClr val="1E293B"/>
                </a:solidFill>
                <a:latin typeface="Segoe UI"/>
              </a:defRPr>
            </a:pPr>
            <a:r>
              <a:t>[3] Jia, Y. J., Chen, Q. A., Wang, S., Rahmati, A., Fernandes, E., Mao, Z. M., &amp; Prakash, A. (2020). ContexIoT: Towards Providing Contextual Integrity to Augmented Reality and IoT. NDSS Symposium.</a:t>
            </a:r>
          </a:p>
          <a:p>
            <a:pPr>
              <a:spcBef>
                <a:spcPts val="800"/>
              </a:spcBef>
              <a:defRPr sz="1000">
                <a:solidFill>
                  <a:srgbClr val="1E293B"/>
                </a:solidFill>
                <a:latin typeface="Segoe UI"/>
              </a:defRPr>
            </a:pPr>
            <a:r>
              <a:t>[4] King, S. T., &amp; Chen, P. M. (2003). BackTracker: Handling Decapitating Attacks in System Intrusion Forensics. ACM SOSP, pp. 223-236.</a:t>
            </a:r>
          </a:p>
          <a:p>
            <a:pPr>
              <a:spcBef>
                <a:spcPts val="800"/>
              </a:spcBef>
              <a:defRPr sz="1000">
                <a:solidFill>
                  <a:srgbClr val="1E293B"/>
                </a:solidFill>
                <a:latin typeface="Segoe UI"/>
              </a:defRPr>
            </a:pPr>
            <a:r>
              <a:t>[5] DARPA Transparent Computing &amp; OpTC (2020). Operational Transparent Computing Benchmark Dataset. Defense Advanced Research Projects Agency.</a:t>
            </a:r>
          </a:p>
          <a:p>
            <a:pPr>
              <a:spcBef>
                <a:spcPts val="800"/>
              </a:spcBef>
              <a:defRPr sz="1000">
                <a:solidFill>
                  <a:srgbClr val="1E293B"/>
                </a:solidFill>
                <a:latin typeface="Segoe UI"/>
              </a:defRPr>
            </a:pPr>
            <a:r>
              <a:t>[6] Al-Hawawreh, M., &amp; Sitnikova, E. (2020). TON_IoT: A New Generation Dataset for Evaluating IoT and IIoT Security. IEEE Access, 8, 181340-181355.</a:t>
            </a:r>
          </a:p>
          <a:p>
            <a:pPr>
              <a:spcBef>
                <a:spcPts val="800"/>
              </a:spcBef>
              <a:defRPr sz="1000">
                <a:solidFill>
                  <a:srgbClr val="1E293B"/>
                </a:solidFill>
                <a:latin typeface="Segoe UI"/>
              </a:defRPr>
            </a:pPr>
            <a:r>
              <a:t>[7] Milajerdi, S. M., Gjomemo, R., Birgisson, A., &amp; Venkatakrishnan, V. N. (2019). HOLMES: Real-Time APT Detection through Correlation of Suspicious Information Flows. IEEE S&amp;P (Oakland), pp. 1137-1152.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